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Lst>
  <p:notesMasterIdLst>
    <p:notesMasterId r:id="rId78"/>
  </p:notesMasterIdLst>
  <p:sldIdLst>
    <p:sldId id="486" r:id="rId2"/>
    <p:sldId id="487" r:id="rId3"/>
    <p:sldId id="394" r:id="rId4"/>
    <p:sldId id="256" r:id="rId5"/>
    <p:sldId id="393" r:id="rId6"/>
    <p:sldId id="264" r:id="rId7"/>
    <p:sldId id="546" r:id="rId8"/>
    <p:sldId id="547" r:id="rId9"/>
    <p:sldId id="454" r:id="rId10"/>
    <p:sldId id="489" r:id="rId11"/>
    <p:sldId id="548" r:id="rId12"/>
    <p:sldId id="369" r:id="rId13"/>
    <p:sldId id="549" r:id="rId14"/>
    <p:sldId id="550" r:id="rId15"/>
    <p:sldId id="526" r:id="rId16"/>
    <p:sldId id="527" r:id="rId17"/>
    <p:sldId id="551" r:id="rId18"/>
    <p:sldId id="552" r:id="rId19"/>
    <p:sldId id="553" r:id="rId20"/>
    <p:sldId id="554" r:id="rId21"/>
    <p:sldId id="390" r:id="rId22"/>
    <p:sldId id="555" r:id="rId23"/>
    <p:sldId id="395" r:id="rId24"/>
    <p:sldId id="462" r:id="rId25"/>
    <p:sldId id="492" r:id="rId26"/>
    <p:sldId id="494" r:id="rId27"/>
    <p:sldId id="557" r:id="rId28"/>
    <p:sldId id="558" r:id="rId29"/>
    <p:sldId id="559" r:id="rId30"/>
    <p:sldId id="495" r:id="rId31"/>
    <p:sldId id="560" r:id="rId32"/>
    <p:sldId id="561" r:id="rId33"/>
    <p:sldId id="562" r:id="rId34"/>
    <p:sldId id="496" r:id="rId35"/>
    <p:sldId id="563" r:id="rId36"/>
    <p:sldId id="564" r:id="rId37"/>
    <p:sldId id="565" r:id="rId38"/>
    <p:sldId id="470" r:id="rId39"/>
    <p:sldId id="471" r:id="rId40"/>
    <p:sldId id="499" r:id="rId41"/>
    <p:sldId id="474" r:id="rId42"/>
    <p:sldId id="473" r:id="rId43"/>
    <p:sldId id="566" r:id="rId44"/>
    <p:sldId id="500" r:id="rId45"/>
    <p:sldId id="524" r:id="rId46"/>
    <p:sldId id="352" r:id="rId47"/>
    <p:sldId id="476" r:id="rId48"/>
    <p:sldId id="482" r:id="rId49"/>
    <p:sldId id="478" r:id="rId50"/>
    <p:sldId id="479" r:id="rId51"/>
    <p:sldId id="480" r:id="rId52"/>
    <p:sldId id="441" r:id="rId53"/>
    <p:sldId id="414" r:id="rId54"/>
    <p:sldId id="415" r:id="rId55"/>
    <p:sldId id="481" r:id="rId56"/>
    <p:sldId id="556" r:id="rId57"/>
    <p:sldId id="420" r:id="rId58"/>
    <p:sldId id="423" r:id="rId59"/>
    <p:sldId id="425" r:id="rId60"/>
    <p:sldId id="444" r:id="rId61"/>
    <p:sldId id="447" r:id="rId62"/>
    <p:sldId id="449" r:id="rId63"/>
    <p:sldId id="484" r:id="rId64"/>
    <p:sldId id="451" r:id="rId65"/>
    <p:sldId id="525" r:id="rId66"/>
    <p:sldId id="424" r:id="rId67"/>
    <p:sldId id="426" r:id="rId68"/>
    <p:sldId id="437" r:id="rId69"/>
    <p:sldId id="544" r:id="rId70"/>
    <p:sldId id="545" r:id="rId71"/>
    <p:sldId id="427" r:id="rId72"/>
    <p:sldId id="435" r:id="rId73"/>
    <p:sldId id="430" r:id="rId74"/>
    <p:sldId id="436" r:id="rId75"/>
    <p:sldId id="431" r:id="rId76"/>
    <p:sldId id="485" r:id="rId7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472C4"/>
    <a:srgbClr val="FFCC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7680" autoAdjust="0"/>
    <p:restoredTop sz="97164" autoAdjust="0"/>
  </p:normalViewPr>
  <p:slideViewPr>
    <p:cSldViewPr snapToGrid="0">
      <p:cViewPr varScale="1">
        <p:scale>
          <a:sx n="74" d="100"/>
          <a:sy n="74" d="100"/>
        </p:scale>
        <p:origin x="656"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notesMaster" Target="notesMasters/notesMaster1.xml"/><Relationship Id="rId8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94512F4-F47F-41CE-BED8-B3C52260A05B}" type="datetimeFigureOut">
              <a:rPr lang="en-US" smtClean="0"/>
              <a:t>4/24/2026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F5510AC-489A-4F28-A6B5-F3D1385E215F}" type="slidenum">
              <a:rPr lang="en-US" smtClean="0"/>
              <a:t>‹#›</a:t>
            </a:fld>
            <a:endParaRPr lang="en-US"/>
          </a:p>
        </p:txBody>
      </p:sp>
    </p:spTree>
    <p:extLst>
      <p:ext uri="{BB962C8B-B14F-4D97-AF65-F5344CB8AC3E}">
        <p14:creationId xmlns:p14="http://schemas.microsoft.com/office/powerpoint/2010/main" val="21602723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F5510AC-489A-4F28-A6B5-F3D1385E215F}" type="slidenum">
              <a:rPr lang="en-US" smtClean="0"/>
              <a:t>1</a:t>
            </a:fld>
            <a:endParaRPr lang="en-US"/>
          </a:p>
        </p:txBody>
      </p:sp>
    </p:spTree>
    <p:extLst>
      <p:ext uri="{BB962C8B-B14F-4D97-AF65-F5344CB8AC3E}">
        <p14:creationId xmlns:p14="http://schemas.microsoft.com/office/powerpoint/2010/main" val="20584625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E34573F-0FAC-3F4D-BA7F-629DDC4DA7B0}" type="slidenum">
              <a:rPr lang="en-US" smtClean="0"/>
              <a:t>3</a:t>
            </a:fld>
            <a:endParaRPr lang="en-US" dirty="0"/>
          </a:p>
        </p:txBody>
      </p:sp>
    </p:spTree>
    <p:extLst>
      <p:ext uri="{BB962C8B-B14F-4D97-AF65-F5344CB8AC3E}">
        <p14:creationId xmlns:p14="http://schemas.microsoft.com/office/powerpoint/2010/main" val="29683598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E34573F-0FAC-3F4D-BA7F-629DDC4DA7B0}" type="slidenum">
              <a:rPr lang="en-US" smtClean="0"/>
              <a:t>5</a:t>
            </a:fld>
            <a:endParaRPr lang="en-US" dirty="0"/>
          </a:p>
        </p:txBody>
      </p:sp>
    </p:spTree>
    <p:extLst>
      <p:ext uri="{BB962C8B-B14F-4D97-AF65-F5344CB8AC3E}">
        <p14:creationId xmlns:p14="http://schemas.microsoft.com/office/powerpoint/2010/main" val="18766768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F5510AC-489A-4F28-A6B5-F3D1385E215F}" type="slidenum">
              <a:rPr lang="en-US" smtClean="0"/>
              <a:t>8</a:t>
            </a:fld>
            <a:endParaRPr lang="en-US"/>
          </a:p>
        </p:txBody>
      </p:sp>
    </p:spTree>
    <p:extLst>
      <p:ext uri="{BB962C8B-B14F-4D97-AF65-F5344CB8AC3E}">
        <p14:creationId xmlns:p14="http://schemas.microsoft.com/office/powerpoint/2010/main" val="29260681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F5510AC-489A-4F28-A6B5-F3D1385E215F}" type="slidenum">
              <a:rPr lang="en-US" smtClean="0"/>
              <a:t>12</a:t>
            </a:fld>
            <a:endParaRPr lang="en-US"/>
          </a:p>
        </p:txBody>
      </p:sp>
    </p:spTree>
    <p:extLst>
      <p:ext uri="{BB962C8B-B14F-4D97-AF65-F5344CB8AC3E}">
        <p14:creationId xmlns:p14="http://schemas.microsoft.com/office/powerpoint/2010/main" val="351334859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F5510AC-489A-4F28-A6B5-F3D1385E215F}" type="slidenum">
              <a:rPr lang="en-US" smtClean="0"/>
              <a:t>13</a:t>
            </a:fld>
            <a:endParaRPr lang="en-US"/>
          </a:p>
        </p:txBody>
      </p:sp>
    </p:spTree>
    <p:extLst>
      <p:ext uri="{BB962C8B-B14F-4D97-AF65-F5344CB8AC3E}">
        <p14:creationId xmlns:p14="http://schemas.microsoft.com/office/powerpoint/2010/main" val="136461109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F5510AC-489A-4F28-A6B5-F3D1385E215F}" type="slidenum">
              <a:rPr lang="en-US" smtClean="0"/>
              <a:t>14</a:t>
            </a:fld>
            <a:endParaRPr lang="en-US"/>
          </a:p>
        </p:txBody>
      </p:sp>
    </p:spTree>
    <p:extLst>
      <p:ext uri="{BB962C8B-B14F-4D97-AF65-F5344CB8AC3E}">
        <p14:creationId xmlns:p14="http://schemas.microsoft.com/office/powerpoint/2010/main" val="363591087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E34573F-0FAC-3F4D-BA7F-629DDC4DA7B0}" type="slidenum">
              <a:rPr lang="en-US" smtClean="0"/>
              <a:t>21</a:t>
            </a:fld>
            <a:endParaRPr lang="en-US" dirty="0"/>
          </a:p>
        </p:txBody>
      </p:sp>
    </p:spTree>
    <p:extLst>
      <p:ext uri="{BB962C8B-B14F-4D97-AF65-F5344CB8AC3E}">
        <p14:creationId xmlns:p14="http://schemas.microsoft.com/office/powerpoint/2010/main" val="413197010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E34573F-0FAC-3F4D-BA7F-629DDC4DA7B0}" type="slidenum">
              <a:rPr lang="en-US" smtClean="0"/>
              <a:t>23</a:t>
            </a:fld>
            <a:endParaRPr lang="en-US" dirty="0"/>
          </a:p>
        </p:txBody>
      </p:sp>
    </p:spTree>
    <p:extLst>
      <p:ext uri="{BB962C8B-B14F-4D97-AF65-F5344CB8AC3E}">
        <p14:creationId xmlns:p14="http://schemas.microsoft.com/office/powerpoint/2010/main" val="330496341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E34573F-0FAC-3F4D-BA7F-629DDC4DA7B0}" type="slidenum">
              <a:rPr lang="en-US" smtClean="0"/>
              <a:t>38</a:t>
            </a:fld>
            <a:endParaRPr lang="en-US" dirty="0"/>
          </a:p>
        </p:txBody>
      </p:sp>
    </p:spTree>
    <p:extLst>
      <p:ext uri="{BB962C8B-B14F-4D97-AF65-F5344CB8AC3E}">
        <p14:creationId xmlns:p14="http://schemas.microsoft.com/office/powerpoint/2010/main" val="141211119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E34573F-0FAC-3F4D-BA7F-629DDC4DA7B0}" type="slidenum">
              <a:rPr lang="en-US" smtClean="0"/>
              <a:t>41</a:t>
            </a:fld>
            <a:endParaRPr lang="en-US" dirty="0"/>
          </a:p>
        </p:txBody>
      </p:sp>
    </p:spTree>
    <p:extLst>
      <p:ext uri="{BB962C8B-B14F-4D97-AF65-F5344CB8AC3E}">
        <p14:creationId xmlns:p14="http://schemas.microsoft.com/office/powerpoint/2010/main" val="12485135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F5510AC-489A-4F28-A6B5-F3D1385E215F}" type="slidenum">
              <a:rPr lang="en-US" smtClean="0"/>
              <a:t>45</a:t>
            </a:fld>
            <a:endParaRPr lang="en-US"/>
          </a:p>
        </p:txBody>
      </p:sp>
    </p:spTree>
    <p:extLst>
      <p:ext uri="{BB962C8B-B14F-4D97-AF65-F5344CB8AC3E}">
        <p14:creationId xmlns:p14="http://schemas.microsoft.com/office/powerpoint/2010/main" val="363591087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E34573F-0FAC-3F4D-BA7F-629DDC4DA7B0}" type="slidenum">
              <a:rPr lang="en-US" smtClean="0"/>
              <a:t>46</a:t>
            </a:fld>
            <a:endParaRPr lang="en-US" dirty="0"/>
          </a:p>
        </p:txBody>
      </p:sp>
    </p:spTree>
    <p:extLst>
      <p:ext uri="{BB962C8B-B14F-4D97-AF65-F5344CB8AC3E}">
        <p14:creationId xmlns:p14="http://schemas.microsoft.com/office/powerpoint/2010/main" val="412035363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E34573F-0FAC-3F4D-BA7F-629DDC4DA7B0}" type="slidenum">
              <a:rPr lang="en-US" smtClean="0"/>
              <a:t>48</a:t>
            </a:fld>
            <a:endParaRPr lang="en-US" dirty="0"/>
          </a:p>
        </p:txBody>
      </p:sp>
    </p:spTree>
    <p:extLst>
      <p:ext uri="{BB962C8B-B14F-4D97-AF65-F5344CB8AC3E}">
        <p14:creationId xmlns:p14="http://schemas.microsoft.com/office/powerpoint/2010/main" val="160698767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E34573F-0FAC-3F4D-BA7F-629DDC4DA7B0}" type="slidenum">
              <a:rPr lang="en-US" smtClean="0"/>
              <a:t>52</a:t>
            </a:fld>
            <a:endParaRPr lang="en-US" dirty="0"/>
          </a:p>
        </p:txBody>
      </p:sp>
    </p:spTree>
    <p:extLst>
      <p:ext uri="{BB962C8B-B14F-4D97-AF65-F5344CB8AC3E}">
        <p14:creationId xmlns:p14="http://schemas.microsoft.com/office/powerpoint/2010/main" val="18797468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E34573F-0FAC-3F4D-BA7F-629DDC4DA7B0}" type="slidenum">
              <a:rPr lang="en-US" smtClean="0"/>
              <a:t>56</a:t>
            </a:fld>
            <a:endParaRPr lang="en-US" dirty="0"/>
          </a:p>
        </p:txBody>
      </p:sp>
    </p:spTree>
    <p:extLst>
      <p:ext uri="{BB962C8B-B14F-4D97-AF65-F5344CB8AC3E}">
        <p14:creationId xmlns:p14="http://schemas.microsoft.com/office/powerpoint/2010/main" val="418595845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E34573F-0FAC-3F4D-BA7F-629DDC4DA7B0}" type="slidenum">
              <a:rPr lang="en-US" smtClean="0"/>
              <a:t>58</a:t>
            </a:fld>
            <a:endParaRPr lang="en-US" dirty="0"/>
          </a:p>
        </p:txBody>
      </p:sp>
    </p:spTree>
    <p:extLst>
      <p:ext uri="{BB962C8B-B14F-4D97-AF65-F5344CB8AC3E}">
        <p14:creationId xmlns:p14="http://schemas.microsoft.com/office/powerpoint/2010/main" val="151976296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E34573F-0FAC-3F4D-BA7F-629DDC4DA7B0}" type="slidenum">
              <a:rPr lang="en-US" smtClean="0"/>
              <a:t>66</a:t>
            </a:fld>
            <a:endParaRPr lang="en-US" dirty="0"/>
          </a:p>
        </p:txBody>
      </p:sp>
    </p:spTree>
    <p:extLst>
      <p:ext uri="{BB962C8B-B14F-4D97-AF65-F5344CB8AC3E}">
        <p14:creationId xmlns:p14="http://schemas.microsoft.com/office/powerpoint/2010/main" val="186879001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E34573F-0FAC-3F4D-BA7F-629DDC4DA7B0}" type="slidenum">
              <a:rPr lang="en-US" smtClean="0"/>
              <a:t>68</a:t>
            </a:fld>
            <a:endParaRPr lang="en-US" dirty="0"/>
          </a:p>
        </p:txBody>
      </p:sp>
    </p:spTree>
    <p:extLst>
      <p:ext uri="{BB962C8B-B14F-4D97-AF65-F5344CB8AC3E}">
        <p14:creationId xmlns:p14="http://schemas.microsoft.com/office/powerpoint/2010/main" val="342795431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E34573F-0FAC-3F4D-BA7F-629DDC4DA7B0}" type="slidenum">
              <a:rPr lang="en-US" smtClean="0"/>
              <a:t>72</a:t>
            </a:fld>
            <a:endParaRPr lang="en-US" dirty="0"/>
          </a:p>
        </p:txBody>
      </p:sp>
    </p:spTree>
    <p:extLst>
      <p:ext uri="{BB962C8B-B14F-4D97-AF65-F5344CB8AC3E}">
        <p14:creationId xmlns:p14="http://schemas.microsoft.com/office/powerpoint/2010/main" val="186253469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E34573F-0FAC-3F4D-BA7F-629DDC4DA7B0}" type="slidenum">
              <a:rPr lang="en-US" smtClean="0"/>
              <a:t>74</a:t>
            </a:fld>
            <a:endParaRPr lang="en-US" dirty="0"/>
          </a:p>
        </p:txBody>
      </p:sp>
    </p:spTree>
    <p:extLst>
      <p:ext uri="{BB962C8B-B14F-4D97-AF65-F5344CB8AC3E}">
        <p14:creationId xmlns:p14="http://schemas.microsoft.com/office/powerpoint/2010/main" val="28587123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604061-AEA4-4290-8EDA-217610266B6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977F0D2-1399-41B2-9A81-BF235029E72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ACCA284-1D6F-4FA8-9162-6A9BA1683B46}"/>
              </a:ext>
            </a:extLst>
          </p:cNvPr>
          <p:cNvSpPr>
            <a:spLocks noGrp="1"/>
          </p:cNvSpPr>
          <p:nvPr>
            <p:ph type="dt" sz="half" idx="10"/>
          </p:nvPr>
        </p:nvSpPr>
        <p:spPr/>
        <p:txBody>
          <a:bodyPr/>
          <a:lstStyle/>
          <a:p>
            <a:fld id="{E0AD68A2-D134-40A7-879F-4EA820C0E4C5}" type="datetime1">
              <a:rPr lang="en-US" smtClean="0"/>
              <a:t>4/24/2026</a:t>
            </a:fld>
            <a:endParaRPr lang="en-US"/>
          </a:p>
        </p:txBody>
      </p:sp>
      <p:sp>
        <p:nvSpPr>
          <p:cNvPr id="5" name="Footer Placeholder 4">
            <a:extLst>
              <a:ext uri="{FF2B5EF4-FFF2-40B4-BE49-F238E27FC236}">
                <a16:creationId xmlns:a16="http://schemas.microsoft.com/office/drawing/2014/main" id="{03DD078E-EF0D-44A6-AB33-58F9FFA2271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FDED814-42CD-419C-947F-36F9E6753F0E}"/>
              </a:ext>
            </a:extLst>
          </p:cNvPr>
          <p:cNvSpPr>
            <a:spLocks noGrp="1"/>
          </p:cNvSpPr>
          <p:nvPr>
            <p:ph type="sldNum" sz="quarter" idx="12"/>
          </p:nvPr>
        </p:nvSpPr>
        <p:spPr/>
        <p:txBody>
          <a:bodyPr/>
          <a:lstStyle/>
          <a:p>
            <a:fld id="{1C788548-AC4B-4945-A4F1-BA86477A7FC8}" type="slidenum">
              <a:rPr lang="en-US" smtClean="0"/>
              <a:t>‹#›</a:t>
            </a:fld>
            <a:endParaRPr lang="en-US"/>
          </a:p>
        </p:txBody>
      </p:sp>
    </p:spTree>
    <p:extLst>
      <p:ext uri="{BB962C8B-B14F-4D97-AF65-F5344CB8AC3E}">
        <p14:creationId xmlns:p14="http://schemas.microsoft.com/office/powerpoint/2010/main" val="32803785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1DAB34-2D02-4A51-B2E6-53EBDD52C87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04D49F1-960B-4C23-B204-B913CBD7751F}"/>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4ADED4D-FFFE-4626-A9ED-CF7F369A3F2B}"/>
              </a:ext>
            </a:extLst>
          </p:cNvPr>
          <p:cNvSpPr>
            <a:spLocks noGrp="1"/>
          </p:cNvSpPr>
          <p:nvPr>
            <p:ph type="dt" sz="half" idx="10"/>
          </p:nvPr>
        </p:nvSpPr>
        <p:spPr/>
        <p:txBody>
          <a:bodyPr/>
          <a:lstStyle/>
          <a:p>
            <a:fld id="{6A8E86F1-F97E-4117-9DCD-B9823AF3CF88}" type="datetime1">
              <a:rPr lang="en-US" smtClean="0"/>
              <a:t>4/24/2026</a:t>
            </a:fld>
            <a:endParaRPr lang="en-US"/>
          </a:p>
        </p:txBody>
      </p:sp>
      <p:sp>
        <p:nvSpPr>
          <p:cNvPr id="5" name="Footer Placeholder 4">
            <a:extLst>
              <a:ext uri="{FF2B5EF4-FFF2-40B4-BE49-F238E27FC236}">
                <a16:creationId xmlns:a16="http://schemas.microsoft.com/office/drawing/2014/main" id="{6C2230B6-1F37-4F3F-B7C6-3D46DA1BA09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B9B0741-E8DF-44E0-A6F6-39073DE1FF65}"/>
              </a:ext>
            </a:extLst>
          </p:cNvPr>
          <p:cNvSpPr>
            <a:spLocks noGrp="1"/>
          </p:cNvSpPr>
          <p:nvPr>
            <p:ph type="sldNum" sz="quarter" idx="12"/>
          </p:nvPr>
        </p:nvSpPr>
        <p:spPr/>
        <p:txBody>
          <a:bodyPr/>
          <a:lstStyle/>
          <a:p>
            <a:fld id="{1C788548-AC4B-4945-A4F1-BA86477A7FC8}" type="slidenum">
              <a:rPr lang="en-US" smtClean="0"/>
              <a:t>‹#›</a:t>
            </a:fld>
            <a:endParaRPr lang="en-US"/>
          </a:p>
        </p:txBody>
      </p:sp>
    </p:spTree>
    <p:extLst>
      <p:ext uri="{BB962C8B-B14F-4D97-AF65-F5344CB8AC3E}">
        <p14:creationId xmlns:p14="http://schemas.microsoft.com/office/powerpoint/2010/main" val="14249123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A3EF32-8AF8-4D78-A38E-4FBB1B40799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CD58483-F777-4CFA-981F-F777B38345B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E74A21CD-8679-4E37-93A4-FA345E16541B}"/>
              </a:ext>
            </a:extLst>
          </p:cNvPr>
          <p:cNvSpPr>
            <a:spLocks noGrp="1"/>
          </p:cNvSpPr>
          <p:nvPr>
            <p:ph type="dt" sz="half" idx="10"/>
          </p:nvPr>
        </p:nvSpPr>
        <p:spPr/>
        <p:txBody>
          <a:bodyPr/>
          <a:lstStyle/>
          <a:p>
            <a:fld id="{1E489864-C148-40BF-8491-33F3D98270D2}" type="datetime1">
              <a:rPr lang="en-US" smtClean="0"/>
              <a:t>4/24/2026</a:t>
            </a:fld>
            <a:endParaRPr lang="en-US"/>
          </a:p>
        </p:txBody>
      </p:sp>
      <p:sp>
        <p:nvSpPr>
          <p:cNvPr id="5" name="Footer Placeholder 4">
            <a:extLst>
              <a:ext uri="{FF2B5EF4-FFF2-40B4-BE49-F238E27FC236}">
                <a16:creationId xmlns:a16="http://schemas.microsoft.com/office/drawing/2014/main" id="{EEA07BAE-2F26-4CBF-956E-C7C1738CDF0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5DE2B83-5806-4563-BA19-1ED009D8577C}"/>
              </a:ext>
            </a:extLst>
          </p:cNvPr>
          <p:cNvSpPr>
            <a:spLocks noGrp="1"/>
          </p:cNvSpPr>
          <p:nvPr>
            <p:ph type="sldNum" sz="quarter" idx="12"/>
          </p:nvPr>
        </p:nvSpPr>
        <p:spPr/>
        <p:txBody>
          <a:bodyPr/>
          <a:lstStyle/>
          <a:p>
            <a:fld id="{1C788548-AC4B-4945-A4F1-BA86477A7FC8}" type="slidenum">
              <a:rPr lang="en-US" smtClean="0"/>
              <a:t>‹#›</a:t>
            </a:fld>
            <a:endParaRPr lang="en-US"/>
          </a:p>
        </p:txBody>
      </p:sp>
    </p:spTree>
    <p:extLst>
      <p:ext uri="{BB962C8B-B14F-4D97-AF65-F5344CB8AC3E}">
        <p14:creationId xmlns:p14="http://schemas.microsoft.com/office/powerpoint/2010/main" val="27340429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D6C9AE-82E8-4C80-AD92-BB3B8D14DB3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E2C5353-5B39-432C-908F-88300D08147B}"/>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6936015-544E-4A48-889F-943B3A8A6899}"/>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2D54835-53E0-4AC1-89CC-946F046876C6}"/>
              </a:ext>
            </a:extLst>
          </p:cNvPr>
          <p:cNvSpPr>
            <a:spLocks noGrp="1"/>
          </p:cNvSpPr>
          <p:nvPr>
            <p:ph type="dt" sz="half" idx="10"/>
          </p:nvPr>
        </p:nvSpPr>
        <p:spPr/>
        <p:txBody>
          <a:bodyPr/>
          <a:lstStyle/>
          <a:p>
            <a:fld id="{860182E4-0B13-4421-83F0-5309DCB025BE}" type="datetime1">
              <a:rPr lang="en-US" smtClean="0"/>
              <a:t>4/24/2026</a:t>
            </a:fld>
            <a:endParaRPr lang="en-US"/>
          </a:p>
        </p:txBody>
      </p:sp>
      <p:sp>
        <p:nvSpPr>
          <p:cNvPr id="6" name="Footer Placeholder 5">
            <a:extLst>
              <a:ext uri="{FF2B5EF4-FFF2-40B4-BE49-F238E27FC236}">
                <a16:creationId xmlns:a16="http://schemas.microsoft.com/office/drawing/2014/main" id="{E5034C39-40FB-43B5-ABC7-CB017E349DF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00A4395-D456-4AA0-A2D5-E71DFF8CD6C3}"/>
              </a:ext>
            </a:extLst>
          </p:cNvPr>
          <p:cNvSpPr>
            <a:spLocks noGrp="1"/>
          </p:cNvSpPr>
          <p:nvPr>
            <p:ph type="sldNum" sz="quarter" idx="12"/>
          </p:nvPr>
        </p:nvSpPr>
        <p:spPr/>
        <p:txBody>
          <a:bodyPr/>
          <a:lstStyle/>
          <a:p>
            <a:fld id="{1C788548-AC4B-4945-A4F1-BA86477A7FC8}" type="slidenum">
              <a:rPr lang="en-US" smtClean="0"/>
              <a:t>‹#›</a:t>
            </a:fld>
            <a:endParaRPr lang="en-US"/>
          </a:p>
        </p:txBody>
      </p:sp>
    </p:spTree>
    <p:extLst>
      <p:ext uri="{BB962C8B-B14F-4D97-AF65-F5344CB8AC3E}">
        <p14:creationId xmlns:p14="http://schemas.microsoft.com/office/powerpoint/2010/main" val="34054453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E8590E-9F75-4E05-ADB5-FA962375BAF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3AF5740-BB37-46F7-8AFB-FFA7E303D83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FD43B4F5-EC77-4BD2-9CB1-F2346C4FC4B4}"/>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2CFC494-F82F-47A6-89BC-8CDBD0DAAEB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D913ED00-D5C3-4B6C-B873-2CF7EA011BBF}"/>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53C750A-3004-4115-855F-77B153530DC1}"/>
              </a:ext>
            </a:extLst>
          </p:cNvPr>
          <p:cNvSpPr>
            <a:spLocks noGrp="1"/>
          </p:cNvSpPr>
          <p:nvPr>
            <p:ph type="dt" sz="half" idx="10"/>
          </p:nvPr>
        </p:nvSpPr>
        <p:spPr/>
        <p:txBody>
          <a:bodyPr/>
          <a:lstStyle/>
          <a:p>
            <a:fld id="{245172FB-963D-408A-B5B4-0B34D11F49A5}" type="datetime1">
              <a:rPr lang="en-US" smtClean="0"/>
              <a:t>4/24/2026</a:t>
            </a:fld>
            <a:endParaRPr lang="en-US"/>
          </a:p>
        </p:txBody>
      </p:sp>
      <p:sp>
        <p:nvSpPr>
          <p:cNvPr id="8" name="Footer Placeholder 7">
            <a:extLst>
              <a:ext uri="{FF2B5EF4-FFF2-40B4-BE49-F238E27FC236}">
                <a16:creationId xmlns:a16="http://schemas.microsoft.com/office/drawing/2014/main" id="{CC42139E-1F87-457C-8FF1-521E03F1D8F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2BA2E1A-F8CC-4D33-A127-84075B305CCC}"/>
              </a:ext>
            </a:extLst>
          </p:cNvPr>
          <p:cNvSpPr>
            <a:spLocks noGrp="1"/>
          </p:cNvSpPr>
          <p:nvPr>
            <p:ph type="sldNum" sz="quarter" idx="12"/>
          </p:nvPr>
        </p:nvSpPr>
        <p:spPr/>
        <p:txBody>
          <a:bodyPr/>
          <a:lstStyle/>
          <a:p>
            <a:fld id="{1C788548-AC4B-4945-A4F1-BA86477A7FC8}" type="slidenum">
              <a:rPr lang="en-US" smtClean="0"/>
              <a:t>‹#›</a:t>
            </a:fld>
            <a:endParaRPr lang="en-US"/>
          </a:p>
        </p:txBody>
      </p:sp>
    </p:spTree>
    <p:extLst>
      <p:ext uri="{BB962C8B-B14F-4D97-AF65-F5344CB8AC3E}">
        <p14:creationId xmlns:p14="http://schemas.microsoft.com/office/powerpoint/2010/main" val="30922880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D7F5CA-CBC0-4F42-8CDC-121BE5D7548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1267DB6-8BC2-41A3-AB68-C59EEA9B63CE}"/>
              </a:ext>
            </a:extLst>
          </p:cNvPr>
          <p:cNvSpPr>
            <a:spLocks noGrp="1"/>
          </p:cNvSpPr>
          <p:nvPr>
            <p:ph type="dt" sz="half" idx="10"/>
          </p:nvPr>
        </p:nvSpPr>
        <p:spPr/>
        <p:txBody>
          <a:bodyPr/>
          <a:lstStyle/>
          <a:p>
            <a:fld id="{42C55D26-2775-408C-8A23-88FF6D8C8B4D}" type="datetime1">
              <a:rPr lang="en-US" smtClean="0"/>
              <a:t>4/24/2026</a:t>
            </a:fld>
            <a:endParaRPr lang="en-US"/>
          </a:p>
        </p:txBody>
      </p:sp>
      <p:sp>
        <p:nvSpPr>
          <p:cNvPr id="4" name="Footer Placeholder 3">
            <a:extLst>
              <a:ext uri="{FF2B5EF4-FFF2-40B4-BE49-F238E27FC236}">
                <a16:creationId xmlns:a16="http://schemas.microsoft.com/office/drawing/2014/main" id="{D6622F1B-1694-4D1B-9D2B-E0FB3620F1C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FE986D0-8684-4E1E-A322-1D59A275D80C}"/>
              </a:ext>
            </a:extLst>
          </p:cNvPr>
          <p:cNvSpPr>
            <a:spLocks noGrp="1"/>
          </p:cNvSpPr>
          <p:nvPr>
            <p:ph type="sldNum" sz="quarter" idx="12"/>
          </p:nvPr>
        </p:nvSpPr>
        <p:spPr/>
        <p:txBody>
          <a:bodyPr/>
          <a:lstStyle/>
          <a:p>
            <a:fld id="{1C788548-AC4B-4945-A4F1-BA86477A7FC8}" type="slidenum">
              <a:rPr lang="en-US" smtClean="0"/>
              <a:t>‹#›</a:t>
            </a:fld>
            <a:endParaRPr lang="en-US"/>
          </a:p>
        </p:txBody>
      </p:sp>
    </p:spTree>
    <p:extLst>
      <p:ext uri="{BB962C8B-B14F-4D97-AF65-F5344CB8AC3E}">
        <p14:creationId xmlns:p14="http://schemas.microsoft.com/office/powerpoint/2010/main" val="32006614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F937492-D224-47C0-97DE-A31D38878DB3}"/>
              </a:ext>
            </a:extLst>
          </p:cNvPr>
          <p:cNvSpPr>
            <a:spLocks noGrp="1"/>
          </p:cNvSpPr>
          <p:nvPr>
            <p:ph type="dt" sz="half" idx="10"/>
          </p:nvPr>
        </p:nvSpPr>
        <p:spPr/>
        <p:txBody>
          <a:bodyPr/>
          <a:lstStyle/>
          <a:p>
            <a:fld id="{10B02109-8BD4-478C-8343-C5DB9FF10DDB}" type="datetime1">
              <a:rPr lang="en-US" smtClean="0"/>
              <a:t>4/24/2026</a:t>
            </a:fld>
            <a:endParaRPr lang="en-US"/>
          </a:p>
        </p:txBody>
      </p:sp>
      <p:sp>
        <p:nvSpPr>
          <p:cNvPr id="3" name="Footer Placeholder 2">
            <a:extLst>
              <a:ext uri="{FF2B5EF4-FFF2-40B4-BE49-F238E27FC236}">
                <a16:creationId xmlns:a16="http://schemas.microsoft.com/office/drawing/2014/main" id="{D7B26AB7-CF02-4ABE-AF07-5A09F928346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F3E665F-9864-4029-BD99-CE994C0AC20A}"/>
              </a:ext>
            </a:extLst>
          </p:cNvPr>
          <p:cNvSpPr>
            <a:spLocks noGrp="1"/>
          </p:cNvSpPr>
          <p:nvPr>
            <p:ph type="sldNum" sz="quarter" idx="12"/>
          </p:nvPr>
        </p:nvSpPr>
        <p:spPr/>
        <p:txBody>
          <a:bodyPr/>
          <a:lstStyle/>
          <a:p>
            <a:fld id="{1C788548-AC4B-4945-A4F1-BA86477A7FC8}" type="slidenum">
              <a:rPr lang="en-US" smtClean="0"/>
              <a:t>‹#›</a:t>
            </a:fld>
            <a:endParaRPr lang="en-US"/>
          </a:p>
        </p:txBody>
      </p:sp>
    </p:spTree>
    <p:extLst>
      <p:ext uri="{BB962C8B-B14F-4D97-AF65-F5344CB8AC3E}">
        <p14:creationId xmlns:p14="http://schemas.microsoft.com/office/powerpoint/2010/main" val="6890568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D8A0A6-C193-4436-9FB8-2006A56AC29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9C914EF-7B26-42AB-A73B-F9C723D05B5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43E2805-1325-4F16-9C61-A57D8DE29B4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81A4AA8E-FAA0-4607-B7F8-5B49F8F57D29}"/>
              </a:ext>
            </a:extLst>
          </p:cNvPr>
          <p:cNvSpPr>
            <a:spLocks noGrp="1"/>
          </p:cNvSpPr>
          <p:nvPr>
            <p:ph type="dt" sz="half" idx="10"/>
          </p:nvPr>
        </p:nvSpPr>
        <p:spPr/>
        <p:txBody>
          <a:bodyPr/>
          <a:lstStyle/>
          <a:p>
            <a:fld id="{D1DCD025-B50E-44E1-96D3-8E72C88C14B4}" type="datetime1">
              <a:rPr lang="en-US" smtClean="0"/>
              <a:t>4/24/2026</a:t>
            </a:fld>
            <a:endParaRPr lang="en-US"/>
          </a:p>
        </p:txBody>
      </p:sp>
      <p:sp>
        <p:nvSpPr>
          <p:cNvPr id="6" name="Footer Placeholder 5">
            <a:extLst>
              <a:ext uri="{FF2B5EF4-FFF2-40B4-BE49-F238E27FC236}">
                <a16:creationId xmlns:a16="http://schemas.microsoft.com/office/drawing/2014/main" id="{492D97AB-C8C8-42B0-8D59-F1259E00497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7D5FA75-8E9C-416F-AA4F-F3E98ADC0FC9}"/>
              </a:ext>
            </a:extLst>
          </p:cNvPr>
          <p:cNvSpPr>
            <a:spLocks noGrp="1"/>
          </p:cNvSpPr>
          <p:nvPr>
            <p:ph type="sldNum" sz="quarter" idx="12"/>
          </p:nvPr>
        </p:nvSpPr>
        <p:spPr/>
        <p:txBody>
          <a:bodyPr/>
          <a:lstStyle/>
          <a:p>
            <a:fld id="{1C788548-AC4B-4945-A4F1-BA86477A7FC8}" type="slidenum">
              <a:rPr lang="en-US" smtClean="0"/>
              <a:t>‹#›</a:t>
            </a:fld>
            <a:endParaRPr lang="en-US"/>
          </a:p>
        </p:txBody>
      </p:sp>
    </p:spTree>
    <p:extLst>
      <p:ext uri="{BB962C8B-B14F-4D97-AF65-F5344CB8AC3E}">
        <p14:creationId xmlns:p14="http://schemas.microsoft.com/office/powerpoint/2010/main" val="26612713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1E0EFE-1DB9-49E5-8451-C35ED24B8EC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F927BD0-9990-4742-85F2-49404EA9D3B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D5EA9BF-DA43-493F-902C-EBAE137396A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C1BED542-393B-4D56-AFFB-C079731D70AE}"/>
              </a:ext>
            </a:extLst>
          </p:cNvPr>
          <p:cNvSpPr>
            <a:spLocks noGrp="1"/>
          </p:cNvSpPr>
          <p:nvPr>
            <p:ph type="dt" sz="half" idx="10"/>
          </p:nvPr>
        </p:nvSpPr>
        <p:spPr/>
        <p:txBody>
          <a:bodyPr/>
          <a:lstStyle/>
          <a:p>
            <a:fld id="{BB6AEE16-708A-474A-B28A-EC78EB80B4F6}" type="datetime1">
              <a:rPr lang="en-US" smtClean="0"/>
              <a:t>4/24/2026</a:t>
            </a:fld>
            <a:endParaRPr lang="en-US"/>
          </a:p>
        </p:txBody>
      </p:sp>
      <p:sp>
        <p:nvSpPr>
          <p:cNvPr id="6" name="Footer Placeholder 5">
            <a:extLst>
              <a:ext uri="{FF2B5EF4-FFF2-40B4-BE49-F238E27FC236}">
                <a16:creationId xmlns:a16="http://schemas.microsoft.com/office/drawing/2014/main" id="{7E2D622C-94C2-4FD6-9181-EC8FF7E2AC1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DA782CF-ACA8-49D8-90B3-E4909A13AEA6}"/>
              </a:ext>
            </a:extLst>
          </p:cNvPr>
          <p:cNvSpPr>
            <a:spLocks noGrp="1"/>
          </p:cNvSpPr>
          <p:nvPr>
            <p:ph type="sldNum" sz="quarter" idx="12"/>
          </p:nvPr>
        </p:nvSpPr>
        <p:spPr/>
        <p:txBody>
          <a:bodyPr/>
          <a:lstStyle/>
          <a:p>
            <a:fld id="{1C788548-AC4B-4945-A4F1-BA86477A7FC8}" type="slidenum">
              <a:rPr lang="en-US" smtClean="0"/>
              <a:t>‹#›</a:t>
            </a:fld>
            <a:endParaRPr lang="en-US"/>
          </a:p>
        </p:txBody>
      </p:sp>
    </p:spTree>
    <p:extLst>
      <p:ext uri="{BB962C8B-B14F-4D97-AF65-F5344CB8AC3E}">
        <p14:creationId xmlns:p14="http://schemas.microsoft.com/office/powerpoint/2010/main" val="39444200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212A1E-BFF8-482F-9416-F7E24A6ED05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0BD8F7D-4748-4ED7-83FA-48418DC18E5D}"/>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5F593CA-BC02-44CD-9538-34CAF813E6AE}"/>
              </a:ext>
            </a:extLst>
          </p:cNvPr>
          <p:cNvSpPr>
            <a:spLocks noGrp="1"/>
          </p:cNvSpPr>
          <p:nvPr>
            <p:ph type="dt" sz="half" idx="10"/>
          </p:nvPr>
        </p:nvSpPr>
        <p:spPr/>
        <p:txBody>
          <a:bodyPr/>
          <a:lstStyle/>
          <a:p>
            <a:fld id="{008268A2-F5AE-4CE1-A567-2CBDD7710B74}" type="datetime1">
              <a:rPr lang="en-US" smtClean="0"/>
              <a:t>4/24/2026</a:t>
            </a:fld>
            <a:endParaRPr lang="en-US"/>
          </a:p>
        </p:txBody>
      </p:sp>
      <p:sp>
        <p:nvSpPr>
          <p:cNvPr id="5" name="Footer Placeholder 4">
            <a:extLst>
              <a:ext uri="{FF2B5EF4-FFF2-40B4-BE49-F238E27FC236}">
                <a16:creationId xmlns:a16="http://schemas.microsoft.com/office/drawing/2014/main" id="{1EFD9ED9-FE44-4C5B-A0E1-AE71950167D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F837DA6-2270-44D3-AC10-46FAF86BE887}"/>
              </a:ext>
            </a:extLst>
          </p:cNvPr>
          <p:cNvSpPr>
            <a:spLocks noGrp="1"/>
          </p:cNvSpPr>
          <p:nvPr>
            <p:ph type="sldNum" sz="quarter" idx="12"/>
          </p:nvPr>
        </p:nvSpPr>
        <p:spPr/>
        <p:txBody>
          <a:bodyPr/>
          <a:lstStyle/>
          <a:p>
            <a:fld id="{1C788548-AC4B-4945-A4F1-BA86477A7FC8}" type="slidenum">
              <a:rPr lang="en-US" smtClean="0"/>
              <a:t>‹#›</a:t>
            </a:fld>
            <a:endParaRPr lang="en-US"/>
          </a:p>
        </p:txBody>
      </p:sp>
    </p:spTree>
    <p:extLst>
      <p:ext uri="{BB962C8B-B14F-4D97-AF65-F5344CB8AC3E}">
        <p14:creationId xmlns:p14="http://schemas.microsoft.com/office/powerpoint/2010/main" val="24647333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76160BB-3775-4FFF-BDB4-0B2DDA8C77F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1D275B0-E01D-4B11-B951-5FC2CCDCEF3D}"/>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FC9F22A-11EF-4EB8-9A2C-A2F60D429A99}"/>
              </a:ext>
            </a:extLst>
          </p:cNvPr>
          <p:cNvSpPr>
            <a:spLocks noGrp="1"/>
          </p:cNvSpPr>
          <p:nvPr>
            <p:ph type="dt" sz="half" idx="10"/>
          </p:nvPr>
        </p:nvSpPr>
        <p:spPr/>
        <p:txBody>
          <a:bodyPr/>
          <a:lstStyle/>
          <a:p>
            <a:fld id="{D143BEE9-0CC5-4F81-9AF1-B8853B43FF44}" type="datetime1">
              <a:rPr lang="en-US" smtClean="0"/>
              <a:t>4/24/2026</a:t>
            </a:fld>
            <a:endParaRPr lang="en-US"/>
          </a:p>
        </p:txBody>
      </p:sp>
      <p:sp>
        <p:nvSpPr>
          <p:cNvPr id="5" name="Footer Placeholder 4">
            <a:extLst>
              <a:ext uri="{FF2B5EF4-FFF2-40B4-BE49-F238E27FC236}">
                <a16:creationId xmlns:a16="http://schemas.microsoft.com/office/drawing/2014/main" id="{563BF772-121E-4534-8063-ABD82285320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936BF5E-41B9-489A-BD53-C2310AC20056}"/>
              </a:ext>
            </a:extLst>
          </p:cNvPr>
          <p:cNvSpPr>
            <a:spLocks noGrp="1"/>
          </p:cNvSpPr>
          <p:nvPr>
            <p:ph type="sldNum" sz="quarter" idx="12"/>
          </p:nvPr>
        </p:nvSpPr>
        <p:spPr/>
        <p:txBody>
          <a:bodyPr/>
          <a:lstStyle/>
          <a:p>
            <a:fld id="{1C788548-AC4B-4945-A4F1-BA86477A7FC8}" type="slidenum">
              <a:rPr lang="en-US" smtClean="0"/>
              <a:t>‹#›</a:t>
            </a:fld>
            <a:endParaRPr lang="en-US"/>
          </a:p>
        </p:txBody>
      </p:sp>
    </p:spTree>
    <p:extLst>
      <p:ext uri="{BB962C8B-B14F-4D97-AF65-F5344CB8AC3E}">
        <p14:creationId xmlns:p14="http://schemas.microsoft.com/office/powerpoint/2010/main" val="37667385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474B991-776D-410B-BE5E-9CB81F0B642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8156BE3-8C84-45D2-A91B-A2D2C636F45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5E5B9C6-87CE-4472-B0DA-976D8D8FC8C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E1BAD80-E30B-485D-838F-A9AFE42B568B}" type="datetime1">
              <a:rPr lang="en-US" smtClean="0"/>
              <a:t>4/24/2026</a:t>
            </a:fld>
            <a:endParaRPr lang="en-US"/>
          </a:p>
        </p:txBody>
      </p:sp>
      <p:sp>
        <p:nvSpPr>
          <p:cNvPr id="5" name="Footer Placeholder 4">
            <a:extLst>
              <a:ext uri="{FF2B5EF4-FFF2-40B4-BE49-F238E27FC236}">
                <a16:creationId xmlns:a16="http://schemas.microsoft.com/office/drawing/2014/main" id="{99DA66E2-DEBA-4E58-8D91-3630479A0C8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154F5FD-8990-4792-9363-5D53874C89F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C788548-AC4B-4945-A4F1-BA86477A7FC8}" type="slidenum">
              <a:rPr lang="en-US" smtClean="0"/>
              <a:t>‹#›</a:t>
            </a:fld>
            <a:endParaRPr lang="en-US"/>
          </a:p>
        </p:txBody>
      </p:sp>
    </p:spTree>
    <p:extLst>
      <p:ext uri="{BB962C8B-B14F-4D97-AF65-F5344CB8AC3E}">
        <p14:creationId xmlns:p14="http://schemas.microsoft.com/office/powerpoint/2010/main" val="2628139457"/>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 Id="rId5" Type="http://schemas.openxmlformats.org/officeDocument/2006/relationships/image" Target="../media/image16.png"/><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7.xml"/><Relationship Id="rId4" Type="http://schemas.openxmlformats.org/officeDocument/2006/relationships/image" Target="../media/image29.png"/></Relationships>
</file>

<file path=ppt/slides/_rels/slide1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7.xml"/><Relationship Id="rId5" Type="http://schemas.openxmlformats.org/officeDocument/2006/relationships/image" Target="../media/image35.png"/><Relationship Id="rId4" Type="http://schemas.openxmlformats.org/officeDocument/2006/relationships/image" Target="../media/image34.png"/></Relationships>
</file>

<file path=ppt/slides/_rels/slide1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7.xml"/><Relationship Id="rId5" Type="http://schemas.openxmlformats.org/officeDocument/2006/relationships/image" Target="../media/image50.png"/><Relationship Id="rId4" Type="http://schemas.openxmlformats.org/officeDocument/2006/relationships/image" Target="../media/image49.png"/></Relationships>
</file>

<file path=ppt/slides/_rels/slide29.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7.xml"/><Relationship Id="rId4" Type="http://schemas.openxmlformats.org/officeDocument/2006/relationships/image" Target="../media/image59.png"/></Relationships>
</file>

<file path=ppt/slides/_rels/slide33.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7.xml"/><Relationship Id="rId4" Type="http://schemas.openxmlformats.org/officeDocument/2006/relationships/image" Target="../media/image62.png"/></Relationships>
</file>

<file path=ppt/slides/_rels/slide34.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8.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70.png"/><Relationship Id="rId1" Type="http://schemas.openxmlformats.org/officeDocument/2006/relationships/slideLayout" Target="../slideLayouts/slideLayout7.xml"/><Relationship Id="rId4" Type="http://schemas.openxmlformats.org/officeDocument/2006/relationships/image" Target="../media/image72.png"/></Relationships>
</file>

<file path=ppt/slides/_rels/slide40.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image" Target="../media/image73.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image" Target="../media/image75.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77.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image" Target="../media/image79.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image" Target="../media/image83.png"/><Relationship Id="rId1" Type="http://schemas.openxmlformats.org/officeDocument/2006/relationships/slideLayout" Target="../slideLayouts/slideLayout7.xml"/><Relationship Id="rId4" Type="http://schemas.openxmlformats.org/officeDocument/2006/relationships/image" Target="../media/image85.png"/></Relationships>
</file>

<file path=ppt/slides/_rels/slide51.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image" Target="../media/image86.png"/><Relationship Id="rId1" Type="http://schemas.openxmlformats.org/officeDocument/2006/relationships/slideLayout" Target="../slideLayouts/slideLayout7.xml"/><Relationship Id="rId4" Type="http://schemas.openxmlformats.org/officeDocument/2006/relationships/image" Target="../media/image88.png"/></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image" Target="../media/image89.pn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image" Target="../media/image90.png"/><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image" Target="../media/image92.pn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image" Target="../media/image94.pn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image" Target="../media/image96.png"/><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image" Target="../media/image98.png"/><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image" Target="../media/image101.png"/><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image" Target="../media/image102.png"/><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image" Target="../media/image103.png"/><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image" Target="../media/image104.png"/><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image" Target="../media/image105.png"/><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2" Type="http://schemas.openxmlformats.org/officeDocument/2006/relationships/image" Target="../media/image106.png"/><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image" Target="../media/image107.png"/><Relationship Id="rId1" Type="http://schemas.openxmlformats.org/officeDocument/2006/relationships/slideLayout" Target="../slideLayouts/slideLayout7.xml"/><Relationship Id="rId4" Type="http://schemas.openxmlformats.org/officeDocument/2006/relationships/image" Target="../media/image109.png"/></Relationships>
</file>

<file path=ppt/slides/_rels/slide71.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image" Target="../media/image110.png"/><Relationship Id="rId1" Type="http://schemas.openxmlformats.org/officeDocument/2006/relationships/slideLayout" Target="../slideLayouts/slideLayout7.xml"/><Relationship Id="rId4" Type="http://schemas.openxmlformats.org/officeDocument/2006/relationships/image" Target="../media/image112.png"/></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3" Type="http://schemas.openxmlformats.org/officeDocument/2006/relationships/image" Target="../media/image114.png"/><Relationship Id="rId2" Type="http://schemas.openxmlformats.org/officeDocument/2006/relationships/image" Target="../media/image113.png"/><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3" Type="http://schemas.openxmlformats.org/officeDocument/2006/relationships/image" Target="../media/image116.png"/><Relationship Id="rId2" Type="http://schemas.openxmlformats.org/officeDocument/2006/relationships/image" Target="../media/image115.png"/><Relationship Id="rId1" Type="http://schemas.openxmlformats.org/officeDocument/2006/relationships/slideLayout" Target="../slideLayouts/slideLayout7.xml"/><Relationship Id="rId5" Type="http://schemas.openxmlformats.org/officeDocument/2006/relationships/image" Target="../media/image118.png"/><Relationship Id="rId4" Type="http://schemas.openxmlformats.org/officeDocument/2006/relationships/image" Target="../media/image117.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6950E8DB-8082-4B97-B45B-AC8F7F628D22}"/>
              </a:ext>
            </a:extLst>
          </p:cNvPr>
          <p:cNvSpPr/>
          <p:nvPr/>
        </p:nvSpPr>
        <p:spPr>
          <a:xfrm>
            <a:off x="748900" y="711792"/>
            <a:ext cx="10734805" cy="5398717"/>
          </a:xfrm>
          <a:prstGeom prst="rect">
            <a:avLst/>
          </a:prstGeom>
          <a:solidFill>
            <a:schemeClr val="bg1"/>
          </a:solidFill>
          <a:ln w="571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0"/>
            <a:ext cx="12192000" cy="68580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600" dirty="0"/>
          </a:p>
        </p:txBody>
      </p:sp>
      <p:sp>
        <p:nvSpPr>
          <p:cNvPr id="5" name="TextBox 4"/>
          <p:cNvSpPr txBox="1"/>
          <p:nvPr/>
        </p:nvSpPr>
        <p:spPr>
          <a:xfrm>
            <a:off x="9136550" y="4410949"/>
            <a:ext cx="2287187" cy="584775"/>
          </a:xfrm>
          <a:prstGeom prst="rect">
            <a:avLst/>
          </a:prstGeom>
          <a:noFill/>
        </p:spPr>
        <p:txBody>
          <a:bodyPr wrap="square" rtlCol="0">
            <a:spAutoFit/>
          </a:bodyPr>
          <a:lstStyle/>
          <a:p>
            <a:r>
              <a:rPr lang="en-US" sz="3200" dirty="0">
                <a:solidFill>
                  <a:schemeClr val="bg1"/>
                </a:solidFill>
                <a:latin typeface="Helvetica Neue" charset="0"/>
                <a:ea typeface="Helvetica Neue" charset="0"/>
                <a:cs typeface="Helvetica Neue" charset="0"/>
              </a:rPr>
              <a:t>IMS</a:t>
            </a:r>
            <a:r>
              <a:rPr lang="en-US" sz="3200" b="1" dirty="0">
                <a:solidFill>
                  <a:schemeClr val="bg1"/>
                </a:solidFill>
                <a:latin typeface="Helvetica Neue" charset="0"/>
                <a:ea typeface="Helvetica Neue" charset="0"/>
                <a:cs typeface="Helvetica Neue" charset="0"/>
              </a:rPr>
              <a:t> Tools</a:t>
            </a:r>
          </a:p>
        </p:txBody>
      </p:sp>
      <p:sp>
        <p:nvSpPr>
          <p:cNvPr id="2" name="TextBox 1"/>
          <p:cNvSpPr txBox="1"/>
          <p:nvPr/>
        </p:nvSpPr>
        <p:spPr>
          <a:xfrm>
            <a:off x="9544903" y="4886381"/>
            <a:ext cx="2250925" cy="400110"/>
          </a:xfrm>
          <a:prstGeom prst="rect">
            <a:avLst/>
          </a:prstGeom>
          <a:noFill/>
        </p:spPr>
        <p:txBody>
          <a:bodyPr wrap="square" rtlCol="0">
            <a:spAutoFit/>
          </a:bodyPr>
          <a:lstStyle/>
          <a:p>
            <a:r>
              <a:rPr lang="en-US" sz="2000" dirty="0">
                <a:solidFill>
                  <a:schemeClr val="bg1"/>
                </a:solidFill>
                <a:latin typeface="Helvetica Neue" charset="0"/>
                <a:ea typeface="Helvetica Neue" charset="0"/>
                <a:cs typeface="Helvetica Neue" charset="0"/>
              </a:rPr>
              <a:t>for z/OS</a:t>
            </a:r>
          </a:p>
        </p:txBody>
      </p:sp>
      <p:sp>
        <p:nvSpPr>
          <p:cNvPr id="7" name="TextBox 6"/>
          <p:cNvSpPr txBox="1"/>
          <p:nvPr/>
        </p:nvSpPr>
        <p:spPr>
          <a:xfrm>
            <a:off x="725421" y="6294057"/>
            <a:ext cx="3856381" cy="338554"/>
          </a:xfrm>
          <a:prstGeom prst="rect">
            <a:avLst/>
          </a:prstGeom>
          <a:noFill/>
        </p:spPr>
        <p:txBody>
          <a:bodyPr wrap="square" rtlCol="0">
            <a:spAutoFit/>
          </a:bodyPr>
          <a:lstStyle/>
          <a:p>
            <a:r>
              <a:rPr lang="en-US" sz="1600" dirty="0">
                <a:latin typeface="Helvetica Neue Thin" charset="0"/>
                <a:ea typeface="Helvetica Neue Thin" charset="0"/>
                <a:cs typeface="Helvetica Neue Thin" charset="0"/>
              </a:rPr>
              <a:t>© 2026 IBM Corporation</a:t>
            </a:r>
          </a:p>
        </p:txBody>
      </p:sp>
      <p:pic>
        <p:nvPicPr>
          <p:cNvPr id="9" name="Picture 8"/>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9335101" y="3807911"/>
            <a:ext cx="1568219" cy="639833"/>
          </a:xfrm>
          <a:prstGeom prst="rect">
            <a:avLst/>
          </a:prstGeom>
          <a:noFill/>
        </p:spPr>
      </p:pic>
      <p:sp>
        <p:nvSpPr>
          <p:cNvPr id="10" name="TextBox 9"/>
          <p:cNvSpPr txBox="1"/>
          <p:nvPr/>
        </p:nvSpPr>
        <p:spPr>
          <a:xfrm>
            <a:off x="806334" y="1576226"/>
            <a:ext cx="10611828" cy="2308324"/>
          </a:xfrm>
          <a:prstGeom prst="rect">
            <a:avLst/>
          </a:prstGeom>
          <a:noFill/>
        </p:spPr>
        <p:txBody>
          <a:bodyPr wrap="square" rtlCol="0">
            <a:spAutoFit/>
          </a:bodyPr>
          <a:lstStyle/>
          <a:p>
            <a:pPr algn="ctr"/>
            <a:r>
              <a:rPr lang="en-US" sz="4800" dirty="0">
                <a:latin typeface="Helvetica" panose="020B0604020202020204" pitchFamily="34" charset="0"/>
                <a:ea typeface="Helvetica" charset="0"/>
                <a:cs typeface="Helvetica" panose="020B0604020202020204" pitchFamily="34" charset="0"/>
              </a:rPr>
              <a:t>IMS Administration Tool</a:t>
            </a:r>
          </a:p>
          <a:p>
            <a:pPr algn="ctr"/>
            <a:r>
              <a:rPr lang="fr-FR" sz="4800" u="sng" dirty="0">
                <a:latin typeface="Helvetica" panose="020B0604020202020204" pitchFamily="34" charset="0"/>
                <a:ea typeface="Helvetica" charset="0"/>
                <a:cs typeface="Helvetica" panose="020B0604020202020204" pitchFamily="34" charset="0"/>
              </a:rPr>
              <a:t>ISPF Interface</a:t>
            </a:r>
            <a:endParaRPr lang="fr-FR" sz="4800" dirty="0">
              <a:latin typeface="Helvetica" panose="020B0604020202020204" pitchFamily="34" charset="0"/>
              <a:ea typeface="Helvetica" charset="0"/>
              <a:cs typeface="Helvetica" panose="020B0604020202020204" pitchFamily="34" charset="0"/>
            </a:endParaRPr>
          </a:p>
          <a:p>
            <a:pPr algn="ctr"/>
            <a:r>
              <a:rPr lang="en-US" sz="4800" dirty="0">
                <a:latin typeface="Helvetica" panose="020B0604020202020204" pitchFamily="34" charset="0"/>
                <a:ea typeface="Helvetica" charset="0"/>
                <a:cs typeface="Helvetica" panose="020B0604020202020204" pitchFamily="34" charset="0"/>
              </a:rPr>
              <a:t> LAB Exercises </a:t>
            </a:r>
            <a:endParaRPr lang="en-US" sz="4800" i="1" dirty="0">
              <a:latin typeface="Helvetica" panose="020B0604020202020204" pitchFamily="34" charset="0"/>
              <a:ea typeface="Helvetica" charset="0"/>
              <a:cs typeface="Helvetica" panose="020B0604020202020204" pitchFamily="34" charset="0"/>
            </a:endParaRPr>
          </a:p>
        </p:txBody>
      </p:sp>
      <p:sp>
        <p:nvSpPr>
          <p:cNvPr id="4" name="Slide Number Placeholder 3">
            <a:extLst>
              <a:ext uri="{FF2B5EF4-FFF2-40B4-BE49-F238E27FC236}">
                <a16:creationId xmlns:a16="http://schemas.microsoft.com/office/drawing/2014/main" id="{DB317E2B-0895-E160-C697-4A70CCA4DC51}"/>
              </a:ext>
            </a:extLst>
          </p:cNvPr>
          <p:cNvSpPr>
            <a:spLocks noGrp="1"/>
          </p:cNvSpPr>
          <p:nvPr>
            <p:ph type="sldNum" sz="quarter" idx="12"/>
          </p:nvPr>
        </p:nvSpPr>
        <p:spPr/>
        <p:txBody>
          <a:bodyPr/>
          <a:lstStyle/>
          <a:p>
            <a:fld id="{1C788548-AC4B-4945-A4F1-BA86477A7FC8}" type="slidenum">
              <a:rPr lang="en-US" smtClean="0"/>
              <a:t>1</a:t>
            </a:fld>
            <a:endParaRPr lang="en-US"/>
          </a:p>
        </p:txBody>
      </p:sp>
    </p:spTree>
    <p:extLst>
      <p:ext uri="{BB962C8B-B14F-4D97-AF65-F5344CB8AC3E}">
        <p14:creationId xmlns:p14="http://schemas.microsoft.com/office/powerpoint/2010/main" val="45523947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a:extLst>
              <a:ext uri="{FF2B5EF4-FFF2-40B4-BE49-F238E27FC236}">
                <a16:creationId xmlns:a16="http://schemas.microsoft.com/office/drawing/2014/main" id="{67F1EF74-583C-4685-827A-DC7986FB144B}"/>
              </a:ext>
            </a:extLst>
          </p:cNvPr>
          <p:cNvSpPr txBox="1">
            <a:spLocks/>
          </p:cNvSpPr>
          <p:nvPr/>
        </p:nvSpPr>
        <p:spPr>
          <a:xfrm>
            <a:off x="444062" y="147207"/>
            <a:ext cx="11303169" cy="3548788"/>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20000"/>
              </a:lnSpc>
              <a:spcBef>
                <a:spcPts val="600"/>
              </a:spcBef>
              <a:spcAft>
                <a:spcPts val="600"/>
              </a:spcAft>
              <a:buNone/>
            </a:pPr>
            <a:r>
              <a:rPr lang="en-US" sz="3200" b="1" dirty="0">
                <a:solidFill>
                  <a:schemeClr val="accent1">
                    <a:lumMod val="75000"/>
                  </a:schemeClr>
                </a:solidFill>
              </a:rPr>
              <a:t>IMS Administration Tool ISPF LAB Exercises</a:t>
            </a:r>
            <a:r>
              <a:rPr lang="en-US" sz="3500" b="1" dirty="0">
                <a:solidFill>
                  <a:schemeClr val="accent1">
                    <a:lumMod val="75000"/>
                  </a:schemeClr>
                </a:solidFill>
              </a:rPr>
              <a:t>  </a:t>
            </a:r>
          </a:p>
          <a:p>
            <a:pPr marL="0" indent="0">
              <a:lnSpc>
                <a:spcPct val="100000"/>
              </a:lnSpc>
              <a:spcBef>
                <a:spcPts val="600"/>
              </a:spcBef>
              <a:spcAft>
                <a:spcPts val="1200"/>
              </a:spcAft>
              <a:buNone/>
            </a:pPr>
            <a:r>
              <a:rPr lang="en-US" sz="1800" dirty="0"/>
              <a:t>After following the required instructions that your LAB instructor has given you for logging on to the Hands-on LAB system, accessing the main ISPF menu Option “I - IMS Tools HOL”, you will be ready to access the IMS Administration Tool.  You must not skip any SETUP and LOGON steps. </a:t>
            </a:r>
          </a:p>
          <a:p>
            <a:pPr marL="339725" indent="-339725">
              <a:lnSpc>
                <a:spcPct val="100000"/>
              </a:lnSpc>
              <a:spcBef>
                <a:spcPts val="0"/>
              </a:spcBef>
              <a:buFont typeface="+mj-lt"/>
              <a:buAutoNum type="arabicPeriod"/>
            </a:pPr>
            <a:r>
              <a:rPr lang="en-US" sz="1800" dirty="0"/>
              <a:t>You must follow the SETUP instructions that your LAB instructor has given you:</a:t>
            </a:r>
          </a:p>
          <a:p>
            <a:pPr marL="339725" indent="-339725">
              <a:lnSpc>
                <a:spcPct val="100000"/>
              </a:lnSpc>
              <a:spcBef>
                <a:spcPts val="0"/>
              </a:spcBef>
              <a:buFont typeface="+mj-lt"/>
              <a:buAutoNum type="arabicPeriod"/>
            </a:pPr>
            <a:r>
              <a:rPr lang="en-US" sz="1800" dirty="0"/>
              <a:t>LOGON using a </a:t>
            </a:r>
            <a:r>
              <a:rPr lang="en-US" sz="1800" dirty="0" err="1"/>
              <a:t>userid</a:t>
            </a:r>
            <a:r>
              <a:rPr lang="en-US" sz="1800" dirty="0"/>
              <a:t> </a:t>
            </a:r>
            <a:r>
              <a:rPr lang="en-US" sz="1800" dirty="0" err="1"/>
              <a:t>DMID</a:t>
            </a:r>
            <a:r>
              <a:rPr lang="en-US" sz="1800" i="1" dirty="0" err="1"/>
              <a:t>nn</a:t>
            </a:r>
            <a:r>
              <a:rPr lang="en-US" sz="1800" dirty="0"/>
              <a:t> (</a:t>
            </a:r>
            <a:r>
              <a:rPr lang="en-US" sz="1800" i="1" dirty="0" err="1"/>
              <a:t>nn</a:t>
            </a:r>
            <a:r>
              <a:rPr lang="en-US" sz="1800" dirty="0"/>
              <a:t> = 00 or 01) with case-sensitive password</a:t>
            </a:r>
          </a:p>
          <a:p>
            <a:pPr lvl="1">
              <a:lnSpc>
                <a:spcPct val="100000"/>
              </a:lnSpc>
              <a:spcBef>
                <a:spcPts val="0"/>
              </a:spcBef>
            </a:pPr>
            <a:r>
              <a:rPr lang="en-US" sz="1600" dirty="0">
                <a:highlight>
                  <a:srgbClr val="FFFF00"/>
                </a:highlight>
              </a:rPr>
              <a:t>Specify the procedure </a:t>
            </a:r>
            <a:r>
              <a:rPr lang="en-US" sz="1600" b="1" dirty="0">
                <a:highlight>
                  <a:srgbClr val="FFFF00"/>
                </a:highlight>
              </a:rPr>
              <a:t>IMSPROC</a:t>
            </a:r>
            <a:r>
              <a:rPr lang="en-US" sz="1600" dirty="0">
                <a:highlight>
                  <a:srgbClr val="FFFF00"/>
                </a:highlight>
              </a:rPr>
              <a:t> and the command </a:t>
            </a:r>
            <a:r>
              <a:rPr lang="en-US" sz="1600" b="1" dirty="0">
                <a:highlight>
                  <a:srgbClr val="FFFF00"/>
                </a:highlight>
              </a:rPr>
              <a:t>ISPF</a:t>
            </a:r>
            <a:r>
              <a:rPr lang="en-US" sz="1600" dirty="0">
                <a:highlight>
                  <a:srgbClr val="FFFF00"/>
                </a:highlight>
              </a:rPr>
              <a:t> on the LOGON panel</a:t>
            </a:r>
          </a:p>
          <a:p>
            <a:pPr lvl="1">
              <a:lnSpc>
                <a:spcPct val="100000"/>
              </a:lnSpc>
              <a:spcBef>
                <a:spcPts val="0"/>
              </a:spcBef>
              <a:spcAft>
                <a:spcPts val="600"/>
              </a:spcAft>
            </a:pPr>
            <a:r>
              <a:rPr lang="en-US" sz="1600" dirty="0">
                <a:highlight>
                  <a:srgbClr val="FFFF00"/>
                </a:highlight>
              </a:rPr>
              <a:t>DMID00 is an IMS Tools administrator and DMID01 is an IMS Tools user</a:t>
            </a:r>
            <a:endParaRPr lang="en-US" sz="1800" dirty="0">
              <a:highlight>
                <a:srgbClr val="FFFF00"/>
              </a:highlight>
            </a:endParaRPr>
          </a:p>
          <a:p>
            <a:pPr marL="339725" indent="-339725">
              <a:lnSpc>
                <a:spcPct val="100000"/>
              </a:lnSpc>
              <a:spcBef>
                <a:spcPts val="0"/>
              </a:spcBef>
              <a:buFont typeface="+mj-lt"/>
              <a:buAutoNum type="arabicPeriod"/>
            </a:pPr>
            <a:r>
              <a:rPr lang="en-US" sz="1800" dirty="0"/>
              <a:t>Select Option “</a:t>
            </a:r>
            <a:r>
              <a:rPr lang="en-US" sz="1800" b="1" dirty="0">
                <a:highlight>
                  <a:srgbClr val="FFFF00"/>
                </a:highlight>
              </a:rPr>
              <a:t>I</a:t>
            </a:r>
            <a:r>
              <a:rPr lang="en-US" sz="1800" dirty="0"/>
              <a:t>” from the ISPF main menu</a:t>
            </a:r>
          </a:p>
          <a:p>
            <a:pPr marL="339725" indent="-339725">
              <a:lnSpc>
                <a:spcPct val="100000"/>
              </a:lnSpc>
              <a:spcBef>
                <a:spcPts val="0"/>
              </a:spcBef>
              <a:buFont typeface="+mj-lt"/>
              <a:buAutoNum type="arabicPeriod"/>
            </a:pPr>
            <a:r>
              <a:rPr lang="en-US" sz="1800" dirty="0"/>
              <a:t>Select Option         IMS Administration Tool main panel</a:t>
            </a:r>
            <a:endParaRPr lang="en-US" sz="2000" dirty="0"/>
          </a:p>
        </p:txBody>
      </p:sp>
      <p:sp>
        <p:nvSpPr>
          <p:cNvPr id="11" name="Rectangle 10">
            <a:extLst>
              <a:ext uri="{FF2B5EF4-FFF2-40B4-BE49-F238E27FC236}">
                <a16:creationId xmlns:a16="http://schemas.microsoft.com/office/drawing/2014/main" id="{40878C60-CE39-4D0D-9035-3E37C0057060}"/>
              </a:ext>
            </a:extLst>
          </p:cNvPr>
          <p:cNvSpPr/>
          <p:nvPr/>
        </p:nvSpPr>
        <p:spPr>
          <a:xfrm>
            <a:off x="2193343" y="3366952"/>
            <a:ext cx="338816" cy="237398"/>
          </a:xfrm>
          <a:prstGeom prst="rect">
            <a:avLst/>
          </a:prstGeom>
          <a:solidFill>
            <a:schemeClr val="bg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latin typeface="Calibri (Body)"/>
              </a:rPr>
              <a:t>1</a:t>
            </a:r>
            <a:endParaRPr lang="en-US" sz="1600" dirty="0">
              <a:solidFill>
                <a:schemeClr val="tx1"/>
              </a:solidFill>
              <a:latin typeface="Calibri (Body)"/>
            </a:endParaRPr>
          </a:p>
        </p:txBody>
      </p:sp>
      <p:pic>
        <p:nvPicPr>
          <p:cNvPr id="3" name="Picture 2">
            <a:extLst>
              <a:ext uri="{FF2B5EF4-FFF2-40B4-BE49-F238E27FC236}">
                <a16:creationId xmlns:a16="http://schemas.microsoft.com/office/drawing/2014/main" id="{4510EDC6-FD40-7EBB-C8FB-212491002D9D}"/>
              </a:ext>
            </a:extLst>
          </p:cNvPr>
          <p:cNvPicPr>
            <a:picLocks noChangeAspect="1"/>
          </p:cNvPicPr>
          <p:nvPr/>
        </p:nvPicPr>
        <p:blipFill>
          <a:blip r:embed="rId2"/>
          <a:stretch>
            <a:fillRect/>
          </a:stretch>
        </p:blipFill>
        <p:spPr>
          <a:xfrm>
            <a:off x="6743018" y="3759712"/>
            <a:ext cx="4620651" cy="1719312"/>
          </a:xfrm>
          <a:prstGeom prst="rect">
            <a:avLst/>
          </a:prstGeom>
          <a:effectLst>
            <a:glow rad="63500">
              <a:schemeClr val="accent3">
                <a:satMod val="175000"/>
                <a:alpha val="40000"/>
              </a:schemeClr>
            </a:glow>
          </a:effectLst>
        </p:spPr>
      </p:pic>
      <p:pic>
        <p:nvPicPr>
          <p:cNvPr id="6" name="Picture 5">
            <a:extLst>
              <a:ext uri="{FF2B5EF4-FFF2-40B4-BE49-F238E27FC236}">
                <a16:creationId xmlns:a16="http://schemas.microsoft.com/office/drawing/2014/main" id="{5B38BE5E-3423-97A8-E272-09A8539D4B65}"/>
              </a:ext>
            </a:extLst>
          </p:cNvPr>
          <p:cNvPicPr>
            <a:picLocks noChangeAspect="1"/>
          </p:cNvPicPr>
          <p:nvPr/>
        </p:nvPicPr>
        <p:blipFill>
          <a:blip r:embed="rId3"/>
          <a:stretch>
            <a:fillRect/>
          </a:stretch>
        </p:blipFill>
        <p:spPr>
          <a:xfrm>
            <a:off x="1202252" y="3759712"/>
            <a:ext cx="4620651" cy="2829701"/>
          </a:xfrm>
          <a:prstGeom prst="rect">
            <a:avLst/>
          </a:prstGeom>
          <a:effectLst>
            <a:glow rad="63500">
              <a:schemeClr val="accent3">
                <a:satMod val="175000"/>
                <a:alpha val="40000"/>
              </a:schemeClr>
            </a:glow>
          </a:effectLst>
        </p:spPr>
      </p:pic>
      <p:cxnSp>
        <p:nvCxnSpPr>
          <p:cNvPr id="7" name="Straight Arrow Connector 6">
            <a:extLst>
              <a:ext uri="{FF2B5EF4-FFF2-40B4-BE49-F238E27FC236}">
                <a16:creationId xmlns:a16="http://schemas.microsoft.com/office/drawing/2014/main" id="{001757A5-5C92-3C1A-0B65-8A89030082AA}"/>
              </a:ext>
            </a:extLst>
          </p:cNvPr>
          <p:cNvCxnSpPr>
            <a:cxnSpLocks/>
          </p:cNvCxnSpPr>
          <p:nvPr/>
        </p:nvCxnSpPr>
        <p:spPr>
          <a:xfrm>
            <a:off x="685997" y="4171962"/>
            <a:ext cx="487680"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83200A4E-B239-B8C0-167B-020C98CD7B61}"/>
              </a:ext>
            </a:extLst>
          </p:cNvPr>
          <p:cNvCxnSpPr>
            <a:cxnSpLocks/>
          </p:cNvCxnSpPr>
          <p:nvPr/>
        </p:nvCxnSpPr>
        <p:spPr>
          <a:xfrm>
            <a:off x="6226763" y="3952887"/>
            <a:ext cx="487680"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0" name="Rectangle: Rounded Corners 9">
            <a:extLst>
              <a:ext uri="{FF2B5EF4-FFF2-40B4-BE49-F238E27FC236}">
                <a16:creationId xmlns:a16="http://schemas.microsoft.com/office/drawing/2014/main" id="{90BA1696-6A3B-8AD7-A100-DA82E5B15230}"/>
              </a:ext>
            </a:extLst>
          </p:cNvPr>
          <p:cNvSpPr/>
          <p:nvPr/>
        </p:nvSpPr>
        <p:spPr>
          <a:xfrm>
            <a:off x="1211777" y="6203219"/>
            <a:ext cx="3188773" cy="118977"/>
          </a:xfrm>
          <a:prstGeom prst="roundRect">
            <a:avLst>
              <a:gd name="adj" fmla="val 42570"/>
            </a:avLst>
          </a:prstGeom>
          <a:noFill/>
          <a:ln w="12700">
            <a:solidFill>
              <a:srgbClr val="FFFF00"/>
            </a:solidFill>
          </a:ln>
          <a:effectLst>
            <a:outerShdw blurRad="50800" dist="38100" dir="2700000" algn="tl" rotWithShape="0">
              <a:schemeClr val="bg2">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Rounded Corners 12">
            <a:extLst>
              <a:ext uri="{FF2B5EF4-FFF2-40B4-BE49-F238E27FC236}">
                <a16:creationId xmlns:a16="http://schemas.microsoft.com/office/drawing/2014/main" id="{9AC78CA2-7335-BA33-BB3E-71781990C6C9}"/>
              </a:ext>
            </a:extLst>
          </p:cNvPr>
          <p:cNvSpPr/>
          <p:nvPr/>
        </p:nvSpPr>
        <p:spPr>
          <a:xfrm>
            <a:off x="6791341" y="4345844"/>
            <a:ext cx="3188773" cy="361951"/>
          </a:xfrm>
          <a:prstGeom prst="roundRect">
            <a:avLst>
              <a:gd name="adj" fmla="val 42570"/>
            </a:avLst>
          </a:prstGeom>
          <a:noFill/>
          <a:ln w="12700">
            <a:solidFill>
              <a:srgbClr val="FFFF00"/>
            </a:solidFill>
          </a:ln>
          <a:effectLst>
            <a:outerShdw blurRad="50800" dist="38100" dir="2700000" algn="tl" rotWithShape="0">
              <a:schemeClr val="bg2">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Slide Number Placeholder 1">
            <a:extLst>
              <a:ext uri="{FF2B5EF4-FFF2-40B4-BE49-F238E27FC236}">
                <a16:creationId xmlns:a16="http://schemas.microsoft.com/office/drawing/2014/main" id="{EB763B9C-75A5-CFDD-52EB-47529D70F7F5}"/>
              </a:ext>
            </a:extLst>
          </p:cNvPr>
          <p:cNvSpPr>
            <a:spLocks noGrp="1"/>
          </p:cNvSpPr>
          <p:nvPr>
            <p:ph type="sldNum" sz="quarter" idx="12"/>
          </p:nvPr>
        </p:nvSpPr>
        <p:spPr/>
        <p:txBody>
          <a:bodyPr/>
          <a:lstStyle/>
          <a:p>
            <a:fld id="{1C788548-AC4B-4945-A4F1-BA86477A7FC8}" type="slidenum">
              <a:rPr lang="en-US" smtClean="0"/>
              <a:t>2</a:t>
            </a:fld>
            <a:endParaRPr lang="en-US"/>
          </a:p>
        </p:txBody>
      </p:sp>
    </p:spTree>
    <p:extLst>
      <p:ext uri="{BB962C8B-B14F-4D97-AF65-F5344CB8AC3E}">
        <p14:creationId xmlns:p14="http://schemas.microsoft.com/office/powerpoint/2010/main" val="30954599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47E08336-71AB-44BF-9E1A-7442CE355F86}"/>
              </a:ext>
            </a:extLst>
          </p:cNvPr>
          <p:cNvSpPr txBox="1"/>
          <p:nvPr/>
        </p:nvSpPr>
        <p:spPr>
          <a:xfrm>
            <a:off x="1409700" y="850900"/>
            <a:ext cx="9677400" cy="3621632"/>
          </a:xfrm>
          <a:prstGeom prst="rect">
            <a:avLst/>
          </a:prstGeom>
          <a:solidFill>
            <a:schemeClr val="bg2"/>
          </a:solidFill>
          <a:ln w="57150">
            <a:solidFill>
              <a:srgbClr val="0070C0"/>
            </a:solidFill>
          </a:ln>
        </p:spPr>
        <p:txBody>
          <a:bodyPr wrap="square" rtlCol="0">
            <a:spAutoFit/>
          </a:bodyPr>
          <a:lstStyle/>
          <a:p>
            <a:pPr algn="ctr"/>
            <a:endParaRPr lang="en-US" sz="4267" dirty="0"/>
          </a:p>
          <a:p>
            <a:pPr algn="ctr"/>
            <a:r>
              <a:rPr lang="en-US" sz="4800" b="1" dirty="0"/>
              <a:t>IMS Administration Tool </a:t>
            </a:r>
          </a:p>
          <a:p>
            <a:pPr algn="ctr"/>
            <a:r>
              <a:rPr lang="en-US" sz="4800" b="1" dirty="0"/>
              <a:t>Environment/Tools Configuration </a:t>
            </a:r>
          </a:p>
          <a:p>
            <a:pPr algn="ctr"/>
            <a:r>
              <a:rPr lang="en-US" sz="4800" dirty="0">
                <a:solidFill>
                  <a:schemeClr val="accent1"/>
                </a:solidFill>
              </a:rPr>
              <a:t>Exercise 1 (optional)</a:t>
            </a:r>
            <a:endParaRPr lang="en-US" sz="4267" dirty="0"/>
          </a:p>
          <a:p>
            <a:pPr algn="ctr"/>
            <a:endParaRPr lang="en-US" sz="4267" dirty="0"/>
          </a:p>
        </p:txBody>
      </p:sp>
      <p:sp>
        <p:nvSpPr>
          <p:cNvPr id="2" name="Slide Number Placeholder 1">
            <a:extLst>
              <a:ext uri="{FF2B5EF4-FFF2-40B4-BE49-F238E27FC236}">
                <a16:creationId xmlns:a16="http://schemas.microsoft.com/office/drawing/2014/main" id="{CBBE691A-99D7-0B45-B7BC-4DA0C1FC2E43}"/>
              </a:ext>
            </a:extLst>
          </p:cNvPr>
          <p:cNvSpPr>
            <a:spLocks noGrp="1"/>
          </p:cNvSpPr>
          <p:nvPr>
            <p:ph type="sldNum" sz="quarter" idx="12"/>
          </p:nvPr>
        </p:nvSpPr>
        <p:spPr/>
        <p:txBody>
          <a:bodyPr/>
          <a:lstStyle/>
          <a:p>
            <a:fld id="{1C788548-AC4B-4945-A4F1-BA86477A7FC8}" type="slidenum">
              <a:rPr lang="en-US" smtClean="0"/>
              <a:t>3</a:t>
            </a:fld>
            <a:endParaRPr lang="en-US"/>
          </a:p>
        </p:txBody>
      </p:sp>
    </p:spTree>
    <p:extLst>
      <p:ext uri="{BB962C8B-B14F-4D97-AF65-F5344CB8AC3E}">
        <p14:creationId xmlns:p14="http://schemas.microsoft.com/office/powerpoint/2010/main" val="231577803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116">
        <p159:morph option="byObject"/>
      </p:transition>
    </mc:Choice>
    <mc:Fallback xmlns="">
      <p:transition spd="slow" advTm="116">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mph" presetSubtype="0" fill="hold" nodeType="clickEffect">
                                  <p:stCondLst>
                                    <p:cond delay="0"/>
                                  </p:stCondLst>
                                  <p:iterate type="lt">
                                    <p:tmPct val="4000"/>
                                  </p:iterate>
                                  <p:childTnLst>
                                    <p:set>
                                      <p:cBhvr override="childStyle">
                                        <p:cTn id="6" dur="500" fill="hold"/>
                                        <p:tgtEl>
                                          <p:spTgt spid="9">
                                            <p:txEl>
                                              <p:pRg st="1" end="1"/>
                                            </p:txEl>
                                          </p:spTgt>
                                        </p:tgtEl>
                                        <p:attrNameLst>
                                          <p:attrName>style.color</p:attrName>
                                        </p:attrNameLst>
                                      </p:cBhvr>
                                      <p:to>
                                        <p:clrVal>
                                          <a:srgbClr val="FFC000"/>
                                        </p:clrVal>
                                      </p:to>
                                    </p:set>
                                    <p:set>
                                      <p:cBhvr>
                                        <p:cTn id="7" dur="500" fill="hold"/>
                                        <p:tgtEl>
                                          <p:spTgt spid="9">
                                            <p:txEl>
                                              <p:pRg st="1" end="1"/>
                                            </p:txEl>
                                          </p:spTgt>
                                        </p:tgtEl>
                                        <p:attrNameLst>
                                          <p:attrName>fillcolor</p:attrName>
                                        </p:attrNameLst>
                                      </p:cBhvr>
                                      <p:to>
                                        <p:clrVal>
                                          <a:srgbClr val="FFC000"/>
                                        </p:clrVal>
                                      </p:to>
                                    </p:set>
                                    <p:set>
                                      <p:cBhvr>
                                        <p:cTn id="8" dur="500" fill="hold"/>
                                        <p:tgtEl>
                                          <p:spTgt spid="9">
                                            <p:txEl>
                                              <p:pRg st="1" end="1"/>
                                            </p:txEl>
                                          </p:spTgt>
                                        </p:tgtEl>
                                        <p:attrNameLst>
                                          <p:attrName>fill.type</p:attrName>
                                        </p:attrNameLst>
                                      </p:cBhvr>
                                      <p:to>
                                        <p:strVal val="solid"/>
                                      </p:to>
                                    </p:set>
                                  </p:childTnLst>
                                </p:cTn>
                              </p:par>
                            </p:childTnLst>
                          </p:cTn>
                        </p:par>
                      </p:childTnLst>
                    </p:cTn>
                  </p:par>
                  <p:par>
                    <p:cTn id="9" fill="hold">
                      <p:stCondLst>
                        <p:cond delay="indefinite"/>
                      </p:stCondLst>
                      <p:childTnLst>
                        <p:par>
                          <p:cTn id="10" fill="hold">
                            <p:stCondLst>
                              <p:cond delay="0"/>
                            </p:stCondLst>
                            <p:childTnLst>
                              <p:par>
                                <p:cTn id="11" presetID="16" presetClass="emph" presetSubtype="0" fill="hold" nodeType="clickEffect">
                                  <p:stCondLst>
                                    <p:cond delay="0"/>
                                  </p:stCondLst>
                                  <p:iterate type="lt">
                                    <p:tmPct val="4000"/>
                                  </p:iterate>
                                  <p:childTnLst>
                                    <p:set>
                                      <p:cBhvr override="childStyle">
                                        <p:cTn id="12" dur="500" fill="hold"/>
                                        <p:tgtEl>
                                          <p:spTgt spid="9">
                                            <p:txEl>
                                              <p:pRg st="2" end="2"/>
                                            </p:txEl>
                                          </p:spTgt>
                                        </p:tgtEl>
                                        <p:attrNameLst>
                                          <p:attrName>style.color</p:attrName>
                                        </p:attrNameLst>
                                      </p:cBhvr>
                                      <p:to>
                                        <p:clrVal>
                                          <a:srgbClr val="FFC000"/>
                                        </p:clrVal>
                                      </p:to>
                                    </p:set>
                                    <p:set>
                                      <p:cBhvr>
                                        <p:cTn id="13" dur="500" fill="hold"/>
                                        <p:tgtEl>
                                          <p:spTgt spid="9">
                                            <p:txEl>
                                              <p:pRg st="2" end="2"/>
                                            </p:txEl>
                                          </p:spTgt>
                                        </p:tgtEl>
                                        <p:attrNameLst>
                                          <p:attrName>fillcolor</p:attrName>
                                        </p:attrNameLst>
                                      </p:cBhvr>
                                      <p:to>
                                        <p:clrVal>
                                          <a:srgbClr val="FFC000"/>
                                        </p:clrVal>
                                      </p:to>
                                    </p:set>
                                    <p:set>
                                      <p:cBhvr>
                                        <p:cTn id="14" dur="500" fill="hold"/>
                                        <p:tgtEl>
                                          <p:spTgt spid="9">
                                            <p:txEl>
                                              <p:pRg st="2" end="2"/>
                                            </p:txEl>
                                          </p:spTgt>
                                        </p:tgtEl>
                                        <p:attrNameLst>
                                          <p:attrName>fill.type</p:attrName>
                                        </p:attrNameLst>
                                      </p:cBhvr>
                                      <p:to>
                                        <p:strVal val="solid"/>
                                      </p:to>
                                    </p:set>
                                  </p:childTnLst>
                                </p:cTn>
                              </p:par>
                            </p:childTnLst>
                          </p:cTn>
                        </p:par>
                      </p:childTnLst>
                    </p:cTn>
                  </p:par>
                  <p:par>
                    <p:cTn id="15" fill="hold">
                      <p:stCondLst>
                        <p:cond delay="indefinite"/>
                      </p:stCondLst>
                      <p:childTnLst>
                        <p:par>
                          <p:cTn id="16" fill="hold">
                            <p:stCondLst>
                              <p:cond delay="0"/>
                            </p:stCondLst>
                            <p:childTnLst>
                              <p:par>
                                <p:cTn id="17" presetID="16" presetClass="emph" presetSubtype="0" fill="hold" nodeType="clickEffect">
                                  <p:stCondLst>
                                    <p:cond delay="0"/>
                                  </p:stCondLst>
                                  <p:iterate type="lt">
                                    <p:tmPct val="4000"/>
                                  </p:iterate>
                                  <p:childTnLst>
                                    <p:set>
                                      <p:cBhvr override="childStyle">
                                        <p:cTn id="18" dur="500" fill="hold"/>
                                        <p:tgtEl>
                                          <p:spTgt spid="9">
                                            <p:txEl>
                                              <p:pRg st="3" end="3"/>
                                            </p:txEl>
                                          </p:spTgt>
                                        </p:tgtEl>
                                        <p:attrNameLst>
                                          <p:attrName>style.color</p:attrName>
                                        </p:attrNameLst>
                                      </p:cBhvr>
                                      <p:to>
                                        <p:clrVal>
                                          <a:srgbClr val="FFC000"/>
                                        </p:clrVal>
                                      </p:to>
                                    </p:set>
                                    <p:set>
                                      <p:cBhvr>
                                        <p:cTn id="19" dur="500" fill="hold"/>
                                        <p:tgtEl>
                                          <p:spTgt spid="9">
                                            <p:txEl>
                                              <p:pRg st="3" end="3"/>
                                            </p:txEl>
                                          </p:spTgt>
                                        </p:tgtEl>
                                        <p:attrNameLst>
                                          <p:attrName>fillcolor</p:attrName>
                                        </p:attrNameLst>
                                      </p:cBhvr>
                                      <p:to>
                                        <p:clrVal>
                                          <a:srgbClr val="FFC000"/>
                                        </p:clrVal>
                                      </p:to>
                                    </p:set>
                                    <p:set>
                                      <p:cBhvr>
                                        <p:cTn id="20" dur="500" fill="hold"/>
                                        <p:tgtEl>
                                          <p:spTgt spid="9">
                                            <p:txEl>
                                              <p:pRg st="3" end="3"/>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858CB622-9BB5-40C6-92CC-7741F7B1110C}"/>
              </a:ext>
            </a:extLst>
          </p:cNvPr>
          <p:cNvPicPr>
            <a:picLocks noChangeAspect="1"/>
          </p:cNvPicPr>
          <p:nvPr/>
        </p:nvPicPr>
        <p:blipFill>
          <a:blip r:embed="rId2"/>
          <a:stretch>
            <a:fillRect/>
          </a:stretch>
        </p:blipFill>
        <p:spPr>
          <a:xfrm>
            <a:off x="961850" y="2788030"/>
            <a:ext cx="6783509" cy="2392633"/>
          </a:xfrm>
          <a:prstGeom prst="rect">
            <a:avLst/>
          </a:prstGeom>
          <a:effectLst>
            <a:glow rad="63500">
              <a:schemeClr val="accent3">
                <a:satMod val="175000"/>
                <a:alpha val="40000"/>
              </a:schemeClr>
            </a:glow>
          </a:effectLst>
        </p:spPr>
      </p:pic>
      <p:sp>
        <p:nvSpPr>
          <p:cNvPr id="3" name="Subtitle 2">
            <a:extLst>
              <a:ext uri="{FF2B5EF4-FFF2-40B4-BE49-F238E27FC236}">
                <a16:creationId xmlns:a16="http://schemas.microsoft.com/office/drawing/2014/main" id="{5DD04D75-5580-4918-ACD6-01E26F36A2CB}"/>
              </a:ext>
            </a:extLst>
          </p:cNvPr>
          <p:cNvSpPr>
            <a:spLocks noGrp="1"/>
          </p:cNvSpPr>
          <p:nvPr>
            <p:ph idx="4294967295"/>
          </p:nvPr>
        </p:nvSpPr>
        <p:spPr>
          <a:xfrm>
            <a:off x="629265" y="163513"/>
            <a:ext cx="11240005" cy="2611437"/>
          </a:xfrm>
        </p:spPr>
        <p:txBody>
          <a:bodyPr>
            <a:normAutofit fontScale="70000" lnSpcReduction="20000"/>
          </a:bodyPr>
          <a:lstStyle/>
          <a:p>
            <a:pPr marL="0" indent="0" algn="l">
              <a:buNone/>
            </a:pPr>
            <a:r>
              <a:rPr lang="en-US" sz="3900" b="1" dirty="0">
                <a:solidFill>
                  <a:schemeClr val="accent1">
                    <a:lumMod val="75000"/>
                  </a:schemeClr>
                </a:solidFill>
              </a:rPr>
              <a:t>IMS Administration Tool ISPF LAB Exercise 1 </a:t>
            </a:r>
            <a:endParaRPr lang="en-US" sz="2600" b="1" dirty="0">
              <a:solidFill>
                <a:schemeClr val="accent1">
                  <a:lumMod val="75000"/>
                </a:schemeClr>
              </a:solidFill>
            </a:endParaRPr>
          </a:p>
          <a:p>
            <a:pPr marL="0" indent="0" algn="l">
              <a:buNone/>
            </a:pPr>
            <a:r>
              <a:rPr lang="en-US" sz="2800" b="1" dirty="0"/>
              <a:t>Key Feature:  Setup and Administration </a:t>
            </a:r>
          </a:p>
          <a:p>
            <a:pPr marL="0" indent="0" algn="l">
              <a:buNone/>
            </a:pPr>
            <a:r>
              <a:rPr lang="en-US" sz="2800" b="1" dirty="0"/>
              <a:t>Description:</a:t>
            </a:r>
            <a:r>
              <a:rPr lang="en-US" sz="2800" dirty="0"/>
              <a:t>   Allows you to change Global Settings, Update the ITKB IMS Tools Product Registry,		         Register IMS Systems, Manage IMS Groups, and View the Audit Log.</a:t>
            </a:r>
          </a:p>
          <a:p>
            <a:pPr marL="0" indent="0" algn="l">
              <a:buNone/>
            </a:pPr>
            <a:r>
              <a:rPr lang="en-US" sz="2800" b="1" dirty="0"/>
              <a:t>Instructions:</a:t>
            </a:r>
            <a:r>
              <a:rPr lang="en-US" sz="2800" dirty="0"/>
              <a:t>  Select Option “</a:t>
            </a:r>
            <a:r>
              <a:rPr lang="en-US" sz="2800" b="1" dirty="0">
                <a:highlight>
                  <a:srgbClr val="FFFF00"/>
                </a:highlight>
              </a:rPr>
              <a:t>0</a:t>
            </a:r>
            <a:r>
              <a:rPr lang="en-US" sz="2800" dirty="0"/>
              <a:t>” and press Enter</a:t>
            </a:r>
            <a:r>
              <a:rPr lang="en-US" sz="2800" b="1" dirty="0"/>
              <a:t> </a:t>
            </a:r>
            <a:r>
              <a:rPr lang="en-US" sz="2800" dirty="0"/>
              <a:t>if you want to see what it provides. If you do look at the 	         SETUP and Administration panels, you will need to press PF3 to get back to the primary menu.	         </a:t>
            </a:r>
          </a:p>
          <a:p>
            <a:pPr marL="0" indent="0" algn="l">
              <a:buNone/>
            </a:pPr>
            <a:r>
              <a:rPr lang="en-US" sz="2800" b="1" dirty="0">
                <a:highlight>
                  <a:srgbClr val="FFFF00"/>
                </a:highlight>
              </a:rPr>
              <a:t>Note:</a:t>
            </a:r>
            <a:r>
              <a:rPr lang="en-US" sz="2800" dirty="0">
                <a:highlight>
                  <a:srgbClr val="FFFF00"/>
                </a:highlight>
              </a:rPr>
              <a:t>  Use the </a:t>
            </a:r>
            <a:r>
              <a:rPr lang="en-US" sz="2800" dirty="0" err="1">
                <a:highlight>
                  <a:srgbClr val="FFFF00"/>
                </a:highlight>
              </a:rPr>
              <a:t>userID</a:t>
            </a:r>
            <a:r>
              <a:rPr lang="en-US" sz="2800" dirty="0">
                <a:highlight>
                  <a:srgbClr val="FFFF00"/>
                </a:highlight>
              </a:rPr>
              <a:t> DMID00 to use Option “0”.  U</a:t>
            </a:r>
            <a:r>
              <a:rPr lang="en-US" dirty="0">
                <a:highlight>
                  <a:srgbClr val="FFFF00"/>
                </a:highlight>
              </a:rPr>
              <a:t>ser IDs other than DMID00 cannot use Option “0”.</a:t>
            </a:r>
            <a:r>
              <a:rPr lang="en-US" sz="2800" dirty="0">
                <a:highlight>
                  <a:srgbClr val="FFFF00"/>
                </a:highlight>
              </a:rPr>
              <a:t> </a:t>
            </a:r>
          </a:p>
          <a:p>
            <a:pPr marL="687388" indent="0">
              <a:buNone/>
            </a:pPr>
            <a:r>
              <a:rPr lang="en-US" dirty="0">
                <a:highlight>
                  <a:srgbClr val="FFFF00"/>
                </a:highlight>
              </a:rPr>
              <a:t>You can bypass this step, if you prefer.  </a:t>
            </a:r>
            <a:r>
              <a:rPr lang="en-US" b="1" dirty="0">
                <a:solidFill>
                  <a:srgbClr val="C00000"/>
                </a:solidFill>
                <a:highlight>
                  <a:srgbClr val="FFFF00"/>
                </a:highlight>
              </a:rPr>
              <a:t>Any setup changes could impact the lab exercises.</a:t>
            </a:r>
          </a:p>
        </p:txBody>
      </p:sp>
      <p:cxnSp>
        <p:nvCxnSpPr>
          <p:cNvPr id="9" name="Straight Arrow Connector 8">
            <a:extLst>
              <a:ext uri="{FF2B5EF4-FFF2-40B4-BE49-F238E27FC236}">
                <a16:creationId xmlns:a16="http://schemas.microsoft.com/office/drawing/2014/main" id="{A888788B-1BB2-4C64-9CDD-D4273C21DE86}"/>
              </a:ext>
            </a:extLst>
          </p:cNvPr>
          <p:cNvCxnSpPr>
            <a:cxnSpLocks/>
          </p:cNvCxnSpPr>
          <p:nvPr/>
        </p:nvCxnSpPr>
        <p:spPr>
          <a:xfrm>
            <a:off x="445889" y="3048511"/>
            <a:ext cx="487680"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pic>
        <p:nvPicPr>
          <p:cNvPr id="4" name="Picture 3">
            <a:extLst>
              <a:ext uri="{FF2B5EF4-FFF2-40B4-BE49-F238E27FC236}">
                <a16:creationId xmlns:a16="http://schemas.microsoft.com/office/drawing/2014/main" id="{C4DC4F4D-D0BA-4D56-FEA6-90DB91B70098}"/>
              </a:ext>
            </a:extLst>
          </p:cNvPr>
          <p:cNvPicPr>
            <a:picLocks noChangeAspect="1"/>
          </p:cNvPicPr>
          <p:nvPr/>
        </p:nvPicPr>
        <p:blipFill>
          <a:blip r:embed="rId3"/>
          <a:stretch>
            <a:fillRect/>
          </a:stretch>
        </p:blipFill>
        <p:spPr>
          <a:xfrm>
            <a:off x="5450571" y="4406461"/>
            <a:ext cx="5921566" cy="2269172"/>
          </a:xfrm>
          <a:prstGeom prst="rect">
            <a:avLst/>
          </a:prstGeom>
          <a:effectLst>
            <a:glow rad="63500">
              <a:schemeClr val="accent3">
                <a:satMod val="175000"/>
                <a:alpha val="40000"/>
              </a:schemeClr>
            </a:glow>
          </a:effectLst>
        </p:spPr>
      </p:pic>
      <p:sp>
        <p:nvSpPr>
          <p:cNvPr id="2" name="Slide Number Placeholder 1">
            <a:extLst>
              <a:ext uri="{FF2B5EF4-FFF2-40B4-BE49-F238E27FC236}">
                <a16:creationId xmlns:a16="http://schemas.microsoft.com/office/drawing/2014/main" id="{636ACF50-165E-8FF5-02B0-31E65AF2DED1}"/>
              </a:ext>
            </a:extLst>
          </p:cNvPr>
          <p:cNvSpPr>
            <a:spLocks noGrp="1"/>
          </p:cNvSpPr>
          <p:nvPr>
            <p:ph type="sldNum" sz="quarter" idx="12"/>
          </p:nvPr>
        </p:nvSpPr>
        <p:spPr/>
        <p:txBody>
          <a:bodyPr/>
          <a:lstStyle/>
          <a:p>
            <a:fld id="{1C788548-AC4B-4945-A4F1-BA86477A7FC8}" type="slidenum">
              <a:rPr lang="en-US" smtClean="0"/>
              <a:t>4</a:t>
            </a:fld>
            <a:endParaRPr lang="en-US"/>
          </a:p>
        </p:txBody>
      </p:sp>
    </p:spTree>
    <p:extLst>
      <p:ext uri="{BB962C8B-B14F-4D97-AF65-F5344CB8AC3E}">
        <p14:creationId xmlns:p14="http://schemas.microsoft.com/office/powerpoint/2010/main" val="33949123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47E08336-71AB-44BF-9E1A-7442CE355F86}"/>
              </a:ext>
            </a:extLst>
          </p:cNvPr>
          <p:cNvSpPr txBox="1"/>
          <p:nvPr/>
        </p:nvSpPr>
        <p:spPr>
          <a:xfrm>
            <a:off x="1511299" y="460118"/>
            <a:ext cx="9169400" cy="3898631"/>
          </a:xfrm>
          <a:prstGeom prst="rect">
            <a:avLst/>
          </a:prstGeom>
          <a:solidFill>
            <a:schemeClr val="bg2"/>
          </a:solidFill>
          <a:ln w="57150">
            <a:solidFill>
              <a:srgbClr val="0070C0"/>
            </a:solidFill>
          </a:ln>
        </p:spPr>
        <p:txBody>
          <a:bodyPr wrap="square" rtlCol="0">
            <a:spAutoFit/>
          </a:bodyPr>
          <a:lstStyle/>
          <a:p>
            <a:pPr algn="ctr"/>
            <a:endParaRPr lang="en-US" sz="4267" dirty="0"/>
          </a:p>
          <a:p>
            <a:pPr algn="ctr"/>
            <a:r>
              <a:rPr lang="en-US" sz="5400" b="1" dirty="0"/>
              <a:t>DBD and PSB Management</a:t>
            </a:r>
          </a:p>
          <a:p>
            <a:pPr algn="ctr"/>
            <a:r>
              <a:rPr lang="en-US" sz="5400" b="1" dirty="0"/>
              <a:t>(with Resource Updates) </a:t>
            </a:r>
          </a:p>
          <a:p>
            <a:pPr algn="ctr"/>
            <a:r>
              <a:rPr lang="en-US" sz="5400" dirty="0">
                <a:solidFill>
                  <a:schemeClr val="accent1"/>
                </a:solidFill>
              </a:rPr>
              <a:t>Exercise 2</a:t>
            </a:r>
          </a:p>
          <a:p>
            <a:pPr algn="ctr"/>
            <a:endParaRPr lang="en-US" sz="4267" dirty="0"/>
          </a:p>
        </p:txBody>
      </p:sp>
      <p:sp>
        <p:nvSpPr>
          <p:cNvPr id="3" name="TextBox 2">
            <a:extLst>
              <a:ext uri="{FF2B5EF4-FFF2-40B4-BE49-F238E27FC236}">
                <a16:creationId xmlns:a16="http://schemas.microsoft.com/office/drawing/2014/main" id="{3EB98E21-25D4-4594-AC94-DE18580F8AF0}"/>
              </a:ext>
            </a:extLst>
          </p:cNvPr>
          <p:cNvSpPr txBox="1"/>
          <p:nvPr/>
        </p:nvSpPr>
        <p:spPr>
          <a:xfrm>
            <a:off x="1613211" y="4612627"/>
            <a:ext cx="8965580" cy="1354217"/>
          </a:xfrm>
          <a:prstGeom prst="rect">
            <a:avLst/>
          </a:prstGeom>
          <a:noFill/>
          <a:ln>
            <a:solidFill>
              <a:schemeClr val="accent1"/>
            </a:solidFill>
          </a:ln>
        </p:spPr>
        <p:txBody>
          <a:bodyPr wrap="square" rtlCol="0">
            <a:spAutoFit/>
          </a:bodyPr>
          <a:lstStyle/>
          <a:p>
            <a:r>
              <a:rPr lang="en-US" dirty="0">
                <a:solidFill>
                  <a:schemeClr val="accent1"/>
                </a:solidFill>
              </a:rPr>
              <a:t>This exercise is useful if you want to learn how easy it is to decode/make changes to DBD/PSB source from various sources (DBDLIB, PSBLIB, ACBLIB, IMS Catalog directories, etc.) and populate those changes to the IMS Catalog (Staging Directory).</a:t>
            </a:r>
          </a:p>
          <a:p>
            <a:pPr>
              <a:spcBef>
                <a:spcPts val="1200"/>
              </a:spcBef>
            </a:pPr>
            <a:r>
              <a:rPr lang="en-US" b="1" dirty="0">
                <a:solidFill>
                  <a:schemeClr val="accent1"/>
                </a:solidFill>
              </a:rPr>
              <a:t>Note:</a:t>
            </a:r>
            <a:r>
              <a:rPr lang="en-US" dirty="0">
                <a:solidFill>
                  <a:schemeClr val="accent1"/>
                </a:solidFill>
              </a:rPr>
              <a:t>  IMS Administration Tool currently populates the changes to the STAGING directory only. </a:t>
            </a:r>
          </a:p>
        </p:txBody>
      </p:sp>
      <p:sp>
        <p:nvSpPr>
          <p:cNvPr id="4" name="Slide Number Placeholder 3">
            <a:extLst>
              <a:ext uri="{FF2B5EF4-FFF2-40B4-BE49-F238E27FC236}">
                <a16:creationId xmlns:a16="http://schemas.microsoft.com/office/drawing/2014/main" id="{506EF047-85E4-7E20-D489-57614B350FBF}"/>
              </a:ext>
            </a:extLst>
          </p:cNvPr>
          <p:cNvSpPr>
            <a:spLocks noGrp="1"/>
          </p:cNvSpPr>
          <p:nvPr>
            <p:ph type="sldNum" sz="quarter" idx="12"/>
          </p:nvPr>
        </p:nvSpPr>
        <p:spPr/>
        <p:txBody>
          <a:bodyPr/>
          <a:lstStyle/>
          <a:p>
            <a:fld id="{1C788548-AC4B-4945-A4F1-BA86477A7FC8}" type="slidenum">
              <a:rPr lang="en-US" smtClean="0"/>
              <a:t>5</a:t>
            </a:fld>
            <a:endParaRPr lang="en-US"/>
          </a:p>
        </p:txBody>
      </p:sp>
    </p:spTree>
    <p:extLst>
      <p:ext uri="{BB962C8B-B14F-4D97-AF65-F5344CB8AC3E}">
        <p14:creationId xmlns:p14="http://schemas.microsoft.com/office/powerpoint/2010/main" val="28595660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116">
        <p159:morph option="byObject"/>
      </p:transition>
    </mc:Choice>
    <mc:Fallback xmlns="">
      <p:transition spd="slow" advTm="116">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mph" presetSubtype="0" fill="hold" nodeType="clickEffect">
                                  <p:stCondLst>
                                    <p:cond delay="0"/>
                                  </p:stCondLst>
                                  <p:iterate type="lt">
                                    <p:tmPct val="4000"/>
                                  </p:iterate>
                                  <p:childTnLst>
                                    <p:set>
                                      <p:cBhvr override="childStyle">
                                        <p:cTn id="6" dur="500" fill="hold"/>
                                        <p:tgtEl>
                                          <p:spTgt spid="9">
                                            <p:txEl>
                                              <p:pRg st="1" end="1"/>
                                            </p:txEl>
                                          </p:spTgt>
                                        </p:tgtEl>
                                        <p:attrNameLst>
                                          <p:attrName>style.color</p:attrName>
                                        </p:attrNameLst>
                                      </p:cBhvr>
                                      <p:to>
                                        <p:clrVal>
                                          <a:srgbClr val="FFC000"/>
                                        </p:clrVal>
                                      </p:to>
                                    </p:set>
                                    <p:set>
                                      <p:cBhvr>
                                        <p:cTn id="7" dur="500" fill="hold"/>
                                        <p:tgtEl>
                                          <p:spTgt spid="9">
                                            <p:txEl>
                                              <p:pRg st="1" end="1"/>
                                            </p:txEl>
                                          </p:spTgt>
                                        </p:tgtEl>
                                        <p:attrNameLst>
                                          <p:attrName>fillcolor</p:attrName>
                                        </p:attrNameLst>
                                      </p:cBhvr>
                                      <p:to>
                                        <p:clrVal>
                                          <a:srgbClr val="FFC000"/>
                                        </p:clrVal>
                                      </p:to>
                                    </p:set>
                                    <p:set>
                                      <p:cBhvr>
                                        <p:cTn id="8" dur="500" fill="hold"/>
                                        <p:tgtEl>
                                          <p:spTgt spid="9">
                                            <p:txEl>
                                              <p:pRg st="1" end="1"/>
                                            </p:txEl>
                                          </p:spTgt>
                                        </p:tgtEl>
                                        <p:attrNameLst>
                                          <p:attrName>fill.type</p:attrName>
                                        </p:attrNameLst>
                                      </p:cBhvr>
                                      <p:to>
                                        <p:strVal val="solid"/>
                                      </p:to>
                                    </p:set>
                                  </p:childTnLst>
                                </p:cTn>
                              </p:par>
                            </p:childTnLst>
                          </p:cTn>
                        </p:par>
                      </p:childTnLst>
                    </p:cTn>
                  </p:par>
                  <p:par>
                    <p:cTn id="9" fill="hold">
                      <p:stCondLst>
                        <p:cond delay="indefinite"/>
                      </p:stCondLst>
                      <p:childTnLst>
                        <p:par>
                          <p:cTn id="10" fill="hold">
                            <p:stCondLst>
                              <p:cond delay="0"/>
                            </p:stCondLst>
                            <p:childTnLst>
                              <p:par>
                                <p:cTn id="11" presetID="16" presetClass="emph" presetSubtype="0" fill="hold" nodeType="clickEffect">
                                  <p:stCondLst>
                                    <p:cond delay="0"/>
                                  </p:stCondLst>
                                  <p:iterate type="lt">
                                    <p:tmPct val="4000"/>
                                  </p:iterate>
                                  <p:childTnLst>
                                    <p:set>
                                      <p:cBhvr override="childStyle">
                                        <p:cTn id="12" dur="500" fill="hold"/>
                                        <p:tgtEl>
                                          <p:spTgt spid="9">
                                            <p:txEl>
                                              <p:pRg st="2" end="2"/>
                                            </p:txEl>
                                          </p:spTgt>
                                        </p:tgtEl>
                                        <p:attrNameLst>
                                          <p:attrName>style.color</p:attrName>
                                        </p:attrNameLst>
                                      </p:cBhvr>
                                      <p:to>
                                        <p:clrVal>
                                          <a:srgbClr val="FFC000"/>
                                        </p:clrVal>
                                      </p:to>
                                    </p:set>
                                    <p:set>
                                      <p:cBhvr>
                                        <p:cTn id="13" dur="500" fill="hold"/>
                                        <p:tgtEl>
                                          <p:spTgt spid="9">
                                            <p:txEl>
                                              <p:pRg st="2" end="2"/>
                                            </p:txEl>
                                          </p:spTgt>
                                        </p:tgtEl>
                                        <p:attrNameLst>
                                          <p:attrName>fillcolor</p:attrName>
                                        </p:attrNameLst>
                                      </p:cBhvr>
                                      <p:to>
                                        <p:clrVal>
                                          <a:srgbClr val="FFC000"/>
                                        </p:clrVal>
                                      </p:to>
                                    </p:set>
                                    <p:set>
                                      <p:cBhvr>
                                        <p:cTn id="14" dur="500" fill="hold"/>
                                        <p:tgtEl>
                                          <p:spTgt spid="9">
                                            <p:txEl>
                                              <p:pRg st="2" end="2"/>
                                            </p:txEl>
                                          </p:spTgt>
                                        </p:tgtEl>
                                        <p:attrNameLst>
                                          <p:attrName>fill.type</p:attrName>
                                        </p:attrNameLst>
                                      </p:cBhvr>
                                      <p:to>
                                        <p:strVal val="solid"/>
                                      </p:to>
                                    </p:set>
                                  </p:childTnLst>
                                </p:cTn>
                              </p:par>
                            </p:childTnLst>
                          </p:cTn>
                        </p:par>
                      </p:childTnLst>
                    </p:cTn>
                  </p:par>
                  <p:par>
                    <p:cTn id="15" fill="hold">
                      <p:stCondLst>
                        <p:cond delay="indefinite"/>
                      </p:stCondLst>
                      <p:childTnLst>
                        <p:par>
                          <p:cTn id="16" fill="hold">
                            <p:stCondLst>
                              <p:cond delay="0"/>
                            </p:stCondLst>
                            <p:childTnLst>
                              <p:par>
                                <p:cTn id="17" presetID="16" presetClass="emph" presetSubtype="0" fill="hold" nodeType="clickEffect">
                                  <p:stCondLst>
                                    <p:cond delay="0"/>
                                  </p:stCondLst>
                                  <p:iterate type="lt">
                                    <p:tmPct val="4000"/>
                                  </p:iterate>
                                  <p:childTnLst>
                                    <p:set>
                                      <p:cBhvr override="childStyle">
                                        <p:cTn id="18" dur="500" fill="hold"/>
                                        <p:tgtEl>
                                          <p:spTgt spid="9">
                                            <p:txEl>
                                              <p:pRg st="3" end="3"/>
                                            </p:txEl>
                                          </p:spTgt>
                                        </p:tgtEl>
                                        <p:attrNameLst>
                                          <p:attrName>style.color</p:attrName>
                                        </p:attrNameLst>
                                      </p:cBhvr>
                                      <p:to>
                                        <p:clrVal>
                                          <a:srgbClr val="FFC000"/>
                                        </p:clrVal>
                                      </p:to>
                                    </p:set>
                                    <p:set>
                                      <p:cBhvr>
                                        <p:cTn id="19" dur="500" fill="hold"/>
                                        <p:tgtEl>
                                          <p:spTgt spid="9">
                                            <p:txEl>
                                              <p:pRg st="3" end="3"/>
                                            </p:txEl>
                                          </p:spTgt>
                                        </p:tgtEl>
                                        <p:attrNameLst>
                                          <p:attrName>fillcolor</p:attrName>
                                        </p:attrNameLst>
                                      </p:cBhvr>
                                      <p:to>
                                        <p:clrVal>
                                          <a:srgbClr val="FFC000"/>
                                        </p:clrVal>
                                      </p:to>
                                    </p:set>
                                    <p:set>
                                      <p:cBhvr>
                                        <p:cTn id="20" dur="500" fill="hold"/>
                                        <p:tgtEl>
                                          <p:spTgt spid="9">
                                            <p:txEl>
                                              <p:pRg st="3" end="3"/>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5DD04D75-5580-4918-ACD6-01E26F36A2CB}"/>
              </a:ext>
            </a:extLst>
          </p:cNvPr>
          <p:cNvSpPr>
            <a:spLocks noGrp="1"/>
          </p:cNvSpPr>
          <p:nvPr>
            <p:ph type="subTitle" idx="4294967295"/>
          </p:nvPr>
        </p:nvSpPr>
        <p:spPr>
          <a:xfrm>
            <a:off x="637794" y="213742"/>
            <a:ext cx="10420350" cy="2702878"/>
          </a:xfrm>
          <a:prstGeom prst="rect">
            <a:avLst/>
          </a:prstGeom>
        </p:spPr>
        <p:txBody>
          <a:bodyPr>
            <a:normAutofit fontScale="70000" lnSpcReduction="20000"/>
          </a:bodyPr>
          <a:lstStyle/>
          <a:p>
            <a:pPr marL="0" indent="0" algn="l">
              <a:lnSpc>
                <a:spcPct val="120000"/>
              </a:lnSpc>
              <a:spcBef>
                <a:spcPts val="600"/>
              </a:spcBef>
              <a:buNone/>
            </a:pPr>
            <a:r>
              <a:rPr lang="en-US" sz="3800" b="1" dirty="0">
                <a:solidFill>
                  <a:schemeClr val="accent1">
                    <a:lumMod val="75000"/>
                  </a:schemeClr>
                </a:solidFill>
              </a:rPr>
              <a:t>IMS Administration Tool ISPF LAB Exercise 2</a:t>
            </a:r>
          </a:p>
          <a:p>
            <a:pPr marL="0" indent="0" algn="l">
              <a:lnSpc>
                <a:spcPct val="120000"/>
              </a:lnSpc>
              <a:spcBef>
                <a:spcPts val="600"/>
              </a:spcBef>
              <a:buNone/>
            </a:pPr>
            <a:r>
              <a:rPr lang="en-US" sz="2300" b="1" dirty="0"/>
              <a:t>Key Feature:</a:t>
            </a:r>
            <a:r>
              <a:rPr lang="en-US" sz="2300" dirty="0"/>
              <a:t>  </a:t>
            </a:r>
            <a:r>
              <a:rPr lang="en-US" sz="2300" b="1" dirty="0"/>
              <a:t>Database (DBD) and Application (PSB) Administration</a:t>
            </a:r>
          </a:p>
          <a:p>
            <a:pPr marL="1143000" indent="-1143000">
              <a:lnSpc>
                <a:spcPct val="120000"/>
              </a:lnSpc>
              <a:spcBef>
                <a:spcPts val="600"/>
              </a:spcBef>
              <a:buNone/>
            </a:pPr>
            <a:r>
              <a:rPr lang="en-US" sz="2300" b="1" dirty="0"/>
              <a:t>Description:   </a:t>
            </a:r>
            <a:r>
              <a:rPr lang="en-US" sz="2300" dirty="0"/>
              <a:t>Allows you to decode/make changes to DBD/PSB source from various sources (DBDLIB, PSBLIB, ACBLIB, IMS Catalog directory, etc.) and populate those changes.</a:t>
            </a:r>
            <a:r>
              <a:rPr lang="en-US" sz="2300" b="1" dirty="0"/>
              <a:t> </a:t>
            </a:r>
          </a:p>
          <a:p>
            <a:pPr marL="0" indent="0">
              <a:lnSpc>
                <a:spcPct val="120000"/>
              </a:lnSpc>
              <a:spcBef>
                <a:spcPts val="600"/>
              </a:spcBef>
              <a:buNone/>
            </a:pPr>
            <a:r>
              <a:rPr lang="en-US" sz="2300" b="1" dirty="0"/>
              <a:t>Instructions:</a:t>
            </a:r>
            <a:r>
              <a:rPr lang="en-US" sz="2300" dirty="0"/>
              <a:t>  </a:t>
            </a:r>
          </a:p>
          <a:p>
            <a:pPr marL="346075">
              <a:lnSpc>
                <a:spcPct val="120000"/>
              </a:lnSpc>
              <a:spcBef>
                <a:spcPts val="300"/>
              </a:spcBef>
              <a:buFont typeface="+mj-lt"/>
              <a:buAutoNum type="arabicPeriod"/>
            </a:pPr>
            <a:r>
              <a:rPr lang="en-US" sz="2300" dirty="0"/>
              <a:t>Select Option           (Database and Application Administration), starting from the arrow.</a:t>
            </a:r>
          </a:p>
          <a:p>
            <a:pPr marL="346075">
              <a:lnSpc>
                <a:spcPct val="120000"/>
              </a:lnSpc>
              <a:spcBef>
                <a:spcPts val="300"/>
              </a:spcBef>
              <a:buFont typeface="+mj-lt"/>
              <a:buAutoNum type="arabicPeriod"/>
            </a:pPr>
            <a:r>
              <a:rPr lang="en-US" sz="2300" dirty="0"/>
              <a:t>Select Option           (Object Explorer).  You should be using the IMS Subsystem ID “</a:t>
            </a:r>
            <a:r>
              <a:rPr lang="en-US" sz="2300" dirty="0">
                <a:highlight>
                  <a:srgbClr val="FFFF00"/>
                </a:highlight>
              </a:rPr>
              <a:t>IVP1</a:t>
            </a:r>
            <a:r>
              <a:rPr lang="en-US" sz="2300" dirty="0"/>
              <a:t>” and discovered data set.</a:t>
            </a:r>
          </a:p>
          <a:p>
            <a:pPr marL="346075" algn="l">
              <a:lnSpc>
                <a:spcPct val="120000"/>
              </a:lnSpc>
              <a:spcBef>
                <a:spcPts val="300"/>
              </a:spcBef>
              <a:buFont typeface="+mj-lt"/>
              <a:buAutoNum type="arabicPeriod"/>
            </a:pPr>
            <a:r>
              <a:rPr lang="en-US" sz="2300" dirty="0"/>
              <a:t>Select            for Database (DBD).</a:t>
            </a:r>
            <a:endParaRPr lang="en-US" dirty="0"/>
          </a:p>
        </p:txBody>
      </p:sp>
      <p:sp>
        <p:nvSpPr>
          <p:cNvPr id="6" name="Rectangle 5">
            <a:extLst>
              <a:ext uri="{FF2B5EF4-FFF2-40B4-BE49-F238E27FC236}">
                <a16:creationId xmlns:a16="http://schemas.microsoft.com/office/drawing/2014/main" id="{B6DAC66B-1A3F-4588-B44C-5DD0EC353128}"/>
              </a:ext>
            </a:extLst>
          </p:cNvPr>
          <p:cNvSpPr/>
          <p:nvPr/>
        </p:nvSpPr>
        <p:spPr>
          <a:xfrm>
            <a:off x="2270232" y="1939158"/>
            <a:ext cx="333667" cy="231223"/>
          </a:xfrm>
          <a:prstGeom prst="rect">
            <a:avLst/>
          </a:prstGeom>
          <a:solidFill>
            <a:schemeClr val="bg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rPr>
              <a:t>1</a:t>
            </a:r>
            <a:endParaRPr lang="en-US" sz="1600" dirty="0">
              <a:solidFill>
                <a:schemeClr val="tx1"/>
              </a:solidFill>
            </a:endParaRPr>
          </a:p>
        </p:txBody>
      </p:sp>
      <p:sp>
        <p:nvSpPr>
          <p:cNvPr id="9" name="Rectangle 8">
            <a:extLst>
              <a:ext uri="{FF2B5EF4-FFF2-40B4-BE49-F238E27FC236}">
                <a16:creationId xmlns:a16="http://schemas.microsoft.com/office/drawing/2014/main" id="{BE33A334-EB5D-46FB-A82F-D3E52C482681}"/>
              </a:ext>
            </a:extLst>
          </p:cNvPr>
          <p:cNvSpPr/>
          <p:nvPr/>
        </p:nvSpPr>
        <p:spPr>
          <a:xfrm>
            <a:off x="2264442" y="2219785"/>
            <a:ext cx="333667" cy="231223"/>
          </a:xfrm>
          <a:prstGeom prst="rect">
            <a:avLst/>
          </a:prstGeom>
          <a:solidFill>
            <a:schemeClr val="bg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rPr>
              <a:t>1</a:t>
            </a:r>
            <a:endParaRPr lang="en-US" sz="1600" dirty="0">
              <a:solidFill>
                <a:schemeClr val="tx1"/>
              </a:solidFill>
            </a:endParaRPr>
          </a:p>
        </p:txBody>
      </p:sp>
      <p:sp>
        <p:nvSpPr>
          <p:cNvPr id="18" name="Rectangle 17">
            <a:extLst>
              <a:ext uri="{FF2B5EF4-FFF2-40B4-BE49-F238E27FC236}">
                <a16:creationId xmlns:a16="http://schemas.microsoft.com/office/drawing/2014/main" id="{BB5FC498-8581-4F8F-9708-067C2B7064B0}"/>
              </a:ext>
            </a:extLst>
          </p:cNvPr>
          <p:cNvSpPr/>
          <p:nvPr/>
        </p:nvSpPr>
        <p:spPr>
          <a:xfrm>
            <a:off x="1699335" y="2491930"/>
            <a:ext cx="333667" cy="231223"/>
          </a:xfrm>
          <a:prstGeom prst="rect">
            <a:avLst/>
          </a:prstGeom>
          <a:solidFill>
            <a:schemeClr val="bg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rPr>
              <a:t>1</a:t>
            </a:r>
            <a:endParaRPr lang="en-US" sz="1600" dirty="0">
              <a:solidFill>
                <a:schemeClr val="tx1"/>
              </a:solidFill>
            </a:endParaRPr>
          </a:p>
        </p:txBody>
      </p:sp>
      <p:pic>
        <p:nvPicPr>
          <p:cNvPr id="7" name="Picture 6">
            <a:extLst>
              <a:ext uri="{FF2B5EF4-FFF2-40B4-BE49-F238E27FC236}">
                <a16:creationId xmlns:a16="http://schemas.microsoft.com/office/drawing/2014/main" id="{C87D1E08-68D9-D1E6-4709-46D55542E7DB}"/>
              </a:ext>
            </a:extLst>
          </p:cNvPr>
          <p:cNvPicPr>
            <a:picLocks noChangeAspect="1"/>
          </p:cNvPicPr>
          <p:nvPr/>
        </p:nvPicPr>
        <p:blipFill>
          <a:blip r:embed="rId2"/>
          <a:stretch>
            <a:fillRect/>
          </a:stretch>
        </p:blipFill>
        <p:spPr>
          <a:xfrm>
            <a:off x="999847" y="2911744"/>
            <a:ext cx="5396665" cy="2048637"/>
          </a:xfrm>
          <a:prstGeom prst="rect">
            <a:avLst/>
          </a:prstGeom>
          <a:effectLst>
            <a:glow rad="63500">
              <a:schemeClr val="accent3">
                <a:satMod val="175000"/>
                <a:alpha val="40000"/>
              </a:schemeClr>
            </a:glow>
          </a:effectLst>
        </p:spPr>
      </p:pic>
      <p:cxnSp>
        <p:nvCxnSpPr>
          <p:cNvPr id="8" name="Straight Arrow Connector 7">
            <a:extLst>
              <a:ext uri="{FF2B5EF4-FFF2-40B4-BE49-F238E27FC236}">
                <a16:creationId xmlns:a16="http://schemas.microsoft.com/office/drawing/2014/main" id="{B4682062-BB9F-4049-A12A-B1B519148D8E}"/>
              </a:ext>
            </a:extLst>
          </p:cNvPr>
          <p:cNvCxnSpPr>
            <a:cxnSpLocks/>
          </p:cNvCxnSpPr>
          <p:nvPr/>
        </p:nvCxnSpPr>
        <p:spPr>
          <a:xfrm>
            <a:off x="551410" y="3121238"/>
            <a:ext cx="403501"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pic>
        <p:nvPicPr>
          <p:cNvPr id="13" name="Picture 12">
            <a:extLst>
              <a:ext uri="{FF2B5EF4-FFF2-40B4-BE49-F238E27FC236}">
                <a16:creationId xmlns:a16="http://schemas.microsoft.com/office/drawing/2014/main" id="{CE3E7790-AF72-87BC-4742-1D3CFA5FBD6F}"/>
              </a:ext>
            </a:extLst>
          </p:cNvPr>
          <p:cNvPicPr>
            <a:picLocks noChangeAspect="1"/>
          </p:cNvPicPr>
          <p:nvPr/>
        </p:nvPicPr>
        <p:blipFill>
          <a:blip r:embed="rId3"/>
          <a:stretch>
            <a:fillRect/>
          </a:stretch>
        </p:blipFill>
        <p:spPr>
          <a:xfrm>
            <a:off x="3175909" y="3848094"/>
            <a:ext cx="5391426" cy="2300132"/>
          </a:xfrm>
          <a:prstGeom prst="rect">
            <a:avLst/>
          </a:prstGeom>
          <a:effectLst>
            <a:glow rad="63500">
              <a:schemeClr val="accent3">
                <a:satMod val="175000"/>
                <a:alpha val="40000"/>
              </a:schemeClr>
            </a:glow>
          </a:effectLst>
        </p:spPr>
      </p:pic>
      <p:cxnSp>
        <p:nvCxnSpPr>
          <p:cNvPr id="12" name="Straight Arrow Connector 11">
            <a:extLst>
              <a:ext uri="{FF2B5EF4-FFF2-40B4-BE49-F238E27FC236}">
                <a16:creationId xmlns:a16="http://schemas.microsoft.com/office/drawing/2014/main" id="{1DE85051-DC3A-4802-8FEE-243F7B4E37C4}"/>
              </a:ext>
            </a:extLst>
          </p:cNvPr>
          <p:cNvCxnSpPr>
            <a:cxnSpLocks/>
          </p:cNvCxnSpPr>
          <p:nvPr/>
        </p:nvCxnSpPr>
        <p:spPr>
          <a:xfrm flipV="1">
            <a:off x="2723372" y="4057669"/>
            <a:ext cx="433487" cy="6684"/>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pic>
        <p:nvPicPr>
          <p:cNvPr id="17" name="Picture 16">
            <a:extLst>
              <a:ext uri="{FF2B5EF4-FFF2-40B4-BE49-F238E27FC236}">
                <a16:creationId xmlns:a16="http://schemas.microsoft.com/office/drawing/2014/main" id="{784FEFDE-63EA-B844-4219-FCECF22AD085}"/>
              </a:ext>
            </a:extLst>
          </p:cNvPr>
          <p:cNvPicPr>
            <a:picLocks noChangeAspect="1"/>
          </p:cNvPicPr>
          <p:nvPr/>
        </p:nvPicPr>
        <p:blipFill>
          <a:blip r:embed="rId4"/>
          <a:stretch>
            <a:fillRect/>
          </a:stretch>
        </p:blipFill>
        <p:spPr>
          <a:xfrm>
            <a:off x="5567435" y="4465252"/>
            <a:ext cx="5407145" cy="2179624"/>
          </a:xfrm>
          <a:prstGeom prst="rect">
            <a:avLst/>
          </a:prstGeom>
          <a:effectLst>
            <a:glow rad="63500">
              <a:schemeClr val="accent3">
                <a:satMod val="175000"/>
                <a:alpha val="40000"/>
              </a:schemeClr>
            </a:glow>
          </a:effectLst>
        </p:spPr>
      </p:pic>
      <p:cxnSp>
        <p:nvCxnSpPr>
          <p:cNvPr id="19" name="Straight Arrow Connector 18">
            <a:extLst>
              <a:ext uri="{FF2B5EF4-FFF2-40B4-BE49-F238E27FC236}">
                <a16:creationId xmlns:a16="http://schemas.microsoft.com/office/drawing/2014/main" id="{4D3EB9A7-971D-4767-A4BF-AB8FDCED20FC}"/>
              </a:ext>
            </a:extLst>
          </p:cNvPr>
          <p:cNvCxnSpPr>
            <a:cxnSpLocks/>
          </p:cNvCxnSpPr>
          <p:nvPr/>
        </p:nvCxnSpPr>
        <p:spPr>
          <a:xfrm flipV="1">
            <a:off x="5284462" y="5399442"/>
            <a:ext cx="433487" cy="6684"/>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2" name="Slide Number Placeholder 1">
            <a:extLst>
              <a:ext uri="{FF2B5EF4-FFF2-40B4-BE49-F238E27FC236}">
                <a16:creationId xmlns:a16="http://schemas.microsoft.com/office/drawing/2014/main" id="{8CD3DA52-C74E-B26A-B32A-C861A2E18C38}"/>
              </a:ext>
            </a:extLst>
          </p:cNvPr>
          <p:cNvSpPr>
            <a:spLocks noGrp="1"/>
          </p:cNvSpPr>
          <p:nvPr>
            <p:ph type="sldNum" sz="quarter" idx="12"/>
          </p:nvPr>
        </p:nvSpPr>
        <p:spPr/>
        <p:txBody>
          <a:bodyPr/>
          <a:lstStyle/>
          <a:p>
            <a:fld id="{1C788548-AC4B-4945-A4F1-BA86477A7FC8}" type="slidenum">
              <a:rPr lang="en-US" smtClean="0"/>
              <a:t>6</a:t>
            </a:fld>
            <a:endParaRPr lang="en-US"/>
          </a:p>
        </p:txBody>
      </p:sp>
    </p:spTree>
    <p:extLst>
      <p:ext uri="{BB962C8B-B14F-4D97-AF65-F5344CB8AC3E}">
        <p14:creationId xmlns:p14="http://schemas.microsoft.com/office/powerpoint/2010/main" val="29040286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5DD04D75-5580-4918-ACD6-01E26F36A2CB}"/>
              </a:ext>
            </a:extLst>
          </p:cNvPr>
          <p:cNvSpPr>
            <a:spLocks noGrp="1"/>
          </p:cNvSpPr>
          <p:nvPr>
            <p:ph type="subTitle" idx="4294967295"/>
          </p:nvPr>
        </p:nvSpPr>
        <p:spPr>
          <a:xfrm>
            <a:off x="869442" y="213741"/>
            <a:ext cx="10949178" cy="2655189"/>
          </a:xfrm>
          <a:prstGeom prst="rect">
            <a:avLst/>
          </a:prstGeom>
        </p:spPr>
        <p:txBody>
          <a:bodyPr>
            <a:normAutofit fontScale="77500" lnSpcReduction="20000"/>
          </a:bodyPr>
          <a:lstStyle/>
          <a:p>
            <a:pPr marL="0" indent="0" algn="l">
              <a:lnSpc>
                <a:spcPct val="120000"/>
              </a:lnSpc>
              <a:spcBef>
                <a:spcPts val="600"/>
              </a:spcBef>
              <a:buNone/>
            </a:pPr>
            <a:r>
              <a:rPr lang="en-US" sz="3400" b="1" dirty="0">
                <a:solidFill>
                  <a:schemeClr val="accent1">
                    <a:lumMod val="75000"/>
                  </a:schemeClr>
                </a:solidFill>
              </a:rPr>
              <a:t>IMS Administration Tool ISPF LAB Exercise 2 (cont’d)</a:t>
            </a:r>
          </a:p>
          <a:p>
            <a:pPr marL="0" indent="0" algn="l">
              <a:lnSpc>
                <a:spcPct val="120000"/>
              </a:lnSpc>
              <a:spcBef>
                <a:spcPts val="600"/>
              </a:spcBef>
              <a:buNone/>
            </a:pPr>
            <a:r>
              <a:rPr lang="en-US" sz="2600" b="1" dirty="0"/>
              <a:t>Key Feature:</a:t>
            </a:r>
            <a:r>
              <a:rPr lang="en-US" sz="2600" dirty="0"/>
              <a:t>  </a:t>
            </a:r>
            <a:r>
              <a:rPr lang="en-US" sz="2600" b="1" dirty="0"/>
              <a:t>Database (DBD) and Application (PSB) Administration</a:t>
            </a:r>
          </a:p>
          <a:p>
            <a:pPr marL="0" indent="0">
              <a:lnSpc>
                <a:spcPct val="120000"/>
              </a:lnSpc>
              <a:spcBef>
                <a:spcPts val="600"/>
              </a:spcBef>
              <a:buNone/>
            </a:pPr>
            <a:r>
              <a:rPr lang="en-US" sz="2600" b="1" dirty="0"/>
              <a:t>Description:   </a:t>
            </a:r>
            <a:r>
              <a:rPr lang="en-US" sz="2600" dirty="0"/>
              <a:t>We will go through an exercise now to show you how to filter on a specific DBD,  decode the DBD from the DBD Library, and then make changes to that DBD so you can populate those changes to the “Staging” IMS directory.  This feature also supports PSBs but for this exercise, we will focus on DBDs. </a:t>
            </a:r>
          </a:p>
          <a:p>
            <a:pPr marL="0" indent="0">
              <a:lnSpc>
                <a:spcPct val="120000"/>
              </a:lnSpc>
              <a:spcBef>
                <a:spcPts val="600"/>
              </a:spcBef>
              <a:buNone/>
            </a:pPr>
            <a:r>
              <a:rPr lang="en-US" sz="2600" b="1" dirty="0"/>
              <a:t>Instructions:</a:t>
            </a:r>
            <a:r>
              <a:rPr lang="en-US" sz="2600" dirty="0"/>
              <a:t>   Fill-in the required fields marked with an “*”, with the values listed below.</a:t>
            </a:r>
          </a:p>
        </p:txBody>
      </p:sp>
      <p:sp>
        <p:nvSpPr>
          <p:cNvPr id="5" name="Slide Number Placeholder 4">
            <a:extLst>
              <a:ext uri="{FF2B5EF4-FFF2-40B4-BE49-F238E27FC236}">
                <a16:creationId xmlns:a16="http://schemas.microsoft.com/office/drawing/2014/main" id="{0C09DE50-AF46-F802-3E9C-0F4ED75148CE}"/>
              </a:ext>
            </a:extLst>
          </p:cNvPr>
          <p:cNvSpPr>
            <a:spLocks noGrp="1"/>
          </p:cNvSpPr>
          <p:nvPr>
            <p:ph type="sldNum" sz="quarter" idx="12"/>
          </p:nvPr>
        </p:nvSpPr>
        <p:spPr/>
        <p:txBody>
          <a:bodyPr/>
          <a:lstStyle/>
          <a:p>
            <a:fld id="{1C788548-AC4B-4945-A4F1-BA86477A7FC8}" type="slidenum">
              <a:rPr lang="en-US" smtClean="0"/>
              <a:t>7</a:t>
            </a:fld>
            <a:endParaRPr lang="en-US"/>
          </a:p>
        </p:txBody>
      </p:sp>
      <p:pic>
        <p:nvPicPr>
          <p:cNvPr id="8" name="Picture 7">
            <a:extLst>
              <a:ext uri="{FF2B5EF4-FFF2-40B4-BE49-F238E27FC236}">
                <a16:creationId xmlns:a16="http://schemas.microsoft.com/office/drawing/2014/main" id="{132672FB-3419-2EAF-EA7F-1B1EAB135937}"/>
              </a:ext>
            </a:extLst>
          </p:cNvPr>
          <p:cNvPicPr>
            <a:picLocks noChangeAspect="1"/>
          </p:cNvPicPr>
          <p:nvPr/>
        </p:nvPicPr>
        <p:blipFill>
          <a:blip r:embed="rId2"/>
          <a:stretch>
            <a:fillRect/>
          </a:stretch>
        </p:blipFill>
        <p:spPr>
          <a:xfrm>
            <a:off x="5959087" y="2780865"/>
            <a:ext cx="5620058" cy="3621815"/>
          </a:xfrm>
          <a:prstGeom prst="rect">
            <a:avLst/>
          </a:prstGeom>
          <a:effectLst>
            <a:glow rad="63500">
              <a:schemeClr val="accent3">
                <a:satMod val="175000"/>
                <a:alpha val="40000"/>
              </a:schemeClr>
            </a:glow>
          </a:effectLst>
        </p:spPr>
      </p:pic>
      <p:sp>
        <p:nvSpPr>
          <p:cNvPr id="10" name="TextBox 9">
            <a:extLst>
              <a:ext uri="{FF2B5EF4-FFF2-40B4-BE49-F238E27FC236}">
                <a16:creationId xmlns:a16="http://schemas.microsoft.com/office/drawing/2014/main" id="{77868185-4083-F51B-94FF-61BB0412417F}"/>
              </a:ext>
            </a:extLst>
          </p:cNvPr>
          <p:cNvSpPr txBox="1"/>
          <p:nvPr/>
        </p:nvSpPr>
        <p:spPr>
          <a:xfrm>
            <a:off x="971193" y="2868930"/>
            <a:ext cx="4987894" cy="734945"/>
          </a:xfrm>
          <a:prstGeom prst="rect">
            <a:avLst/>
          </a:prstGeom>
          <a:noFill/>
        </p:spPr>
        <p:txBody>
          <a:bodyPr wrap="square">
            <a:spAutoFit/>
          </a:bodyPr>
          <a:lstStyle/>
          <a:p>
            <a:pPr marL="342900" indent="-342900">
              <a:lnSpc>
                <a:spcPct val="120000"/>
              </a:lnSpc>
              <a:spcBef>
                <a:spcPts val="0"/>
              </a:spcBef>
              <a:buFont typeface="+mj-lt"/>
              <a:buAutoNum type="arabicPeriod"/>
            </a:pPr>
            <a:r>
              <a:rPr lang="en-US" sz="1800" dirty="0">
                <a:sym typeface="Wingdings" panose="05000000000000000000" pitchFamily="2" charset="2"/>
              </a:rPr>
              <a:t>Specify the DBD filter:                     .</a:t>
            </a:r>
          </a:p>
          <a:p>
            <a:pPr marL="342900" indent="-342900">
              <a:lnSpc>
                <a:spcPct val="120000"/>
              </a:lnSpc>
              <a:spcBef>
                <a:spcPts val="0"/>
              </a:spcBef>
              <a:buFont typeface="+mj-lt"/>
              <a:buAutoNum type="arabicPeriod"/>
            </a:pPr>
            <a:r>
              <a:rPr lang="en-US" sz="1800" dirty="0"/>
              <a:t>Select          (From DBD Library) and press Enter. </a:t>
            </a:r>
          </a:p>
        </p:txBody>
      </p:sp>
      <p:sp>
        <p:nvSpPr>
          <p:cNvPr id="4" name="Rectangle 3">
            <a:extLst>
              <a:ext uri="{FF2B5EF4-FFF2-40B4-BE49-F238E27FC236}">
                <a16:creationId xmlns:a16="http://schemas.microsoft.com/office/drawing/2014/main" id="{8089383A-2B23-4379-A964-4FC4C5287A16}"/>
              </a:ext>
            </a:extLst>
          </p:cNvPr>
          <p:cNvSpPr/>
          <p:nvPr/>
        </p:nvSpPr>
        <p:spPr>
          <a:xfrm>
            <a:off x="2070570" y="3278612"/>
            <a:ext cx="308918" cy="284205"/>
          </a:xfrm>
          <a:prstGeom prst="rect">
            <a:avLst/>
          </a:prstGeom>
          <a:solidFill>
            <a:schemeClr val="bg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1</a:t>
            </a:r>
            <a:endParaRPr lang="en-US" dirty="0">
              <a:solidFill>
                <a:schemeClr val="tx1"/>
              </a:solidFill>
            </a:endParaRPr>
          </a:p>
        </p:txBody>
      </p:sp>
      <p:sp>
        <p:nvSpPr>
          <p:cNvPr id="6" name="Rectangle 5">
            <a:extLst>
              <a:ext uri="{FF2B5EF4-FFF2-40B4-BE49-F238E27FC236}">
                <a16:creationId xmlns:a16="http://schemas.microsoft.com/office/drawing/2014/main" id="{3811CB71-D90D-CF8E-AC1F-C2255A57B1CE}"/>
              </a:ext>
            </a:extLst>
          </p:cNvPr>
          <p:cNvSpPr/>
          <p:nvPr/>
        </p:nvSpPr>
        <p:spPr>
          <a:xfrm>
            <a:off x="3508270" y="2952197"/>
            <a:ext cx="1022219" cy="284205"/>
          </a:xfrm>
          <a:prstGeom prst="rect">
            <a:avLst/>
          </a:prstGeom>
          <a:solidFill>
            <a:schemeClr val="bg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Consolas" panose="020B0609020204030204" pitchFamily="49" charset="0"/>
              </a:rPr>
              <a:t>ADBD00</a:t>
            </a:r>
            <a:endParaRPr lang="en-US" dirty="0">
              <a:solidFill>
                <a:schemeClr val="tx1"/>
              </a:solidFill>
              <a:latin typeface="Consolas" panose="020B0609020204030204" pitchFamily="49" charset="0"/>
            </a:endParaRPr>
          </a:p>
        </p:txBody>
      </p:sp>
    </p:spTree>
    <p:extLst>
      <p:ext uri="{BB962C8B-B14F-4D97-AF65-F5344CB8AC3E}">
        <p14:creationId xmlns:p14="http://schemas.microsoft.com/office/powerpoint/2010/main" val="1575237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5DD04D75-5580-4918-ACD6-01E26F36A2CB}"/>
              </a:ext>
            </a:extLst>
          </p:cNvPr>
          <p:cNvSpPr>
            <a:spLocks noGrp="1"/>
          </p:cNvSpPr>
          <p:nvPr>
            <p:ph type="subTitle" idx="4294967295"/>
          </p:nvPr>
        </p:nvSpPr>
        <p:spPr>
          <a:xfrm>
            <a:off x="869442" y="183260"/>
            <a:ext cx="10484358" cy="2134270"/>
          </a:xfrm>
          <a:prstGeom prst="rect">
            <a:avLst/>
          </a:prstGeom>
        </p:spPr>
        <p:txBody>
          <a:bodyPr>
            <a:normAutofit/>
          </a:bodyPr>
          <a:lstStyle/>
          <a:p>
            <a:pPr marL="0" indent="0" algn="l">
              <a:lnSpc>
                <a:spcPct val="100000"/>
              </a:lnSpc>
              <a:spcBef>
                <a:spcPts val="600"/>
              </a:spcBef>
              <a:buNone/>
            </a:pPr>
            <a:r>
              <a:rPr lang="en-US" sz="2400" b="1" dirty="0">
                <a:solidFill>
                  <a:schemeClr val="accent1">
                    <a:lumMod val="75000"/>
                  </a:schemeClr>
                </a:solidFill>
              </a:rPr>
              <a:t>IMS Administration Tool ISPF LAB Exercise 2 (cont’d)</a:t>
            </a:r>
          </a:p>
          <a:p>
            <a:pPr marL="0" indent="0" algn="l">
              <a:lnSpc>
                <a:spcPct val="100000"/>
              </a:lnSpc>
              <a:spcBef>
                <a:spcPts val="600"/>
              </a:spcBef>
              <a:buNone/>
            </a:pPr>
            <a:r>
              <a:rPr lang="en-US" sz="1800" b="1" dirty="0"/>
              <a:t>Key Feature:</a:t>
            </a:r>
            <a:r>
              <a:rPr lang="en-US" sz="1800" dirty="0"/>
              <a:t>  </a:t>
            </a:r>
            <a:r>
              <a:rPr lang="en-US" sz="1800" b="1" dirty="0"/>
              <a:t>Database (DBD) and Application (PSB) Administration: Altering a DBD </a:t>
            </a:r>
          </a:p>
          <a:p>
            <a:pPr marL="0" indent="0">
              <a:lnSpc>
                <a:spcPct val="100000"/>
              </a:lnSpc>
              <a:spcBef>
                <a:spcPts val="600"/>
              </a:spcBef>
              <a:buNone/>
            </a:pPr>
            <a:r>
              <a:rPr lang="en-US" sz="1800" b="1" dirty="0"/>
              <a:t>Description:   </a:t>
            </a:r>
            <a:r>
              <a:rPr lang="en-US" sz="1800" dirty="0"/>
              <a:t>As you can see here, you can either create a new DBD and/or Model from another DBD, decode the DBD to view DBD source, or Alter your existing </a:t>
            </a:r>
            <a:r>
              <a:rPr lang="en-US" sz="1800" dirty="0">
                <a:latin typeface="Consolas" panose="020B0609020204030204" pitchFamily="49" charset="0"/>
              </a:rPr>
              <a:t>ADBD00</a:t>
            </a:r>
            <a:r>
              <a:rPr lang="en-US" sz="1800" dirty="0"/>
              <a:t> DBD, which we will be doing in this exercise.</a:t>
            </a:r>
          </a:p>
          <a:p>
            <a:pPr marL="1260475" indent="-1260475">
              <a:lnSpc>
                <a:spcPct val="100000"/>
              </a:lnSpc>
              <a:spcBef>
                <a:spcPts val="600"/>
              </a:spcBef>
              <a:buNone/>
            </a:pPr>
            <a:r>
              <a:rPr lang="en-US" sz="1800" b="1" dirty="0"/>
              <a:t>Instructions:</a:t>
            </a:r>
            <a:r>
              <a:rPr lang="en-US" sz="1800" dirty="0"/>
              <a:t>  Type         (Alter) on the line command next to your </a:t>
            </a:r>
            <a:r>
              <a:rPr lang="en-US" sz="1800" dirty="0">
                <a:latin typeface="Consolas" panose="020B0609020204030204" pitchFamily="49" charset="0"/>
              </a:rPr>
              <a:t>ADBD00</a:t>
            </a:r>
            <a:r>
              <a:rPr lang="en-US" sz="1800" dirty="0"/>
              <a:t> DBD that you have filtered on,  and press Enter.</a:t>
            </a:r>
          </a:p>
        </p:txBody>
      </p:sp>
      <p:cxnSp>
        <p:nvCxnSpPr>
          <p:cNvPr id="6" name="Straight Arrow Connector 5">
            <a:extLst>
              <a:ext uri="{FF2B5EF4-FFF2-40B4-BE49-F238E27FC236}">
                <a16:creationId xmlns:a16="http://schemas.microsoft.com/office/drawing/2014/main" id="{080AC41E-F6FB-41FC-A4CD-71EFE85CB9D7}"/>
              </a:ext>
            </a:extLst>
          </p:cNvPr>
          <p:cNvCxnSpPr>
            <a:cxnSpLocks/>
          </p:cNvCxnSpPr>
          <p:nvPr/>
        </p:nvCxnSpPr>
        <p:spPr>
          <a:xfrm>
            <a:off x="1559664" y="5951558"/>
            <a:ext cx="487680"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35DEFD62-9AF9-4F5F-A3ED-9F79B789CA31}"/>
              </a:ext>
            </a:extLst>
          </p:cNvPr>
          <p:cNvSpPr/>
          <p:nvPr/>
        </p:nvSpPr>
        <p:spPr>
          <a:xfrm>
            <a:off x="2770655" y="1634145"/>
            <a:ext cx="308918" cy="284205"/>
          </a:xfrm>
          <a:prstGeom prst="rect">
            <a:avLst/>
          </a:prstGeom>
          <a:solidFill>
            <a:schemeClr val="bg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A</a:t>
            </a:r>
            <a:endParaRPr lang="en-US" dirty="0">
              <a:solidFill>
                <a:schemeClr val="tx1"/>
              </a:solidFill>
            </a:endParaRPr>
          </a:p>
        </p:txBody>
      </p:sp>
      <p:sp>
        <p:nvSpPr>
          <p:cNvPr id="4" name="Slide Number Placeholder 3">
            <a:extLst>
              <a:ext uri="{FF2B5EF4-FFF2-40B4-BE49-F238E27FC236}">
                <a16:creationId xmlns:a16="http://schemas.microsoft.com/office/drawing/2014/main" id="{79B121D7-BB02-6DDF-F774-679B1D878786}"/>
              </a:ext>
            </a:extLst>
          </p:cNvPr>
          <p:cNvSpPr>
            <a:spLocks noGrp="1"/>
          </p:cNvSpPr>
          <p:nvPr>
            <p:ph type="sldNum" sz="quarter" idx="12"/>
          </p:nvPr>
        </p:nvSpPr>
        <p:spPr/>
        <p:txBody>
          <a:bodyPr/>
          <a:lstStyle/>
          <a:p>
            <a:fld id="{1C788548-AC4B-4945-A4F1-BA86477A7FC8}" type="slidenum">
              <a:rPr lang="en-US" smtClean="0"/>
              <a:t>8</a:t>
            </a:fld>
            <a:endParaRPr lang="en-US"/>
          </a:p>
        </p:txBody>
      </p:sp>
      <p:pic>
        <p:nvPicPr>
          <p:cNvPr id="8" name="Picture 7">
            <a:extLst>
              <a:ext uri="{FF2B5EF4-FFF2-40B4-BE49-F238E27FC236}">
                <a16:creationId xmlns:a16="http://schemas.microsoft.com/office/drawing/2014/main" id="{7F5B49AA-2D4B-4AEF-3D4B-35EDBE5C00D2}"/>
              </a:ext>
            </a:extLst>
          </p:cNvPr>
          <p:cNvPicPr>
            <a:picLocks noChangeAspect="1"/>
          </p:cNvPicPr>
          <p:nvPr/>
        </p:nvPicPr>
        <p:blipFill>
          <a:blip r:embed="rId3"/>
          <a:stretch>
            <a:fillRect/>
          </a:stretch>
        </p:blipFill>
        <p:spPr>
          <a:xfrm>
            <a:off x="2119795" y="2317529"/>
            <a:ext cx="7880180" cy="3955332"/>
          </a:xfrm>
          <a:prstGeom prst="rect">
            <a:avLst/>
          </a:prstGeom>
          <a:effectLst>
            <a:glow rad="63500">
              <a:schemeClr val="accent3">
                <a:satMod val="175000"/>
                <a:alpha val="40000"/>
              </a:schemeClr>
            </a:glow>
          </a:effectLst>
        </p:spPr>
      </p:pic>
    </p:spTree>
    <p:extLst>
      <p:ext uri="{BB962C8B-B14F-4D97-AF65-F5344CB8AC3E}">
        <p14:creationId xmlns:p14="http://schemas.microsoft.com/office/powerpoint/2010/main" val="3526780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5DD04D75-5580-4918-ACD6-01E26F36A2CB}"/>
              </a:ext>
            </a:extLst>
          </p:cNvPr>
          <p:cNvSpPr>
            <a:spLocks noGrp="1"/>
          </p:cNvSpPr>
          <p:nvPr>
            <p:ph type="subTitle" idx="4294967295"/>
          </p:nvPr>
        </p:nvSpPr>
        <p:spPr>
          <a:xfrm>
            <a:off x="869442" y="213741"/>
            <a:ext cx="10603230" cy="2063633"/>
          </a:xfrm>
          <a:prstGeom prst="rect">
            <a:avLst/>
          </a:prstGeom>
        </p:spPr>
        <p:txBody>
          <a:bodyPr>
            <a:normAutofit fontScale="70000" lnSpcReduction="20000"/>
          </a:bodyPr>
          <a:lstStyle/>
          <a:p>
            <a:pPr marL="0" indent="0" algn="l">
              <a:lnSpc>
                <a:spcPct val="120000"/>
              </a:lnSpc>
              <a:spcBef>
                <a:spcPts val="600"/>
              </a:spcBef>
              <a:buNone/>
            </a:pPr>
            <a:r>
              <a:rPr lang="en-US" sz="3400" b="1" dirty="0">
                <a:solidFill>
                  <a:schemeClr val="accent1">
                    <a:lumMod val="75000"/>
                  </a:schemeClr>
                </a:solidFill>
              </a:rPr>
              <a:t>IMS Administration Tool ISPF LAB Exercise 2</a:t>
            </a:r>
          </a:p>
          <a:p>
            <a:pPr marL="0" indent="0" algn="l">
              <a:lnSpc>
                <a:spcPct val="120000"/>
              </a:lnSpc>
              <a:spcBef>
                <a:spcPts val="600"/>
              </a:spcBef>
              <a:buNone/>
            </a:pPr>
            <a:r>
              <a:rPr lang="en-US" sz="2600" b="1" dirty="0"/>
              <a:t>Key Feature:</a:t>
            </a:r>
            <a:r>
              <a:rPr lang="en-US" sz="2600" dirty="0"/>
              <a:t>  </a:t>
            </a:r>
            <a:r>
              <a:rPr lang="en-US" sz="2600" b="1" dirty="0"/>
              <a:t>Database (DBD) and Application (PSB) Administration</a:t>
            </a:r>
          </a:p>
          <a:p>
            <a:pPr marL="0" indent="0">
              <a:lnSpc>
                <a:spcPct val="120000"/>
              </a:lnSpc>
              <a:spcBef>
                <a:spcPts val="600"/>
              </a:spcBef>
              <a:buNone/>
            </a:pPr>
            <a:r>
              <a:rPr lang="en-US" sz="2600" b="1" dirty="0"/>
              <a:t>Description:</a:t>
            </a:r>
            <a:r>
              <a:rPr lang="en-US" sz="2600" dirty="0"/>
              <a:t>   If your </a:t>
            </a:r>
            <a:r>
              <a:rPr lang="en-US" sz="2600" dirty="0">
                <a:latin typeface="Consolas" panose="020B0609020204030204" pitchFamily="49" charset="0"/>
              </a:rPr>
              <a:t>ADBD00</a:t>
            </a:r>
            <a:r>
              <a:rPr lang="en-US" sz="2600" dirty="0"/>
              <a:t> datasets which were specified in the previous panel are not yet allocated, you will be prompted to allocate each data set needed.  Otherwise, you will be asked if you want to overwrite the data sets and say “</a:t>
            </a:r>
            <a:r>
              <a:rPr lang="en-US" sz="2600" b="1" dirty="0"/>
              <a:t>Y</a:t>
            </a:r>
            <a:r>
              <a:rPr lang="en-US" sz="2600" dirty="0"/>
              <a:t>”.</a:t>
            </a:r>
            <a:endParaRPr lang="en-US" sz="2600" b="1" dirty="0"/>
          </a:p>
          <a:p>
            <a:pPr marL="0" indent="0">
              <a:lnSpc>
                <a:spcPct val="120000"/>
              </a:lnSpc>
              <a:spcBef>
                <a:spcPts val="600"/>
              </a:spcBef>
              <a:buNone/>
            </a:pPr>
            <a:r>
              <a:rPr lang="en-US" sz="2600" b="1" dirty="0"/>
              <a:t>Instructions:</a:t>
            </a:r>
            <a:r>
              <a:rPr lang="en-US" sz="2600" dirty="0"/>
              <a:t>  Say “</a:t>
            </a:r>
            <a:r>
              <a:rPr lang="en-US" sz="2600" b="1" dirty="0">
                <a:highlight>
                  <a:srgbClr val="FFFF00"/>
                </a:highlight>
              </a:rPr>
              <a:t>Y</a:t>
            </a:r>
            <a:r>
              <a:rPr lang="en-US" sz="2600" dirty="0"/>
              <a:t>”, each time you get prompted for each data set.</a:t>
            </a:r>
          </a:p>
        </p:txBody>
      </p:sp>
      <p:sp>
        <p:nvSpPr>
          <p:cNvPr id="2" name="Slide Number Placeholder 1">
            <a:extLst>
              <a:ext uri="{FF2B5EF4-FFF2-40B4-BE49-F238E27FC236}">
                <a16:creationId xmlns:a16="http://schemas.microsoft.com/office/drawing/2014/main" id="{80256FB7-E112-941E-710C-8D878FFFFCBD}"/>
              </a:ext>
            </a:extLst>
          </p:cNvPr>
          <p:cNvSpPr>
            <a:spLocks noGrp="1"/>
          </p:cNvSpPr>
          <p:nvPr>
            <p:ph type="sldNum" sz="quarter" idx="12"/>
          </p:nvPr>
        </p:nvSpPr>
        <p:spPr/>
        <p:txBody>
          <a:bodyPr/>
          <a:lstStyle/>
          <a:p>
            <a:fld id="{1C788548-AC4B-4945-A4F1-BA86477A7FC8}" type="slidenum">
              <a:rPr lang="en-US" smtClean="0"/>
              <a:t>9</a:t>
            </a:fld>
            <a:endParaRPr lang="en-US"/>
          </a:p>
        </p:txBody>
      </p:sp>
      <p:pic>
        <p:nvPicPr>
          <p:cNvPr id="6" name="Picture 5">
            <a:extLst>
              <a:ext uri="{FF2B5EF4-FFF2-40B4-BE49-F238E27FC236}">
                <a16:creationId xmlns:a16="http://schemas.microsoft.com/office/drawing/2014/main" id="{77AEA0FC-7969-3370-9948-A175EFD1229C}"/>
              </a:ext>
            </a:extLst>
          </p:cNvPr>
          <p:cNvPicPr>
            <a:picLocks noChangeAspect="1"/>
          </p:cNvPicPr>
          <p:nvPr/>
        </p:nvPicPr>
        <p:blipFill>
          <a:blip r:embed="rId2"/>
          <a:stretch>
            <a:fillRect/>
          </a:stretch>
        </p:blipFill>
        <p:spPr>
          <a:xfrm>
            <a:off x="1254603" y="2325988"/>
            <a:ext cx="6298047" cy="4212924"/>
          </a:xfrm>
          <a:prstGeom prst="rect">
            <a:avLst/>
          </a:prstGeom>
          <a:effectLst>
            <a:glow rad="63500">
              <a:schemeClr val="accent3">
                <a:satMod val="175000"/>
                <a:alpha val="40000"/>
              </a:schemeClr>
            </a:glow>
          </a:effectLst>
        </p:spPr>
      </p:pic>
      <p:sp>
        <p:nvSpPr>
          <p:cNvPr id="8" name="TextBox 7">
            <a:extLst>
              <a:ext uri="{FF2B5EF4-FFF2-40B4-BE49-F238E27FC236}">
                <a16:creationId xmlns:a16="http://schemas.microsoft.com/office/drawing/2014/main" id="{642272B5-3499-8F4F-C8EB-FCE70FD49251}"/>
              </a:ext>
            </a:extLst>
          </p:cNvPr>
          <p:cNvSpPr txBox="1"/>
          <p:nvPr/>
        </p:nvSpPr>
        <p:spPr>
          <a:xfrm>
            <a:off x="7696918" y="3983703"/>
            <a:ext cx="3775754" cy="646331"/>
          </a:xfrm>
          <a:prstGeom prst="rect">
            <a:avLst/>
          </a:prstGeom>
          <a:noFill/>
        </p:spPr>
        <p:txBody>
          <a:bodyPr wrap="square">
            <a:spAutoFit/>
          </a:bodyPr>
          <a:lstStyle/>
          <a:p>
            <a:pPr marL="630238" indent="-630238">
              <a:spcBef>
                <a:spcPts val="600"/>
              </a:spcBef>
              <a:buNone/>
            </a:pPr>
            <a:r>
              <a:rPr lang="en-US" sz="1800" b="1" dirty="0"/>
              <a:t>Note:</a:t>
            </a:r>
            <a:r>
              <a:rPr lang="en-US" sz="1800" dirty="0"/>
              <a:t>  You do not need to specify any other allocation parameters.</a:t>
            </a:r>
            <a:endParaRPr lang="en-US" sz="1200" dirty="0">
              <a:sym typeface="Wingdings" panose="05000000000000000000" pitchFamily="2" charset="2"/>
            </a:endParaRPr>
          </a:p>
        </p:txBody>
      </p:sp>
    </p:spTree>
    <p:extLst>
      <p:ext uri="{BB962C8B-B14F-4D97-AF65-F5344CB8AC3E}">
        <p14:creationId xmlns:p14="http://schemas.microsoft.com/office/powerpoint/2010/main" val="20098067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5DD04D75-5580-4918-ACD6-01E26F36A2CB}"/>
              </a:ext>
            </a:extLst>
          </p:cNvPr>
          <p:cNvSpPr>
            <a:spLocks noGrp="1"/>
          </p:cNvSpPr>
          <p:nvPr>
            <p:ph type="subTitle" idx="4294967295"/>
          </p:nvPr>
        </p:nvSpPr>
        <p:spPr>
          <a:xfrm>
            <a:off x="686562" y="213741"/>
            <a:ext cx="10804712" cy="2755700"/>
          </a:xfrm>
          <a:prstGeom prst="rect">
            <a:avLst/>
          </a:prstGeom>
        </p:spPr>
        <p:txBody>
          <a:bodyPr>
            <a:normAutofit fontScale="55000" lnSpcReduction="20000"/>
          </a:bodyPr>
          <a:lstStyle/>
          <a:p>
            <a:pPr marL="0" indent="0" algn="l">
              <a:lnSpc>
                <a:spcPct val="120000"/>
              </a:lnSpc>
              <a:spcBef>
                <a:spcPts val="600"/>
              </a:spcBef>
              <a:buNone/>
            </a:pPr>
            <a:r>
              <a:rPr lang="en-US" sz="4400" b="1" dirty="0">
                <a:solidFill>
                  <a:schemeClr val="accent1">
                    <a:lumMod val="75000"/>
                  </a:schemeClr>
                </a:solidFill>
              </a:rPr>
              <a:t>IMS Administration Tool ISPF LAB Exercise 2</a:t>
            </a:r>
          </a:p>
          <a:p>
            <a:pPr marL="0" indent="0" algn="l">
              <a:lnSpc>
                <a:spcPct val="120000"/>
              </a:lnSpc>
              <a:spcBef>
                <a:spcPts val="600"/>
              </a:spcBef>
              <a:buNone/>
            </a:pPr>
            <a:r>
              <a:rPr lang="en-US" sz="3300" b="1" dirty="0"/>
              <a:t>Key Feature:</a:t>
            </a:r>
            <a:r>
              <a:rPr lang="en-US" sz="3300" dirty="0"/>
              <a:t>  </a:t>
            </a:r>
            <a:r>
              <a:rPr lang="en-US" sz="3300" b="1" dirty="0"/>
              <a:t>Database (DBD) and Application (PSB) Administration</a:t>
            </a:r>
          </a:p>
          <a:p>
            <a:pPr marL="0" lvl="0" indent="0">
              <a:lnSpc>
                <a:spcPct val="120000"/>
              </a:lnSpc>
              <a:spcBef>
                <a:spcPts val="600"/>
              </a:spcBef>
              <a:buNone/>
            </a:pPr>
            <a:r>
              <a:rPr lang="en-US" sz="3300" b="1" dirty="0">
                <a:solidFill>
                  <a:prstClr val="black"/>
                </a:solidFill>
              </a:rPr>
              <a:t>Instructions:</a:t>
            </a:r>
            <a:r>
              <a:rPr lang="en-US" sz="3300" dirty="0">
                <a:solidFill>
                  <a:prstClr val="black"/>
                </a:solidFill>
              </a:rPr>
              <a:t>  Now, let’s Alter your </a:t>
            </a:r>
            <a:r>
              <a:rPr lang="en-US" sz="3300" dirty="0">
                <a:solidFill>
                  <a:prstClr val="black"/>
                </a:solidFill>
                <a:latin typeface="Consolas" panose="020B0609020204030204" pitchFamily="49" charset="0"/>
              </a:rPr>
              <a:t>ADBD00</a:t>
            </a:r>
            <a:r>
              <a:rPr lang="en-US" sz="3300" dirty="0">
                <a:solidFill>
                  <a:prstClr val="black"/>
                </a:solidFill>
              </a:rPr>
              <a:t> DBD. </a:t>
            </a:r>
          </a:p>
          <a:p>
            <a:pPr marL="460375" lvl="0" indent="-290513">
              <a:lnSpc>
                <a:spcPct val="120000"/>
              </a:lnSpc>
              <a:spcBef>
                <a:spcPts val="300"/>
              </a:spcBef>
              <a:buFont typeface="+mj-lt"/>
              <a:buAutoNum type="arabicPeriod"/>
            </a:pPr>
            <a:r>
              <a:rPr lang="en-US" sz="3300" dirty="0">
                <a:solidFill>
                  <a:prstClr val="black"/>
                </a:solidFill>
              </a:rPr>
              <a:t>Press </a:t>
            </a:r>
            <a:r>
              <a:rPr lang="en-US" sz="3300" b="1" dirty="0">
                <a:solidFill>
                  <a:prstClr val="black"/>
                </a:solidFill>
              </a:rPr>
              <a:t>F8</a:t>
            </a:r>
            <a:r>
              <a:rPr lang="en-US" sz="3300" dirty="0">
                <a:solidFill>
                  <a:prstClr val="black"/>
                </a:solidFill>
              </a:rPr>
              <a:t> to scroll down to see the ROOT segment and field definitions. </a:t>
            </a:r>
          </a:p>
          <a:p>
            <a:pPr marL="460375" lvl="0" indent="-290513">
              <a:lnSpc>
                <a:spcPct val="120000"/>
              </a:lnSpc>
              <a:spcBef>
                <a:spcPts val="300"/>
              </a:spcBef>
              <a:buFont typeface="+mj-lt"/>
              <a:buAutoNum type="arabicPeriod"/>
            </a:pPr>
            <a:r>
              <a:rPr lang="en-US" sz="3300" dirty="0">
                <a:solidFill>
                  <a:prstClr val="black"/>
                </a:solidFill>
              </a:rPr>
              <a:t>Insert a new field after the first ROOTKEY field definition statements. The FIELD NAME that is added must be unique.  </a:t>
            </a:r>
            <a:r>
              <a:rPr lang="en-US" sz="2900" b="1" dirty="0">
                <a:solidFill>
                  <a:prstClr val="black"/>
                </a:solidFill>
              </a:rPr>
              <a:t>An example field definition: </a:t>
            </a:r>
            <a:r>
              <a:rPr lang="en-US" sz="2900" dirty="0">
                <a:solidFill>
                  <a:prstClr val="black"/>
                </a:solidFill>
              </a:rPr>
              <a:t> </a:t>
            </a:r>
            <a:r>
              <a:rPr lang="en-US" sz="2900" dirty="0">
                <a:solidFill>
                  <a:prstClr val="black"/>
                </a:solidFill>
                <a:highlight>
                  <a:srgbClr val="FFFF00"/>
                </a:highlight>
                <a:latin typeface="Consolas" panose="020B0609020204030204" pitchFamily="49" charset="0"/>
              </a:rPr>
              <a:t>FIELD NAME=ROOTFLD1,START=14,BYTES=5,TYPE=C</a:t>
            </a:r>
          </a:p>
          <a:p>
            <a:pPr marL="460375" lvl="0" indent="-290513">
              <a:lnSpc>
                <a:spcPct val="120000"/>
              </a:lnSpc>
              <a:spcBef>
                <a:spcPts val="300"/>
              </a:spcBef>
              <a:buFont typeface="+mj-lt"/>
              <a:buAutoNum type="arabicPeriod"/>
            </a:pPr>
            <a:r>
              <a:rPr lang="en-US" sz="3300" dirty="0">
                <a:solidFill>
                  <a:prstClr val="black"/>
                </a:solidFill>
              </a:rPr>
              <a:t>Specify “</a:t>
            </a:r>
            <a:r>
              <a:rPr lang="en-US" sz="3300" b="1" dirty="0">
                <a:solidFill>
                  <a:prstClr val="black"/>
                </a:solidFill>
              </a:rPr>
              <a:t>SAVE</a:t>
            </a:r>
            <a:r>
              <a:rPr lang="en-US" sz="3300" dirty="0">
                <a:solidFill>
                  <a:prstClr val="black"/>
                </a:solidFill>
              </a:rPr>
              <a:t>” on the command line to save the changes to your data set.</a:t>
            </a:r>
          </a:p>
          <a:p>
            <a:pPr marL="460375" lvl="0" indent="-290513">
              <a:lnSpc>
                <a:spcPct val="120000"/>
              </a:lnSpc>
              <a:spcBef>
                <a:spcPts val="300"/>
              </a:spcBef>
              <a:buFont typeface="+mj-lt"/>
              <a:buAutoNum type="arabicPeriod"/>
            </a:pPr>
            <a:r>
              <a:rPr lang="en-US" sz="3300" dirty="0">
                <a:solidFill>
                  <a:prstClr val="black"/>
                </a:solidFill>
              </a:rPr>
              <a:t>Press </a:t>
            </a:r>
            <a:r>
              <a:rPr lang="en-US" sz="3300" b="1" dirty="0">
                <a:solidFill>
                  <a:prstClr val="black"/>
                </a:solidFill>
              </a:rPr>
              <a:t>F3</a:t>
            </a:r>
            <a:r>
              <a:rPr lang="en-US" sz="3300" dirty="0">
                <a:solidFill>
                  <a:prstClr val="black"/>
                </a:solidFill>
              </a:rPr>
              <a:t>.</a:t>
            </a:r>
          </a:p>
        </p:txBody>
      </p:sp>
      <p:cxnSp>
        <p:nvCxnSpPr>
          <p:cNvPr id="6" name="Straight Arrow Connector 5">
            <a:extLst>
              <a:ext uri="{FF2B5EF4-FFF2-40B4-BE49-F238E27FC236}">
                <a16:creationId xmlns:a16="http://schemas.microsoft.com/office/drawing/2014/main" id="{811F3154-5824-4327-8469-1B6A80DA900C}"/>
              </a:ext>
            </a:extLst>
          </p:cNvPr>
          <p:cNvCxnSpPr>
            <a:cxnSpLocks/>
          </p:cNvCxnSpPr>
          <p:nvPr/>
        </p:nvCxnSpPr>
        <p:spPr>
          <a:xfrm>
            <a:off x="2617763" y="6068862"/>
            <a:ext cx="487680"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2" name="Slide Number Placeholder 1">
            <a:extLst>
              <a:ext uri="{FF2B5EF4-FFF2-40B4-BE49-F238E27FC236}">
                <a16:creationId xmlns:a16="http://schemas.microsoft.com/office/drawing/2014/main" id="{E7F5933A-06D1-E75E-EA91-21AF058906DD}"/>
              </a:ext>
            </a:extLst>
          </p:cNvPr>
          <p:cNvSpPr>
            <a:spLocks noGrp="1"/>
          </p:cNvSpPr>
          <p:nvPr>
            <p:ph type="sldNum" sz="quarter" idx="12"/>
          </p:nvPr>
        </p:nvSpPr>
        <p:spPr/>
        <p:txBody>
          <a:bodyPr/>
          <a:lstStyle/>
          <a:p>
            <a:fld id="{1C788548-AC4B-4945-A4F1-BA86477A7FC8}" type="slidenum">
              <a:rPr lang="en-US" smtClean="0"/>
              <a:t>10</a:t>
            </a:fld>
            <a:endParaRPr lang="en-US"/>
          </a:p>
        </p:txBody>
      </p:sp>
      <p:pic>
        <p:nvPicPr>
          <p:cNvPr id="7" name="Picture 6">
            <a:extLst>
              <a:ext uri="{FF2B5EF4-FFF2-40B4-BE49-F238E27FC236}">
                <a16:creationId xmlns:a16="http://schemas.microsoft.com/office/drawing/2014/main" id="{6D647BE5-17E7-BBD3-E5B7-B96CB6610914}"/>
              </a:ext>
            </a:extLst>
          </p:cNvPr>
          <p:cNvPicPr>
            <a:picLocks noChangeAspect="1"/>
          </p:cNvPicPr>
          <p:nvPr/>
        </p:nvPicPr>
        <p:blipFill>
          <a:blip r:embed="rId2"/>
          <a:stretch>
            <a:fillRect/>
          </a:stretch>
        </p:blipFill>
        <p:spPr>
          <a:xfrm>
            <a:off x="3131321" y="2638741"/>
            <a:ext cx="6322435" cy="4048309"/>
          </a:xfrm>
          <a:prstGeom prst="rect">
            <a:avLst/>
          </a:prstGeom>
          <a:effectLst>
            <a:glow rad="63500">
              <a:schemeClr val="accent3">
                <a:satMod val="175000"/>
                <a:alpha val="40000"/>
              </a:schemeClr>
            </a:glow>
          </a:effectLst>
        </p:spPr>
      </p:pic>
    </p:spTree>
    <p:extLst>
      <p:ext uri="{BB962C8B-B14F-4D97-AF65-F5344CB8AC3E}">
        <p14:creationId xmlns:p14="http://schemas.microsoft.com/office/powerpoint/2010/main" val="1894815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B48C86EE-EE65-BDB5-55E7-7BE8A8A57E56}"/>
              </a:ext>
            </a:extLst>
          </p:cNvPr>
          <p:cNvPicPr>
            <a:picLocks noChangeAspect="1"/>
          </p:cNvPicPr>
          <p:nvPr/>
        </p:nvPicPr>
        <p:blipFill>
          <a:blip r:embed="rId2"/>
          <a:stretch>
            <a:fillRect/>
          </a:stretch>
        </p:blipFill>
        <p:spPr>
          <a:xfrm>
            <a:off x="613597" y="3585109"/>
            <a:ext cx="4522339" cy="1713406"/>
          </a:xfrm>
          <a:prstGeom prst="rect">
            <a:avLst/>
          </a:prstGeom>
          <a:effectLst>
            <a:glow rad="63500">
              <a:schemeClr val="accent3">
                <a:satMod val="175000"/>
                <a:alpha val="40000"/>
              </a:schemeClr>
            </a:glow>
          </a:effectLst>
        </p:spPr>
      </p:pic>
      <p:pic>
        <p:nvPicPr>
          <p:cNvPr id="18" name="Picture 17">
            <a:extLst>
              <a:ext uri="{FF2B5EF4-FFF2-40B4-BE49-F238E27FC236}">
                <a16:creationId xmlns:a16="http://schemas.microsoft.com/office/drawing/2014/main" id="{66FDDD7E-8BD6-CD3F-0392-9B9FD00D05D8}"/>
              </a:ext>
            </a:extLst>
          </p:cNvPr>
          <p:cNvPicPr>
            <a:picLocks noChangeAspect="1"/>
          </p:cNvPicPr>
          <p:nvPr/>
        </p:nvPicPr>
        <p:blipFill>
          <a:blip r:embed="rId3"/>
          <a:stretch>
            <a:fillRect/>
          </a:stretch>
        </p:blipFill>
        <p:spPr>
          <a:xfrm>
            <a:off x="2387007" y="4248383"/>
            <a:ext cx="4522339" cy="1191935"/>
          </a:xfrm>
          <a:prstGeom prst="rect">
            <a:avLst/>
          </a:prstGeom>
          <a:effectLst>
            <a:glow rad="63500">
              <a:schemeClr val="accent3">
                <a:satMod val="175000"/>
                <a:alpha val="40000"/>
              </a:schemeClr>
            </a:glow>
          </a:effectLst>
        </p:spPr>
      </p:pic>
      <p:pic>
        <p:nvPicPr>
          <p:cNvPr id="20" name="Picture 19">
            <a:extLst>
              <a:ext uri="{FF2B5EF4-FFF2-40B4-BE49-F238E27FC236}">
                <a16:creationId xmlns:a16="http://schemas.microsoft.com/office/drawing/2014/main" id="{AD7C7A34-6247-5F07-A506-38453DB4BE03}"/>
              </a:ext>
            </a:extLst>
          </p:cNvPr>
          <p:cNvPicPr>
            <a:picLocks noChangeAspect="1"/>
          </p:cNvPicPr>
          <p:nvPr/>
        </p:nvPicPr>
        <p:blipFill>
          <a:blip r:embed="rId4"/>
          <a:stretch>
            <a:fillRect/>
          </a:stretch>
        </p:blipFill>
        <p:spPr>
          <a:xfrm>
            <a:off x="4162473" y="4125040"/>
            <a:ext cx="4526721" cy="2585446"/>
          </a:xfrm>
          <a:prstGeom prst="rect">
            <a:avLst/>
          </a:prstGeom>
          <a:effectLst>
            <a:glow rad="63500">
              <a:schemeClr val="accent3">
                <a:satMod val="175000"/>
                <a:alpha val="40000"/>
              </a:schemeClr>
            </a:glow>
          </a:effectLst>
        </p:spPr>
      </p:pic>
      <p:pic>
        <p:nvPicPr>
          <p:cNvPr id="25" name="Picture 24">
            <a:extLst>
              <a:ext uri="{FF2B5EF4-FFF2-40B4-BE49-F238E27FC236}">
                <a16:creationId xmlns:a16="http://schemas.microsoft.com/office/drawing/2014/main" id="{FE854C73-E506-A7ED-9D26-876F93F15D93}"/>
              </a:ext>
            </a:extLst>
          </p:cNvPr>
          <p:cNvPicPr>
            <a:picLocks noChangeAspect="1"/>
          </p:cNvPicPr>
          <p:nvPr/>
        </p:nvPicPr>
        <p:blipFill>
          <a:blip r:embed="rId5"/>
          <a:stretch>
            <a:fillRect/>
          </a:stretch>
        </p:blipFill>
        <p:spPr>
          <a:xfrm>
            <a:off x="7446946" y="3508527"/>
            <a:ext cx="4535485" cy="2708145"/>
          </a:xfrm>
          <a:prstGeom prst="rect">
            <a:avLst/>
          </a:prstGeom>
          <a:effectLst>
            <a:glow rad="63500">
              <a:schemeClr val="accent3">
                <a:satMod val="175000"/>
                <a:alpha val="40000"/>
              </a:schemeClr>
            </a:glow>
          </a:effectLst>
        </p:spPr>
      </p:pic>
      <p:sp>
        <p:nvSpPr>
          <p:cNvPr id="4" name="Slide Number Placeholder 3">
            <a:extLst>
              <a:ext uri="{FF2B5EF4-FFF2-40B4-BE49-F238E27FC236}">
                <a16:creationId xmlns:a16="http://schemas.microsoft.com/office/drawing/2014/main" id="{87256DD3-F20A-FD50-AB9D-910548ED7994}"/>
              </a:ext>
            </a:extLst>
          </p:cNvPr>
          <p:cNvSpPr>
            <a:spLocks noGrp="1"/>
          </p:cNvSpPr>
          <p:nvPr>
            <p:ph type="sldNum" sz="quarter" idx="12"/>
          </p:nvPr>
        </p:nvSpPr>
        <p:spPr/>
        <p:txBody>
          <a:bodyPr/>
          <a:lstStyle/>
          <a:p>
            <a:fld id="{1C788548-AC4B-4945-A4F1-BA86477A7FC8}" type="slidenum">
              <a:rPr lang="en-US" smtClean="0"/>
              <a:t>11</a:t>
            </a:fld>
            <a:endParaRPr lang="en-US"/>
          </a:p>
        </p:txBody>
      </p:sp>
      <p:sp>
        <p:nvSpPr>
          <p:cNvPr id="3" name="Subtitle 2">
            <a:extLst>
              <a:ext uri="{FF2B5EF4-FFF2-40B4-BE49-F238E27FC236}">
                <a16:creationId xmlns:a16="http://schemas.microsoft.com/office/drawing/2014/main" id="{5DD04D75-5580-4918-ACD6-01E26F36A2CB}"/>
              </a:ext>
            </a:extLst>
          </p:cNvPr>
          <p:cNvSpPr>
            <a:spLocks noGrp="1"/>
          </p:cNvSpPr>
          <p:nvPr>
            <p:ph type="subTitle" idx="4294967295"/>
          </p:nvPr>
        </p:nvSpPr>
        <p:spPr>
          <a:xfrm>
            <a:off x="869442" y="213741"/>
            <a:ext cx="10512933" cy="3249234"/>
          </a:xfrm>
          <a:prstGeom prst="rect">
            <a:avLst/>
          </a:prstGeom>
        </p:spPr>
        <p:txBody>
          <a:bodyPr vert="horz" lIns="91440" tIns="45720" rIns="91440" bIns="45720" rtlCol="0" anchor="t">
            <a:normAutofit fontScale="25000" lnSpcReduction="20000"/>
          </a:bodyPr>
          <a:lstStyle/>
          <a:p>
            <a:pPr marL="0" indent="0" algn="l">
              <a:lnSpc>
                <a:spcPct val="120000"/>
              </a:lnSpc>
              <a:spcBef>
                <a:spcPts val="600"/>
              </a:spcBef>
              <a:buNone/>
            </a:pPr>
            <a:r>
              <a:rPr lang="en-US" sz="7200" b="1" dirty="0">
                <a:solidFill>
                  <a:schemeClr val="accent1">
                    <a:lumMod val="75000"/>
                  </a:schemeClr>
                </a:solidFill>
              </a:rPr>
              <a:t>IMS Administration Tool ISPF LAB Exercise 2</a:t>
            </a:r>
          </a:p>
          <a:p>
            <a:pPr marL="0" indent="0" algn="l">
              <a:lnSpc>
                <a:spcPct val="120000"/>
              </a:lnSpc>
              <a:spcBef>
                <a:spcPts val="600"/>
              </a:spcBef>
              <a:buNone/>
            </a:pPr>
            <a:r>
              <a:rPr lang="en-US" sz="6400" b="1" dirty="0"/>
              <a:t>Key Feature:</a:t>
            </a:r>
            <a:r>
              <a:rPr lang="en-US" sz="6400" dirty="0"/>
              <a:t>   </a:t>
            </a:r>
            <a:r>
              <a:rPr lang="en-US" sz="6400" b="1" dirty="0"/>
              <a:t>Database (DBD) and Application (PSB) Administration: DBD Resource Change</a:t>
            </a:r>
            <a:endParaRPr lang="en-US" sz="5600" b="1" dirty="0"/>
          </a:p>
          <a:p>
            <a:pPr marL="0" indent="0">
              <a:lnSpc>
                <a:spcPct val="120000"/>
              </a:lnSpc>
              <a:spcBef>
                <a:spcPts val="600"/>
              </a:spcBef>
              <a:buNone/>
            </a:pPr>
            <a:r>
              <a:rPr lang="en-US" sz="5600" b="1" dirty="0"/>
              <a:t>Instructions:</a:t>
            </a:r>
            <a:r>
              <a:rPr lang="en-US" sz="5600" dirty="0"/>
              <a:t>   </a:t>
            </a:r>
            <a:r>
              <a:rPr lang="en-US" sz="5600" dirty="0">
                <a:cs typeface="Calibri"/>
              </a:rPr>
              <a:t>After altering the DBD and saving your changes, you will get a message at the bottom of the screen telling you now need to do the resource change to make this effective.  </a:t>
            </a:r>
            <a:endParaRPr lang="en-US" dirty="0">
              <a:cs typeface="Calibri"/>
            </a:endParaRPr>
          </a:p>
          <a:p>
            <a:pPr marL="401638" indent="-284163">
              <a:lnSpc>
                <a:spcPct val="120000"/>
              </a:lnSpc>
              <a:spcBef>
                <a:spcPts val="300"/>
              </a:spcBef>
              <a:buFont typeface="+mj-lt"/>
              <a:buAutoNum type="arabicPeriod"/>
            </a:pPr>
            <a:r>
              <a:rPr lang="en-US" sz="5600" b="1" dirty="0">
                <a:cs typeface="Calibri"/>
              </a:rPr>
              <a:t>Press PF3 twice to go back to the "Database and Application Administration" menu.  </a:t>
            </a:r>
            <a:r>
              <a:rPr lang="en-US" sz="5600" dirty="0">
                <a:cs typeface="Calibri"/>
              </a:rPr>
              <a:t>You can also do this function under a different panel but we will do it here since the process detects changes and will prompt you to populate the changes that you made to your DBD.</a:t>
            </a:r>
            <a:endParaRPr lang="en-US" dirty="0">
              <a:cs typeface="Calibri"/>
            </a:endParaRPr>
          </a:p>
          <a:p>
            <a:pPr marL="401638" indent="-284163">
              <a:lnSpc>
                <a:spcPct val="120000"/>
              </a:lnSpc>
              <a:spcBef>
                <a:spcPts val="300"/>
              </a:spcBef>
              <a:buFont typeface="+mj-lt"/>
              <a:buAutoNum type="arabicPeriod"/>
            </a:pPr>
            <a:r>
              <a:rPr lang="en-US" sz="5600" dirty="0">
                <a:cs typeface="Calibri"/>
              </a:rPr>
              <a:t>Select "</a:t>
            </a:r>
            <a:r>
              <a:rPr lang="en-US" sz="5600" b="1" dirty="0">
                <a:cs typeface="Calibri"/>
              </a:rPr>
              <a:t>2</a:t>
            </a:r>
            <a:r>
              <a:rPr lang="en-US" sz="5600" dirty="0">
                <a:cs typeface="Calibri"/>
              </a:rPr>
              <a:t>" IMS Resource Change then press Enter.</a:t>
            </a:r>
          </a:p>
          <a:p>
            <a:pPr marL="401638" indent="-284163">
              <a:lnSpc>
                <a:spcPct val="120000"/>
              </a:lnSpc>
              <a:spcBef>
                <a:spcPts val="300"/>
              </a:spcBef>
              <a:buFont typeface="+mj-lt"/>
              <a:buAutoNum type="arabicPeriod"/>
            </a:pPr>
            <a:r>
              <a:rPr lang="en-US" sz="5600" dirty="0">
                <a:cs typeface="Calibri"/>
              </a:rPr>
              <a:t>Select "</a:t>
            </a:r>
            <a:r>
              <a:rPr lang="en-US" sz="5600" b="1" dirty="0">
                <a:cs typeface="Calibri"/>
              </a:rPr>
              <a:t>1</a:t>
            </a:r>
            <a:r>
              <a:rPr lang="en-US" sz="5600" dirty="0">
                <a:cs typeface="Calibri"/>
              </a:rPr>
              <a:t>" DBD/PSB Resource Change then press Enter. </a:t>
            </a:r>
            <a:endParaRPr lang="en-US" sz="5600" dirty="0">
              <a:cs typeface="Calibri Light"/>
            </a:endParaRPr>
          </a:p>
          <a:p>
            <a:pPr marL="401638" indent="-284163">
              <a:lnSpc>
                <a:spcPct val="120000"/>
              </a:lnSpc>
              <a:spcBef>
                <a:spcPts val="300"/>
              </a:spcBef>
              <a:buFont typeface="+mj-lt"/>
              <a:buAutoNum type="arabicPeriod"/>
            </a:pPr>
            <a:r>
              <a:rPr lang="en-US" sz="5600" dirty="0">
                <a:cs typeface="Calibri"/>
              </a:rPr>
              <a:t>Specify "</a:t>
            </a:r>
            <a:r>
              <a:rPr lang="en-US" sz="5600" b="1" dirty="0">
                <a:cs typeface="Calibri"/>
              </a:rPr>
              <a:t>1</a:t>
            </a:r>
            <a:r>
              <a:rPr lang="en-US" sz="5600" dirty="0">
                <a:cs typeface="Calibri"/>
              </a:rPr>
              <a:t>" for DBD Object Type, and you should have a filter on the </a:t>
            </a:r>
            <a:r>
              <a:rPr lang="en-US" sz="5600" dirty="0">
                <a:latin typeface="Consolas" panose="020B0609020204030204" pitchFamily="49" charset="0"/>
                <a:cs typeface="Calibri"/>
              </a:rPr>
              <a:t>ADBD00</a:t>
            </a:r>
            <a:r>
              <a:rPr lang="en-US" sz="5600" dirty="0">
                <a:cs typeface="Calibri"/>
              </a:rPr>
              <a:t> database.  Also, Specify "</a:t>
            </a:r>
            <a:r>
              <a:rPr lang="en-US" sz="5600" b="1" dirty="0">
                <a:cs typeface="Calibri"/>
              </a:rPr>
              <a:t>1</a:t>
            </a:r>
            <a:r>
              <a:rPr lang="en-US" sz="5600" dirty="0">
                <a:cs typeface="Calibri"/>
              </a:rPr>
              <a:t>" (YES) to perform a DBDGEN, Specify "</a:t>
            </a:r>
            <a:r>
              <a:rPr lang="en-US" sz="5600" b="1" dirty="0">
                <a:cs typeface="Calibri"/>
              </a:rPr>
              <a:t>3</a:t>
            </a:r>
            <a:r>
              <a:rPr lang="en-US" sz="5600" dirty="0">
                <a:cs typeface="Calibri"/>
              </a:rPr>
              <a:t>" (NO) to not perform a PSBGEN, and specify "</a:t>
            </a:r>
            <a:r>
              <a:rPr lang="en-US" sz="5600" b="1" dirty="0">
                <a:cs typeface="Calibri"/>
              </a:rPr>
              <a:t>1</a:t>
            </a:r>
            <a:r>
              <a:rPr lang="en-US" sz="5600" dirty="0">
                <a:cs typeface="Calibri"/>
              </a:rPr>
              <a:t>" (YES) to perform an ACBGEN, and finally specify "</a:t>
            </a:r>
            <a:r>
              <a:rPr lang="en-US" sz="5600" b="1" dirty="0">
                <a:cs typeface="Calibri"/>
              </a:rPr>
              <a:t>1</a:t>
            </a:r>
            <a:r>
              <a:rPr lang="en-US" sz="5600" dirty="0">
                <a:cs typeface="Calibri"/>
              </a:rPr>
              <a:t>" (YES) to perform the IMS Catalog Populate.  Then press Enter.  </a:t>
            </a:r>
            <a:endParaRPr lang="en-US" sz="5600" dirty="0">
              <a:cs typeface="Calibri Light"/>
            </a:endParaRPr>
          </a:p>
          <a:p>
            <a:pPr marL="401638" indent="-284163">
              <a:lnSpc>
                <a:spcPct val="120000"/>
              </a:lnSpc>
              <a:spcBef>
                <a:spcPts val="300"/>
              </a:spcBef>
              <a:buFont typeface="+mj-lt"/>
              <a:buAutoNum type="arabicPeriod"/>
            </a:pPr>
            <a:r>
              <a:rPr lang="en-US" sz="5600" dirty="0">
                <a:cs typeface="Calibri"/>
              </a:rPr>
              <a:t>Specify "</a:t>
            </a:r>
            <a:r>
              <a:rPr lang="en-US" sz="5600" b="1" dirty="0">
                <a:cs typeface="Calibri"/>
              </a:rPr>
              <a:t>B</a:t>
            </a:r>
            <a:r>
              <a:rPr lang="en-US" sz="5600" dirty="0">
                <a:cs typeface="Calibri"/>
              </a:rPr>
              <a:t>" to build the JCL to do the resource change.  Also, provide your </a:t>
            </a:r>
            <a:r>
              <a:rPr lang="en-US" sz="5600" b="1" dirty="0">
                <a:latin typeface="Consolas" panose="020B0609020204030204" pitchFamily="49" charset="0"/>
                <a:cs typeface="Calibri"/>
              </a:rPr>
              <a:t>DMID01.IVP1.JCLOUT</a:t>
            </a:r>
            <a:r>
              <a:rPr lang="en-US" sz="5600" dirty="0">
                <a:cs typeface="Calibri"/>
              </a:rPr>
              <a:t> data set name and the </a:t>
            </a:r>
            <a:r>
              <a:rPr lang="en-US" sz="5600" b="1" dirty="0" err="1">
                <a:cs typeface="Calibri"/>
              </a:rPr>
              <a:t>jobcard</a:t>
            </a:r>
            <a:r>
              <a:rPr lang="en-US" sz="5600" b="1" dirty="0">
                <a:cs typeface="Calibri"/>
              </a:rPr>
              <a:t> information</a:t>
            </a:r>
            <a:r>
              <a:rPr lang="en-US" sz="5600" dirty="0">
                <a:cs typeface="Calibri"/>
              </a:rPr>
              <a:t> listed below.  </a:t>
            </a:r>
            <a:r>
              <a:rPr lang="en-US" sz="5600" dirty="0">
                <a:highlight>
                  <a:srgbClr val="FFFF00"/>
                </a:highlight>
                <a:cs typeface="Calibri"/>
              </a:rPr>
              <a:t>The job card needs to be updated with CLASS, MSGCLASS, and REGION values.</a:t>
            </a:r>
            <a:r>
              <a:rPr lang="en-US" sz="5600" dirty="0">
                <a:cs typeface="Calibri"/>
              </a:rPr>
              <a:t>  Press Enter to continue.</a:t>
            </a:r>
            <a:r>
              <a:rPr lang="en-US" sz="5600" dirty="0"/>
              <a:t>         	</a:t>
            </a:r>
            <a:endParaRPr lang="en-US" sz="5600" dirty="0">
              <a:cs typeface="Calibri Light"/>
            </a:endParaRPr>
          </a:p>
        </p:txBody>
      </p:sp>
      <p:cxnSp>
        <p:nvCxnSpPr>
          <p:cNvPr id="6" name="Straight Arrow Connector 5">
            <a:extLst>
              <a:ext uri="{FF2B5EF4-FFF2-40B4-BE49-F238E27FC236}">
                <a16:creationId xmlns:a16="http://schemas.microsoft.com/office/drawing/2014/main" id="{3BBC9E82-2507-1756-A486-55906386D31E}"/>
              </a:ext>
            </a:extLst>
          </p:cNvPr>
          <p:cNvCxnSpPr>
            <a:cxnSpLocks/>
          </p:cNvCxnSpPr>
          <p:nvPr/>
        </p:nvCxnSpPr>
        <p:spPr>
          <a:xfrm>
            <a:off x="319187" y="3757039"/>
            <a:ext cx="254468"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DEFE0DE3-BBB3-9CD9-CC1F-BB292EF468FB}"/>
              </a:ext>
            </a:extLst>
          </p:cNvPr>
          <p:cNvCxnSpPr>
            <a:cxnSpLocks/>
          </p:cNvCxnSpPr>
          <p:nvPr/>
        </p:nvCxnSpPr>
        <p:spPr>
          <a:xfrm>
            <a:off x="2123612" y="4413001"/>
            <a:ext cx="274320"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4D979E74-0762-0D28-D462-C1651D2CBA08}"/>
              </a:ext>
            </a:extLst>
          </p:cNvPr>
          <p:cNvCxnSpPr>
            <a:cxnSpLocks/>
          </p:cNvCxnSpPr>
          <p:nvPr/>
        </p:nvCxnSpPr>
        <p:spPr>
          <a:xfrm>
            <a:off x="4065609" y="4809095"/>
            <a:ext cx="274320"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70F729AE-6B7F-FD3C-FDAA-27B8B6595AEA}"/>
              </a:ext>
            </a:extLst>
          </p:cNvPr>
          <p:cNvCxnSpPr>
            <a:cxnSpLocks/>
          </p:cNvCxnSpPr>
          <p:nvPr/>
        </p:nvCxnSpPr>
        <p:spPr>
          <a:xfrm>
            <a:off x="4101763" y="5944600"/>
            <a:ext cx="274320"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8D46CBB5-CC6D-BB81-A613-BC3F1D4FB7B7}"/>
              </a:ext>
            </a:extLst>
          </p:cNvPr>
          <p:cNvCxnSpPr>
            <a:cxnSpLocks/>
          </p:cNvCxnSpPr>
          <p:nvPr/>
        </p:nvCxnSpPr>
        <p:spPr>
          <a:xfrm>
            <a:off x="7229119" y="4578518"/>
            <a:ext cx="274320"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6660BB92-9167-35D2-51A4-32AC1D1D9F71}"/>
              </a:ext>
            </a:extLst>
          </p:cNvPr>
          <p:cNvCxnSpPr>
            <a:cxnSpLocks/>
          </p:cNvCxnSpPr>
          <p:nvPr/>
        </p:nvCxnSpPr>
        <p:spPr>
          <a:xfrm>
            <a:off x="7322972" y="5335507"/>
            <a:ext cx="274320"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E4795D94-B64E-D2F3-00B6-D1662B2A4A58}"/>
              </a:ext>
            </a:extLst>
          </p:cNvPr>
          <p:cNvCxnSpPr>
            <a:cxnSpLocks/>
          </p:cNvCxnSpPr>
          <p:nvPr/>
        </p:nvCxnSpPr>
        <p:spPr>
          <a:xfrm>
            <a:off x="7565971" y="5718826"/>
            <a:ext cx="274320"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525CE959-7980-4D3F-4771-C690C8B90581}"/>
              </a:ext>
            </a:extLst>
          </p:cNvPr>
          <p:cNvCxnSpPr>
            <a:cxnSpLocks/>
          </p:cNvCxnSpPr>
          <p:nvPr/>
        </p:nvCxnSpPr>
        <p:spPr>
          <a:xfrm>
            <a:off x="4101763" y="6071122"/>
            <a:ext cx="274320"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0A98E282-F2BB-11E5-FB81-185485AADB85}"/>
              </a:ext>
            </a:extLst>
          </p:cNvPr>
          <p:cNvCxnSpPr>
            <a:cxnSpLocks/>
          </p:cNvCxnSpPr>
          <p:nvPr/>
        </p:nvCxnSpPr>
        <p:spPr>
          <a:xfrm>
            <a:off x="4101763" y="6206270"/>
            <a:ext cx="274320"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2D0456B5-D06A-20E0-79FA-850403443521}"/>
              </a:ext>
            </a:extLst>
          </p:cNvPr>
          <p:cNvCxnSpPr>
            <a:cxnSpLocks/>
          </p:cNvCxnSpPr>
          <p:nvPr/>
        </p:nvCxnSpPr>
        <p:spPr>
          <a:xfrm>
            <a:off x="4101763" y="5812328"/>
            <a:ext cx="274320"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685743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5DD04D75-5580-4918-ACD6-01E26F36A2CB}"/>
              </a:ext>
            </a:extLst>
          </p:cNvPr>
          <p:cNvSpPr>
            <a:spLocks noGrp="1"/>
          </p:cNvSpPr>
          <p:nvPr>
            <p:ph type="subTitle" idx="4294967295"/>
          </p:nvPr>
        </p:nvSpPr>
        <p:spPr>
          <a:xfrm>
            <a:off x="573087" y="209550"/>
            <a:ext cx="10391829" cy="1981857"/>
          </a:xfrm>
          <a:prstGeom prst="rect">
            <a:avLst/>
          </a:prstGeom>
        </p:spPr>
        <p:txBody>
          <a:bodyPr vert="horz" lIns="91440" tIns="45720" rIns="91440" bIns="45720" rtlCol="0" anchor="t">
            <a:normAutofit fontScale="55000" lnSpcReduction="20000"/>
          </a:bodyPr>
          <a:lstStyle/>
          <a:p>
            <a:pPr marL="0" indent="0">
              <a:lnSpc>
                <a:spcPct val="120000"/>
              </a:lnSpc>
              <a:spcBef>
                <a:spcPts val="600"/>
              </a:spcBef>
              <a:buNone/>
            </a:pPr>
            <a:r>
              <a:rPr lang="en-US" sz="4400" b="1" dirty="0">
                <a:solidFill>
                  <a:schemeClr val="accent1">
                    <a:lumMod val="75000"/>
                  </a:schemeClr>
                </a:solidFill>
              </a:rPr>
              <a:t>IMS Administration Tool ISPF LAB Exercise 2 </a:t>
            </a:r>
          </a:p>
          <a:p>
            <a:pPr marL="0" indent="0" algn="l">
              <a:lnSpc>
                <a:spcPct val="120000"/>
              </a:lnSpc>
              <a:spcBef>
                <a:spcPts val="600"/>
              </a:spcBef>
              <a:buNone/>
            </a:pPr>
            <a:r>
              <a:rPr lang="en-US" sz="3300" b="1" dirty="0"/>
              <a:t>Key Feature:  DBD Resource Change:  View messages/options to be used in JCL Generation</a:t>
            </a:r>
          </a:p>
          <a:p>
            <a:pPr marL="0" indent="0" algn="l">
              <a:lnSpc>
                <a:spcPct val="120000"/>
              </a:lnSpc>
              <a:spcBef>
                <a:spcPts val="600"/>
              </a:spcBef>
              <a:buNone/>
            </a:pPr>
            <a:r>
              <a:rPr lang="en-US" sz="3300" b="1" dirty="0"/>
              <a:t>Description:  </a:t>
            </a:r>
            <a:r>
              <a:rPr lang="en-US" sz="3300" dirty="0"/>
              <a:t>These are the options generated, based on your previous selection, that will be used to generate the JCL.  It gives you messages on whether it was successful.   </a:t>
            </a:r>
          </a:p>
          <a:p>
            <a:pPr marL="0" indent="0" algn="l">
              <a:lnSpc>
                <a:spcPct val="120000"/>
              </a:lnSpc>
              <a:spcBef>
                <a:spcPts val="600"/>
              </a:spcBef>
              <a:buNone/>
            </a:pPr>
            <a:r>
              <a:rPr lang="en-US" sz="3300" b="1" dirty="0"/>
              <a:t>Instructions:</a:t>
            </a:r>
            <a:r>
              <a:rPr lang="en-US" sz="3300" dirty="0"/>
              <a:t>  Scroll down to see all messages and then </a:t>
            </a:r>
            <a:r>
              <a:rPr lang="en-US" sz="3300" dirty="0">
                <a:highlight>
                  <a:srgbClr val="FFFF00"/>
                </a:highlight>
              </a:rPr>
              <a:t>press PF3</a:t>
            </a:r>
            <a:r>
              <a:rPr lang="en-US" sz="3300" dirty="0"/>
              <a:t> to see the generated JCL.</a:t>
            </a:r>
          </a:p>
        </p:txBody>
      </p:sp>
      <p:sp>
        <p:nvSpPr>
          <p:cNvPr id="5" name="Slide Number Placeholder 4">
            <a:extLst>
              <a:ext uri="{FF2B5EF4-FFF2-40B4-BE49-F238E27FC236}">
                <a16:creationId xmlns:a16="http://schemas.microsoft.com/office/drawing/2014/main" id="{D426B34D-8C74-6D7D-ABC3-69025C2253B6}"/>
              </a:ext>
            </a:extLst>
          </p:cNvPr>
          <p:cNvSpPr>
            <a:spLocks noGrp="1"/>
          </p:cNvSpPr>
          <p:nvPr>
            <p:ph type="sldNum" sz="quarter" idx="12"/>
          </p:nvPr>
        </p:nvSpPr>
        <p:spPr/>
        <p:txBody>
          <a:bodyPr/>
          <a:lstStyle/>
          <a:p>
            <a:fld id="{1C788548-AC4B-4945-A4F1-BA86477A7FC8}" type="slidenum">
              <a:rPr lang="en-US" smtClean="0"/>
              <a:t>12</a:t>
            </a:fld>
            <a:endParaRPr lang="en-US"/>
          </a:p>
        </p:txBody>
      </p:sp>
      <p:pic>
        <p:nvPicPr>
          <p:cNvPr id="8" name="Picture 7">
            <a:extLst>
              <a:ext uri="{FF2B5EF4-FFF2-40B4-BE49-F238E27FC236}">
                <a16:creationId xmlns:a16="http://schemas.microsoft.com/office/drawing/2014/main" id="{C672A753-7F8B-4756-7D95-22B94F13EB07}"/>
              </a:ext>
            </a:extLst>
          </p:cNvPr>
          <p:cNvPicPr>
            <a:picLocks noChangeAspect="1"/>
          </p:cNvPicPr>
          <p:nvPr/>
        </p:nvPicPr>
        <p:blipFill>
          <a:blip r:embed="rId3"/>
          <a:stretch>
            <a:fillRect/>
          </a:stretch>
        </p:blipFill>
        <p:spPr>
          <a:xfrm>
            <a:off x="504080" y="2013122"/>
            <a:ext cx="4925113" cy="3143689"/>
          </a:xfrm>
          <a:prstGeom prst="rect">
            <a:avLst/>
          </a:prstGeom>
          <a:effectLst>
            <a:glow rad="63500">
              <a:schemeClr val="accent3">
                <a:satMod val="175000"/>
                <a:alpha val="40000"/>
              </a:schemeClr>
            </a:glow>
          </a:effectLst>
        </p:spPr>
      </p:pic>
      <p:pic>
        <p:nvPicPr>
          <p:cNvPr id="10" name="Picture 9">
            <a:extLst>
              <a:ext uri="{FF2B5EF4-FFF2-40B4-BE49-F238E27FC236}">
                <a16:creationId xmlns:a16="http://schemas.microsoft.com/office/drawing/2014/main" id="{6383975E-D94A-E8FE-7E93-0855D1A9BCD1}"/>
              </a:ext>
            </a:extLst>
          </p:cNvPr>
          <p:cNvPicPr>
            <a:picLocks noChangeAspect="1"/>
          </p:cNvPicPr>
          <p:nvPr/>
        </p:nvPicPr>
        <p:blipFill>
          <a:blip r:embed="rId4"/>
          <a:stretch>
            <a:fillRect/>
          </a:stretch>
        </p:blipFill>
        <p:spPr>
          <a:xfrm>
            <a:off x="3071563" y="2226429"/>
            <a:ext cx="4929876" cy="3005557"/>
          </a:xfrm>
          <a:prstGeom prst="rect">
            <a:avLst/>
          </a:prstGeom>
          <a:effectLst>
            <a:glow rad="63500">
              <a:schemeClr val="accent3">
                <a:satMod val="175000"/>
                <a:alpha val="40000"/>
              </a:schemeClr>
            </a:glow>
          </a:effectLst>
        </p:spPr>
      </p:pic>
      <p:pic>
        <p:nvPicPr>
          <p:cNvPr id="12" name="Picture 11">
            <a:extLst>
              <a:ext uri="{FF2B5EF4-FFF2-40B4-BE49-F238E27FC236}">
                <a16:creationId xmlns:a16="http://schemas.microsoft.com/office/drawing/2014/main" id="{AF870B82-B24B-743E-1F17-5EED4C3A5B71}"/>
              </a:ext>
            </a:extLst>
          </p:cNvPr>
          <p:cNvPicPr>
            <a:picLocks noChangeAspect="1"/>
          </p:cNvPicPr>
          <p:nvPr/>
        </p:nvPicPr>
        <p:blipFill>
          <a:blip r:embed="rId5"/>
          <a:stretch>
            <a:fillRect/>
          </a:stretch>
        </p:blipFill>
        <p:spPr>
          <a:xfrm>
            <a:off x="6280402" y="2341589"/>
            <a:ext cx="4929876" cy="3038899"/>
          </a:xfrm>
          <a:prstGeom prst="rect">
            <a:avLst/>
          </a:prstGeom>
          <a:effectLst>
            <a:glow rad="63500">
              <a:schemeClr val="accent3">
                <a:satMod val="175000"/>
                <a:alpha val="40000"/>
              </a:schemeClr>
            </a:glow>
          </a:effectLst>
        </p:spPr>
      </p:pic>
      <p:pic>
        <p:nvPicPr>
          <p:cNvPr id="14" name="Picture 13">
            <a:extLst>
              <a:ext uri="{FF2B5EF4-FFF2-40B4-BE49-F238E27FC236}">
                <a16:creationId xmlns:a16="http://schemas.microsoft.com/office/drawing/2014/main" id="{5AAD7D00-C2D2-01A8-6826-03EBC4DCDAD6}"/>
              </a:ext>
            </a:extLst>
          </p:cNvPr>
          <p:cNvPicPr>
            <a:picLocks noChangeAspect="1"/>
          </p:cNvPicPr>
          <p:nvPr/>
        </p:nvPicPr>
        <p:blipFill>
          <a:blip r:embed="rId6"/>
          <a:stretch>
            <a:fillRect/>
          </a:stretch>
        </p:blipFill>
        <p:spPr>
          <a:xfrm>
            <a:off x="6899064" y="5380488"/>
            <a:ext cx="4920349" cy="1071712"/>
          </a:xfrm>
          <a:prstGeom prst="rect">
            <a:avLst/>
          </a:prstGeom>
          <a:effectLst>
            <a:glow rad="63500">
              <a:schemeClr val="accent3">
                <a:satMod val="175000"/>
                <a:alpha val="40000"/>
              </a:schemeClr>
            </a:glow>
          </a:effectLst>
        </p:spPr>
      </p:pic>
    </p:spTree>
    <p:extLst>
      <p:ext uri="{BB962C8B-B14F-4D97-AF65-F5344CB8AC3E}">
        <p14:creationId xmlns:p14="http://schemas.microsoft.com/office/powerpoint/2010/main" val="15158774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7E4C6933-554F-007D-E5D5-29F88E5B7724}"/>
              </a:ext>
            </a:extLst>
          </p:cNvPr>
          <p:cNvPicPr>
            <a:picLocks noChangeAspect="1"/>
          </p:cNvPicPr>
          <p:nvPr/>
        </p:nvPicPr>
        <p:blipFill>
          <a:blip r:embed="rId3"/>
          <a:stretch>
            <a:fillRect/>
          </a:stretch>
        </p:blipFill>
        <p:spPr>
          <a:xfrm>
            <a:off x="468313" y="2264307"/>
            <a:ext cx="4329907" cy="2774829"/>
          </a:xfrm>
          <a:prstGeom prst="rect">
            <a:avLst/>
          </a:prstGeom>
          <a:effectLst>
            <a:glow rad="63500">
              <a:schemeClr val="accent3">
                <a:satMod val="175000"/>
                <a:alpha val="40000"/>
              </a:schemeClr>
            </a:glow>
          </a:effectLst>
        </p:spPr>
      </p:pic>
      <p:pic>
        <p:nvPicPr>
          <p:cNvPr id="11" name="Picture 10">
            <a:extLst>
              <a:ext uri="{FF2B5EF4-FFF2-40B4-BE49-F238E27FC236}">
                <a16:creationId xmlns:a16="http://schemas.microsoft.com/office/drawing/2014/main" id="{27248817-9271-C424-8B90-BD7B6C3E2CBD}"/>
              </a:ext>
            </a:extLst>
          </p:cNvPr>
          <p:cNvPicPr>
            <a:picLocks noChangeAspect="1"/>
          </p:cNvPicPr>
          <p:nvPr/>
        </p:nvPicPr>
        <p:blipFill>
          <a:blip r:embed="rId4"/>
          <a:stretch>
            <a:fillRect/>
          </a:stretch>
        </p:blipFill>
        <p:spPr>
          <a:xfrm>
            <a:off x="3649126" y="2713738"/>
            <a:ext cx="4329907" cy="2774829"/>
          </a:xfrm>
          <a:prstGeom prst="rect">
            <a:avLst/>
          </a:prstGeom>
          <a:effectLst>
            <a:glow rad="63500">
              <a:schemeClr val="accent3">
                <a:satMod val="175000"/>
                <a:alpha val="40000"/>
              </a:schemeClr>
            </a:glow>
          </a:effectLst>
        </p:spPr>
      </p:pic>
      <p:sp>
        <p:nvSpPr>
          <p:cNvPr id="3" name="Subtitle 2">
            <a:extLst>
              <a:ext uri="{FF2B5EF4-FFF2-40B4-BE49-F238E27FC236}">
                <a16:creationId xmlns:a16="http://schemas.microsoft.com/office/drawing/2014/main" id="{5DD04D75-5580-4918-ACD6-01E26F36A2CB}"/>
              </a:ext>
            </a:extLst>
          </p:cNvPr>
          <p:cNvSpPr>
            <a:spLocks noGrp="1"/>
          </p:cNvSpPr>
          <p:nvPr>
            <p:ph type="subTitle" idx="4294967295"/>
          </p:nvPr>
        </p:nvSpPr>
        <p:spPr>
          <a:xfrm>
            <a:off x="597408" y="110998"/>
            <a:ext cx="11221212" cy="2153308"/>
          </a:xfrm>
          <a:prstGeom prst="rect">
            <a:avLst/>
          </a:prstGeom>
        </p:spPr>
        <p:txBody>
          <a:bodyPr vert="horz" lIns="91440" tIns="45720" rIns="91440" bIns="45720" rtlCol="0" anchor="t">
            <a:normAutofit fontScale="85000" lnSpcReduction="20000"/>
          </a:bodyPr>
          <a:lstStyle/>
          <a:p>
            <a:pPr marL="0" indent="0">
              <a:lnSpc>
                <a:spcPct val="120000"/>
              </a:lnSpc>
              <a:spcBef>
                <a:spcPts val="600"/>
              </a:spcBef>
              <a:buNone/>
            </a:pPr>
            <a:r>
              <a:rPr lang="en-US" b="1" dirty="0">
                <a:solidFill>
                  <a:schemeClr val="accent1">
                    <a:lumMod val="75000"/>
                  </a:schemeClr>
                </a:solidFill>
              </a:rPr>
              <a:t>IMS Administration Tool ISPF LAB Exercise 2</a:t>
            </a:r>
            <a:r>
              <a:rPr lang="en-US" sz="2400" b="1" dirty="0">
                <a:solidFill>
                  <a:schemeClr val="accent1">
                    <a:lumMod val="75000"/>
                  </a:schemeClr>
                </a:solidFill>
              </a:rPr>
              <a:t> </a:t>
            </a:r>
          </a:p>
          <a:p>
            <a:pPr marL="0" indent="0" algn="l">
              <a:lnSpc>
                <a:spcPct val="120000"/>
              </a:lnSpc>
              <a:spcBef>
                <a:spcPts val="600"/>
              </a:spcBef>
              <a:buNone/>
            </a:pPr>
            <a:r>
              <a:rPr lang="en-US" sz="2100" b="1" dirty="0"/>
              <a:t>Key Feature:  DBD Resource Change:  Edit and SAVE generated JCL.</a:t>
            </a:r>
          </a:p>
          <a:p>
            <a:pPr marL="0" indent="0">
              <a:lnSpc>
                <a:spcPct val="120000"/>
              </a:lnSpc>
              <a:spcBef>
                <a:spcPts val="600"/>
              </a:spcBef>
              <a:buNone/>
            </a:pPr>
            <a:r>
              <a:rPr lang="en-US" sz="2100" b="1" dirty="0"/>
              <a:t>Description:  </a:t>
            </a:r>
            <a:r>
              <a:rPr lang="en-US" sz="2100" dirty="0"/>
              <a:t>You should now see the generated JCL that will contain one simple STEP to do the DBDGEN, ACBGEN, and Resource Change.</a:t>
            </a:r>
          </a:p>
          <a:p>
            <a:pPr marL="0" indent="0">
              <a:lnSpc>
                <a:spcPct val="120000"/>
              </a:lnSpc>
              <a:spcBef>
                <a:spcPts val="600"/>
              </a:spcBef>
              <a:buNone/>
            </a:pPr>
            <a:r>
              <a:rPr lang="en-US" sz="2100" b="1" dirty="0"/>
              <a:t>Instructions:</a:t>
            </a:r>
            <a:r>
              <a:rPr lang="en-US" sz="2100" dirty="0"/>
              <a:t>  </a:t>
            </a:r>
            <a:r>
              <a:rPr lang="en-US" sz="2100" dirty="0">
                <a:cs typeface="Calibri Light"/>
              </a:rPr>
              <a:t>“SAVE” the JCL (you can optionally scroll down to the see what was generated).  Then, press </a:t>
            </a:r>
            <a:r>
              <a:rPr lang="en-US" sz="2100" b="1" dirty="0">
                <a:cs typeface="Calibri Light"/>
              </a:rPr>
              <a:t>PF3</a:t>
            </a:r>
            <a:r>
              <a:rPr lang="en-US" sz="2100" dirty="0">
                <a:cs typeface="Calibri Light"/>
              </a:rPr>
              <a:t>. You will be prompted to Execute the JCL.  For the purposes of this exercise, Specify “</a:t>
            </a:r>
            <a:r>
              <a:rPr lang="en-US" sz="2100" b="1" dirty="0">
                <a:highlight>
                  <a:srgbClr val="FFFF00"/>
                </a:highlight>
                <a:cs typeface="Calibri Light"/>
              </a:rPr>
              <a:t>N</a:t>
            </a:r>
            <a:r>
              <a:rPr lang="en-US" sz="2100" dirty="0">
                <a:cs typeface="Calibri Light"/>
              </a:rPr>
              <a:t>” and press Enter.</a:t>
            </a:r>
            <a:endParaRPr lang="en-US" sz="1400" dirty="0"/>
          </a:p>
        </p:txBody>
      </p:sp>
      <p:sp>
        <p:nvSpPr>
          <p:cNvPr id="4" name="Slide Number Placeholder 3">
            <a:extLst>
              <a:ext uri="{FF2B5EF4-FFF2-40B4-BE49-F238E27FC236}">
                <a16:creationId xmlns:a16="http://schemas.microsoft.com/office/drawing/2014/main" id="{8B804142-F83F-E215-6E99-9E7639BEB152}"/>
              </a:ext>
            </a:extLst>
          </p:cNvPr>
          <p:cNvSpPr>
            <a:spLocks noGrp="1"/>
          </p:cNvSpPr>
          <p:nvPr>
            <p:ph type="sldNum" sz="quarter" idx="12"/>
          </p:nvPr>
        </p:nvSpPr>
        <p:spPr/>
        <p:txBody>
          <a:bodyPr/>
          <a:lstStyle/>
          <a:p>
            <a:fld id="{1C788548-AC4B-4945-A4F1-BA86477A7FC8}" type="slidenum">
              <a:rPr lang="en-US" smtClean="0"/>
              <a:t>13</a:t>
            </a:fld>
            <a:endParaRPr lang="en-US"/>
          </a:p>
        </p:txBody>
      </p:sp>
      <p:pic>
        <p:nvPicPr>
          <p:cNvPr id="13" name="Picture 12">
            <a:extLst>
              <a:ext uri="{FF2B5EF4-FFF2-40B4-BE49-F238E27FC236}">
                <a16:creationId xmlns:a16="http://schemas.microsoft.com/office/drawing/2014/main" id="{498BF75F-9323-CE4F-8118-6CE3C402F515}"/>
              </a:ext>
            </a:extLst>
          </p:cNvPr>
          <p:cNvPicPr>
            <a:picLocks noChangeAspect="1"/>
          </p:cNvPicPr>
          <p:nvPr/>
        </p:nvPicPr>
        <p:blipFill>
          <a:blip r:embed="rId5"/>
          <a:stretch>
            <a:fillRect/>
          </a:stretch>
        </p:blipFill>
        <p:spPr>
          <a:xfrm>
            <a:off x="6137179" y="3287859"/>
            <a:ext cx="4342482" cy="2779021"/>
          </a:xfrm>
          <a:prstGeom prst="rect">
            <a:avLst/>
          </a:prstGeom>
          <a:effectLst>
            <a:glow rad="63500">
              <a:schemeClr val="accent3">
                <a:satMod val="175000"/>
                <a:alpha val="40000"/>
              </a:schemeClr>
            </a:glow>
          </a:effectLst>
        </p:spPr>
      </p:pic>
      <p:pic>
        <p:nvPicPr>
          <p:cNvPr id="17" name="Picture 16">
            <a:extLst>
              <a:ext uri="{FF2B5EF4-FFF2-40B4-BE49-F238E27FC236}">
                <a16:creationId xmlns:a16="http://schemas.microsoft.com/office/drawing/2014/main" id="{9C248F5C-511B-34DE-82CB-B27FD6FDD3B1}"/>
              </a:ext>
            </a:extLst>
          </p:cNvPr>
          <p:cNvPicPr>
            <a:picLocks noChangeAspect="1"/>
          </p:cNvPicPr>
          <p:nvPr/>
        </p:nvPicPr>
        <p:blipFill>
          <a:blip r:embed="rId6"/>
          <a:stretch>
            <a:fillRect/>
          </a:stretch>
        </p:blipFill>
        <p:spPr>
          <a:xfrm>
            <a:off x="7694279" y="4903966"/>
            <a:ext cx="4317332" cy="1458672"/>
          </a:xfrm>
          <a:prstGeom prst="rect">
            <a:avLst/>
          </a:prstGeom>
          <a:effectLst>
            <a:glow rad="63500">
              <a:schemeClr val="accent3">
                <a:satMod val="175000"/>
                <a:alpha val="40000"/>
              </a:schemeClr>
            </a:glow>
          </a:effectLst>
        </p:spPr>
      </p:pic>
      <p:cxnSp>
        <p:nvCxnSpPr>
          <p:cNvPr id="18" name="Straight Arrow Connector 17">
            <a:extLst>
              <a:ext uri="{FF2B5EF4-FFF2-40B4-BE49-F238E27FC236}">
                <a16:creationId xmlns:a16="http://schemas.microsoft.com/office/drawing/2014/main" id="{478CEE59-856B-734C-1141-B3022F34FF52}"/>
              </a:ext>
            </a:extLst>
          </p:cNvPr>
          <p:cNvCxnSpPr>
            <a:cxnSpLocks/>
          </p:cNvCxnSpPr>
          <p:nvPr/>
        </p:nvCxnSpPr>
        <p:spPr>
          <a:xfrm>
            <a:off x="7392843" y="5082266"/>
            <a:ext cx="254468"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198157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a:extLst>
              <a:ext uri="{FF2B5EF4-FFF2-40B4-BE49-F238E27FC236}">
                <a16:creationId xmlns:a16="http://schemas.microsoft.com/office/drawing/2014/main" id="{67F1EF74-583C-4685-827A-DC7986FB144B}"/>
              </a:ext>
            </a:extLst>
          </p:cNvPr>
          <p:cNvSpPr txBox="1">
            <a:spLocks/>
          </p:cNvSpPr>
          <p:nvPr/>
        </p:nvSpPr>
        <p:spPr>
          <a:xfrm>
            <a:off x="433674" y="93849"/>
            <a:ext cx="11648598" cy="655013"/>
          </a:xfrm>
          <a:prstGeom prst="rect">
            <a:avLst/>
          </a:prstGeom>
        </p:spPr>
        <p:txBody>
          <a:bodyPr lIns="91440" tIns="45720" rIns="91440" bIns="4572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b="1" dirty="0">
                <a:solidFill>
                  <a:schemeClr val="accent1">
                    <a:lumMod val="75000"/>
                  </a:schemeClr>
                </a:solidFill>
              </a:rPr>
              <a:t>IMS Administration Tool ISPF LAB Exercise 2 </a:t>
            </a:r>
          </a:p>
        </p:txBody>
      </p:sp>
      <p:sp>
        <p:nvSpPr>
          <p:cNvPr id="5" name="TextBox 4">
            <a:extLst>
              <a:ext uri="{FF2B5EF4-FFF2-40B4-BE49-F238E27FC236}">
                <a16:creationId xmlns:a16="http://schemas.microsoft.com/office/drawing/2014/main" id="{EC8429E0-BE75-465E-ADA6-92D5F0596F35}"/>
              </a:ext>
            </a:extLst>
          </p:cNvPr>
          <p:cNvSpPr txBox="1"/>
          <p:nvPr/>
        </p:nvSpPr>
        <p:spPr>
          <a:xfrm>
            <a:off x="428708" y="4535424"/>
            <a:ext cx="11291551" cy="923330"/>
          </a:xfrm>
          <a:prstGeom prst="rect">
            <a:avLst/>
          </a:prstGeom>
          <a:noFill/>
          <a:ln>
            <a:solidFill>
              <a:schemeClr val="accent1"/>
            </a:solidFill>
          </a:ln>
        </p:spPr>
        <p:txBody>
          <a:bodyPr wrap="square" lIns="91440" tIns="45720" rIns="91440" bIns="45720" rtlCol="0" anchor="t">
            <a:spAutoFit/>
          </a:bodyPr>
          <a:lstStyle/>
          <a:p>
            <a:pPr>
              <a:spcBef>
                <a:spcPts val="600"/>
              </a:spcBef>
            </a:pPr>
            <a:r>
              <a:rPr lang="en-US" b="1" dirty="0">
                <a:latin typeface="Calibri (Body)"/>
              </a:rPr>
              <a:t>Note:</a:t>
            </a:r>
            <a:r>
              <a:rPr lang="en-US" dirty="0">
                <a:latin typeface="Calibri (Body)"/>
              </a:rPr>
              <a:t>  When using the </a:t>
            </a:r>
            <a:r>
              <a:rPr lang="en-US" dirty="0">
                <a:latin typeface="Consolas" panose="020B0609020204030204" pitchFamily="49" charset="0"/>
              </a:rPr>
              <a:t>NAME</a:t>
            </a:r>
            <a:r>
              <a:rPr lang="en-US" dirty="0">
                <a:latin typeface="Calibri (Body)"/>
              </a:rPr>
              <a:t> keyword on the IMS IMPORT command to restrict the population to specific objects only vs. populating “every object from the staging” to the active, you must have the following IMSV15 PTF/APAR applied to your IMSV15 RESLIB:  APAR PI83433 / PTF UI65332.</a:t>
            </a:r>
            <a:endParaRPr lang="en-US" dirty="0">
              <a:solidFill>
                <a:srgbClr val="FF0000"/>
              </a:solidFill>
              <a:latin typeface="Calibri (Body)"/>
            </a:endParaRPr>
          </a:p>
        </p:txBody>
      </p:sp>
      <p:sp>
        <p:nvSpPr>
          <p:cNvPr id="6" name="Rectangle 5">
            <a:extLst>
              <a:ext uri="{FF2B5EF4-FFF2-40B4-BE49-F238E27FC236}">
                <a16:creationId xmlns:a16="http://schemas.microsoft.com/office/drawing/2014/main" id="{0F9EF8EF-DEDF-4E5C-A9B8-4AAC2283F6D1}"/>
              </a:ext>
            </a:extLst>
          </p:cNvPr>
          <p:cNvSpPr/>
          <p:nvPr/>
        </p:nvSpPr>
        <p:spPr>
          <a:xfrm>
            <a:off x="451866" y="851005"/>
            <a:ext cx="10741651" cy="3216265"/>
          </a:xfrm>
          <a:prstGeom prst="rect">
            <a:avLst/>
          </a:prstGeom>
          <a:ln>
            <a:solidFill>
              <a:schemeClr val="accent1"/>
            </a:solidFill>
          </a:ln>
        </p:spPr>
        <p:txBody>
          <a:bodyPr wrap="square" lIns="91440" tIns="45720" rIns="91440" bIns="45720" anchor="t">
            <a:spAutoFit/>
          </a:bodyPr>
          <a:lstStyle/>
          <a:p>
            <a:r>
              <a:rPr lang="en-US" b="1" dirty="0">
                <a:latin typeface="Calibri (Body)"/>
              </a:rPr>
              <a:t>Populating your IMS Catalog “ACTIVE” Directory</a:t>
            </a:r>
          </a:p>
          <a:p>
            <a:endParaRPr lang="en-US" b="1" dirty="0">
              <a:latin typeface="Calibri (Body)"/>
            </a:endParaRPr>
          </a:p>
          <a:p>
            <a:r>
              <a:rPr lang="en-US" b="1" dirty="0">
                <a:latin typeface="Calibri (Body)"/>
              </a:rPr>
              <a:t>Description:</a:t>
            </a:r>
            <a:r>
              <a:rPr lang="en-US" dirty="0">
                <a:latin typeface="Calibri (Body)"/>
              </a:rPr>
              <a:t>  Normally after exporting/importing multiple DBD and/or PSB objects, you would then need to manually update the “Active” directory data sets also since IMS Administration Tool will only populate the changes to the “Staging” Directory data sets.  In order to populate the active Directory data sets, you would need to either run a SPOC job, issue an </a:t>
            </a:r>
            <a:r>
              <a:rPr lang="en-US" dirty="0">
                <a:latin typeface="Consolas" panose="020B0609020204030204" pitchFamily="49" charset="0"/>
              </a:rPr>
              <a:t>IMPORT</a:t>
            </a:r>
            <a:r>
              <a:rPr lang="en-US" dirty="0">
                <a:latin typeface="Calibri (Body)"/>
              </a:rPr>
              <a:t> IMS command, or use IBM IMS High Performance System Generation tool to do this function.  The following </a:t>
            </a:r>
            <a:r>
              <a:rPr lang="en-US" dirty="0">
                <a:latin typeface="Consolas" panose="020B0609020204030204" pitchFamily="49" charset="0"/>
              </a:rPr>
              <a:t>IMPORT</a:t>
            </a:r>
            <a:r>
              <a:rPr lang="en-US" dirty="0">
                <a:latin typeface="Calibri (Body)"/>
              </a:rPr>
              <a:t> command statement shows parameters that are needed:</a:t>
            </a:r>
            <a:endParaRPr lang="en-US" dirty="0">
              <a:latin typeface="Calibri (Body)"/>
              <a:cs typeface="Calibri"/>
            </a:endParaRPr>
          </a:p>
          <a:p>
            <a:pPr lvl="1">
              <a:spcBef>
                <a:spcPts val="600"/>
              </a:spcBef>
            </a:pPr>
            <a:r>
              <a:rPr lang="en-US" b="1" dirty="0">
                <a:latin typeface="Consolas" panose="020B0609020204030204" pitchFamily="49" charset="0"/>
              </a:rPr>
              <a:t>IMPORT DEFN </a:t>
            </a:r>
            <a:r>
              <a:rPr lang="en-US" b="1" dirty="0">
                <a:highlight>
                  <a:srgbClr val="FFFF00"/>
                </a:highlight>
                <a:latin typeface="Consolas" panose="020B0609020204030204" pitchFamily="49" charset="0"/>
              </a:rPr>
              <a:t>NAME(</a:t>
            </a:r>
            <a:r>
              <a:rPr lang="en-US" i="1" dirty="0" err="1">
                <a:highlight>
                  <a:srgbClr val="FFFF00"/>
                </a:highlight>
                <a:latin typeface="Consolas" panose="020B0609020204030204" pitchFamily="49" charset="0"/>
              </a:rPr>
              <a:t>dbdname</a:t>
            </a:r>
            <a:r>
              <a:rPr lang="en-US" i="1" dirty="0">
                <a:highlight>
                  <a:srgbClr val="FFFF00"/>
                </a:highlight>
                <a:latin typeface="Consolas" panose="020B0609020204030204" pitchFamily="49" charset="0"/>
              </a:rPr>
              <a:t> or </a:t>
            </a:r>
            <a:r>
              <a:rPr lang="en-US" i="1" dirty="0" err="1">
                <a:highlight>
                  <a:srgbClr val="FFFF00"/>
                </a:highlight>
                <a:latin typeface="Consolas" panose="020B0609020204030204" pitchFamily="49" charset="0"/>
              </a:rPr>
              <a:t>psbname</a:t>
            </a:r>
            <a:r>
              <a:rPr lang="en-US" b="1" dirty="0">
                <a:highlight>
                  <a:srgbClr val="FFFF00"/>
                </a:highlight>
                <a:latin typeface="Consolas" panose="020B0609020204030204" pitchFamily="49" charset="0"/>
              </a:rPr>
              <a:t>)</a:t>
            </a:r>
            <a:r>
              <a:rPr lang="en-US" b="1" dirty="0">
                <a:latin typeface="Consolas" panose="020B0609020204030204" pitchFamily="49" charset="0"/>
              </a:rPr>
              <a:t> SOURCE(CATALOG)</a:t>
            </a:r>
            <a:r>
              <a:rPr lang="en-US" dirty="0">
                <a:latin typeface="Consolas" panose="020B0609020204030204" pitchFamily="49" charset="0"/>
              </a:rPr>
              <a:t>  </a:t>
            </a:r>
          </a:p>
          <a:p>
            <a:endParaRPr lang="en-US" b="1" dirty="0">
              <a:latin typeface="Calibri (Body)"/>
            </a:endParaRPr>
          </a:p>
          <a:p>
            <a:r>
              <a:rPr lang="en-US" b="1" dirty="0">
                <a:latin typeface="Calibri (Body)"/>
              </a:rPr>
              <a:t>Instructions:</a:t>
            </a:r>
            <a:r>
              <a:rPr lang="en-US" dirty="0">
                <a:latin typeface="Calibri (Body)"/>
              </a:rPr>
              <a:t>   </a:t>
            </a:r>
            <a:r>
              <a:rPr lang="en-US" b="1" u="sng" dirty="0">
                <a:latin typeface="Calibri (Body)"/>
              </a:rPr>
              <a:t>Do not perform the IMS IMPORT command on this system</a:t>
            </a:r>
            <a:r>
              <a:rPr lang="en-US" dirty="0">
                <a:latin typeface="Calibri (Body)"/>
              </a:rPr>
              <a:t>!  You have not executed the resource change earlier to the staging libraries (as instructed).                              </a:t>
            </a:r>
          </a:p>
        </p:txBody>
      </p:sp>
      <p:sp>
        <p:nvSpPr>
          <p:cNvPr id="2" name="Slide Number Placeholder 1">
            <a:extLst>
              <a:ext uri="{FF2B5EF4-FFF2-40B4-BE49-F238E27FC236}">
                <a16:creationId xmlns:a16="http://schemas.microsoft.com/office/drawing/2014/main" id="{0DDD2D58-6D53-01A8-2CDF-77B09DB1EEDD}"/>
              </a:ext>
            </a:extLst>
          </p:cNvPr>
          <p:cNvSpPr>
            <a:spLocks noGrp="1"/>
          </p:cNvSpPr>
          <p:nvPr>
            <p:ph type="sldNum" sz="quarter" idx="12"/>
          </p:nvPr>
        </p:nvSpPr>
        <p:spPr/>
        <p:txBody>
          <a:bodyPr/>
          <a:lstStyle/>
          <a:p>
            <a:fld id="{1C788548-AC4B-4945-A4F1-BA86477A7FC8}" type="slidenum">
              <a:rPr lang="en-US" smtClean="0"/>
              <a:t>14</a:t>
            </a:fld>
            <a:endParaRPr lang="en-US"/>
          </a:p>
        </p:txBody>
      </p:sp>
    </p:spTree>
    <p:extLst>
      <p:ext uri="{BB962C8B-B14F-4D97-AF65-F5344CB8AC3E}">
        <p14:creationId xmlns:p14="http://schemas.microsoft.com/office/powerpoint/2010/main" val="38539396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Arrow Connector 6">
            <a:extLst>
              <a:ext uri="{FF2B5EF4-FFF2-40B4-BE49-F238E27FC236}">
                <a16:creationId xmlns:a16="http://schemas.microsoft.com/office/drawing/2014/main" id="{3BD62DBA-A119-4885-877C-4F36817C284D}"/>
              </a:ext>
            </a:extLst>
          </p:cNvPr>
          <p:cNvCxnSpPr>
            <a:cxnSpLocks/>
          </p:cNvCxnSpPr>
          <p:nvPr/>
        </p:nvCxnSpPr>
        <p:spPr>
          <a:xfrm>
            <a:off x="385064" y="2978935"/>
            <a:ext cx="414528"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pic>
        <p:nvPicPr>
          <p:cNvPr id="11" name="Picture 10">
            <a:extLst>
              <a:ext uri="{FF2B5EF4-FFF2-40B4-BE49-F238E27FC236}">
                <a16:creationId xmlns:a16="http://schemas.microsoft.com/office/drawing/2014/main" id="{25BDC429-9762-BBE3-B272-AEB24BF14BAA}"/>
              </a:ext>
            </a:extLst>
          </p:cNvPr>
          <p:cNvPicPr>
            <a:picLocks noChangeAspect="1"/>
          </p:cNvPicPr>
          <p:nvPr/>
        </p:nvPicPr>
        <p:blipFill>
          <a:blip r:embed="rId2"/>
          <a:stretch>
            <a:fillRect/>
          </a:stretch>
        </p:blipFill>
        <p:spPr>
          <a:xfrm>
            <a:off x="825470" y="2732154"/>
            <a:ext cx="6408838" cy="2464461"/>
          </a:xfrm>
          <a:prstGeom prst="rect">
            <a:avLst/>
          </a:prstGeom>
          <a:effectLst>
            <a:glow rad="63500">
              <a:schemeClr val="accent3">
                <a:satMod val="175000"/>
                <a:alpha val="40000"/>
              </a:schemeClr>
            </a:glow>
          </a:effectLst>
        </p:spPr>
      </p:pic>
      <p:sp>
        <p:nvSpPr>
          <p:cNvPr id="3" name="Subtitle 2">
            <a:extLst>
              <a:ext uri="{FF2B5EF4-FFF2-40B4-BE49-F238E27FC236}">
                <a16:creationId xmlns:a16="http://schemas.microsoft.com/office/drawing/2014/main" id="{5DD04D75-5580-4918-ACD6-01E26F36A2CB}"/>
              </a:ext>
            </a:extLst>
          </p:cNvPr>
          <p:cNvSpPr>
            <a:spLocks noGrp="1"/>
          </p:cNvSpPr>
          <p:nvPr>
            <p:ph type="subTitle" idx="4294967295"/>
          </p:nvPr>
        </p:nvSpPr>
        <p:spPr>
          <a:xfrm>
            <a:off x="799592" y="177387"/>
            <a:ext cx="10973816" cy="2244346"/>
          </a:xfrm>
          <a:prstGeom prst="rect">
            <a:avLst/>
          </a:prstGeom>
        </p:spPr>
        <p:txBody>
          <a:bodyPr vert="horz" lIns="91440" tIns="45720" rIns="91440" bIns="45720" rtlCol="0" anchor="t">
            <a:normAutofit fontScale="70000" lnSpcReduction="20000"/>
          </a:bodyPr>
          <a:lstStyle/>
          <a:p>
            <a:pPr marL="0" indent="0">
              <a:lnSpc>
                <a:spcPct val="120000"/>
              </a:lnSpc>
              <a:spcBef>
                <a:spcPts val="600"/>
              </a:spcBef>
              <a:buNone/>
            </a:pPr>
            <a:r>
              <a:rPr lang="en-US" sz="3400" b="1" dirty="0">
                <a:solidFill>
                  <a:schemeClr val="accent1">
                    <a:lumMod val="75000"/>
                  </a:schemeClr>
                </a:solidFill>
              </a:rPr>
              <a:t>IMS Administration Tool ISPF LAB Exercise 2 </a:t>
            </a:r>
          </a:p>
          <a:p>
            <a:pPr marL="0" indent="0">
              <a:lnSpc>
                <a:spcPct val="120000"/>
              </a:lnSpc>
              <a:spcBef>
                <a:spcPts val="600"/>
              </a:spcBef>
              <a:buNone/>
            </a:pPr>
            <a:r>
              <a:rPr lang="en-US" sz="2600" b="1" dirty="0"/>
              <a:t>Key Feature:   Database and Application Administration - Compare </a:t>
            </a:r>
            <a:endParaRPr lang="en-US" sz="2600" b="1" dirty="0">
              <a:cs typeface="Calibri"/>
            </a:endParaRPr>
          </a:p>
          <a:p>
            <a:pPr marL="0" indent="0">
              <a:lnSpc>
                <a:spcPct val="120000"/>
              </a:lnSpc>
              <a:spcBef>
                <a:spcPts val="600"/>
              </a:spcBef>
              <a:buNone/>
            </a:pPr>
            <a:r>
              <a:rPr lang="en-US" sz="2600" b="1" dirty="0"/>
              <a:t>Description:</a:t>
            </a:r>
            <a:r>
              <a:rPr lang="en-US" sz="2600" dirty="0"/>
              <a:t>    Compare between an IMS Directory data set and an ACBLIB     </a:t>
            </a:r>
            <a:endParaRPr lang="en-US" sz="2600" dirty="0">
              <a:cs typeface="Calibri"/>
            </a:endParaRPr>
          </a:p>
          <a:p>
            <a:pPr marL="0" indent="0">
              <a:lnSpc>
                <a:spcPct val="120000"/>
              </a:lnSpc>
              <a:spcBef>
                <a:spcPts val="600"/>
              </a:spcBef>
              <a:buNone/>
            </a:pPr>
            <a:r>
              <a:rPr lang="en-US" sz="2600" b="1" dirty="0"/>
              <a:t>Instructions:</a:t>
            </a:r>
            <a:r>
              <a:rPr lang="en-US" sz="2600" dirty="0"/>
              <a:t>   From the “</a:t>
            </a:r>
            <a:r>
              <a:rPr lang="en-US" sz="2600" b="1" dirty="0"/>
              <a:t>Database and Application Administration</a:t>
            </a:r>
            <a:r>
              <a:rPr lang="en-US" sz="2600" dirty="0"/>
              <a:t>” Menu, </a:t>
            </a:r>
          </a:p>
          <a:p>
            <a:pPr marL="514350" indent="-514350">
              <a:lnSpc>
                <a:spcPct val="120000"/>
              </a:lnSpc>
              <a:spcBef>
                <a:spcPts val="600"/>
              </a:spcBef>
              <a:buAutoNum type="arabicPeriod"/>
            </a:pPr>
            <a:r>
              <a:rPr lang="en-US" sz="2600" dirty="0"/>
              <a:t>S</a:t>
            </a:r>
            <a:r>
              <a:rPr lang="en-US" sz="2600" dirty="0">
                <a:cs typeface="Calibri Light"/>
              </a:rPr>
              <a:t>elect</a:t>
            </a:r>
            <a:r>
              <a:rPr lang="en-US" sz="2600" dirty="0"/>
              <a:t> Option         (Compare) and press Enter.</a:t>
            </a:r>
          </a:p>
          <a:p>
            <a:pPr marL="514350" indent="-514350">
              <a:lnSpc>
                <a:spcPct val="120000"/>
              </a:lnSpc>
              <a:spcBef>
                <a:spcPts val="600"/>
              </a:spcBef>
              <a:buAutoNum type="arabicPeriod"/>
            </a:pPr>
            <a:r>
              <a:rPr lang="en-US" sz="2600" dirty="0"/>
              <a:t>Then, select Option          (Compare IMS Directory and ACBLIB) and press Enter.</a:t>
            </a:r>
            <a:endParaRPr lang="en-US" sz="2600" dirty="0">
              <a:cs typeface="Calibri"/>
            </a:endParaRPr>
          </a:p>
        </p:txBody>
      </p:sp>
      <p:sp>
        <p:nvSpPr>
          <p:cNvPr id="6" name="Rectangle 5">
            <a:extLst>
              <a:ext uri="{FF2B5EF4-FFF2-40B4-BE49-F238E27FC236}">
                <a16:creationId xmlns:a16="http://schemas.microsoft.com/office/drawing/2014/main" id="{5F034EAB-F64A-4292-9925-A89481E69480}"/>
              </a:ext>
            </a:extLst>
          </p:cNvPr>
          <p:cNvSpPr/>
          <p:nvPr/>
        </p:nvSpPr>
        <p:spPr>
          <a:xfrm>
            <a:off x="3327477" y="2106038"/>
            <a:ext cx="297180" cy="205740"/>
          </a:xfrm>
          <a:prstGeom prst="rect">
            <a:avLst/>
          </a:prstGeom>
          <a:solidFill>
            <a:schemeClr val="bg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b="1" dirty="0">
                <a:solidFill>
                  <a:schemeClr val="tx1"/>
                </a:solidFill>
              </a:rPr>
              <a:t>1</a:t>
            </a:r>
            <a:endParaRPr lang="en-US" b="1" dirty="0">
              <a:solidFill>
                <a:schemeClr val="tx1"/>
              </a:solidFill>
              <a:cs typeface="Calibri"/>
            </a:endParaRPr>
          </a:p>
        </p:txBody>
      </p:sp>
      <p:sp>
        <p:nvSpPr>
          <p:cNvPr id="5" name="Rectangle 4">
            <a:extLst>
              <a:ext uri="{FF2B5EF4-FFF2-40B4-BE49-F238E27FC236}">
                <a16:creationId xmlns:a16="http://schemas.microsoft.com/office/drawing/2014/main" id="{3D607818-ECD8-CBF0-1D78-8B9991A77A39}"/>
              </a:ext>
            </a:extLst>
          </p:cNvPr>
          <p:cNvSpPr/>
          <p:nvPr/>
        </p:nvSpPr>
        <p:spPr>
          <a:xfrm>
            <a:off x="2746442" y="1747963"/>
            <a:ext cx="297180" cy="205740"/>
          </a:xfrm>
          <a:prstGeom prst="rect">
            <a:avLst/>
          </a:prstGeom>
          <a:solidFill>
            <a:schemeClr val="bg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b="1" dirty="0">
                <a:solidFill>
                  <a:schemeClr val="tx1"/>
                </a:solidFill>
                <a:cs typeface="Calibri"/>
              </a:rPr>
              <a:t>3</a:t>
            </a:r>
          </a:p>
        </p:txBody>
      </p:sp>
      <p:cxnSp>
        <p:nvCxnSpPr>
          <p:cNvPr id="10" name="Straight Arrow Connector 9">
            <a:extLst>
              <a:ext uri="{FF2B5EF4-FFF2-40B4-BE49-F238E27FC236}">
                <a16:creationId xmlns:a16="http://schemas.microsoft.com/office/drawing/2014/main" id="{C3E96EC7-FAD0-77DF-A851-A4C80779C6E1}"/>
              </a:ext>
            </a:extLst>
          </p:cNvPr>
          <p:cNvCxnSpPr>
            <a:cxnSpLocks/>
          </p:cNvCxnSpPr>
          <p:nvPr/>
        </p:nvCxnSpPr>
        <p:spPr>
          <a:xfrm>
            <a:off x="4928800" y="4487116"/>
            <a:ext cx="414528"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4" name="Slide Number Placeholder 3">
            <a:extLst>
              <a:ext uri="{FF2B5EF4-FFF2-40B4-BE49-F238E27FC236}">
                <a16:creationId xmlns:a16="http://schemas.microsoft.com/office/drawing/2014/main" id="{E8D4EFA3-FF5A-311D-99DD-8BC86DD4A38E}"/>
              </a:ext>
            </a:extLst>
          </p:cNvPr>
          <p:cNvSpPr>
            <a:spLocks noGrp="1"/>
          </p:cNvSpPr>
          <p:nvPr>
            <p:ph type="sldNum" sz="quarter" idx="12"/>
          </p:nvPr>
        </p:nvSpPr>
        <p:spPr/>
        <p:txBody>
          <a:bodyPr/>
          <a:lstStyle/>
          <a:p>
            <a:fld id="{1C788548-AC4B-4945-A4F1-BA86477A7FC8}" type="slidenum">
              <a:rPr lang="en-US" smtClean="0"/>
              <a:t>15</a:t>
            </a:fld>
            <a:endParaRPr lang="en-US"/>
          </a:p>
        </p:txBody>
      </p:sp>
      <p:pic>
        <p:nvPicPr>
          <p:cNvPr id="14" name="Picture 13">
            <a:extLst>
              <a:ext uri="{FF2B5EF4-FFF2-40B4-BE49-F238E27FC236}">
                <a16:creationId xmlns:a16="http://schemas.microsoft.com/office/drawing/2014/main" id="{169EC165-3231-C6BB-8AAE-9A7DA4D8B9F3}"/>
              </a:ext>
            </a:extLst>
          </p:cNvPr>
          <p:cNvPicPr>
            <a:picLocks noChangeAspect="1"/>
          </p:cNvPicPr>
          <p:nvPr/>
        </p:nvPicPr>
        <p:blipFill>
          <a:blip r:embed="rId3"/>
          <a:stretch>
            <a:fillRect/>
          </a:stretch>
        </p:blipFill>
        <p:spPr>
          <a:xfrm>
            <a:off x="5390448" y="4236837"/>
            <a:ext cx="6408838" cy="1919555"/>
          </a:xfrm>
          <a:prstGeom prst="rect">
            <a:avLst/>
          </a:prstGeom>
          <a:effectLst>
            <a:glow rad="63500">
              <a:schemeClr val="accent3">
                <a:satMod val="175000"/>
                <a:alpha val="40000"/>
              </a:schemeClr>
            </a:glow>
          </a:effectLst>
        </p:spPr>
      </p:pic>
    </p:spTree>
    <p:extLst>
      <p:ext uri="{BB962C8B-B14F-4D97-AF65-F5344CB8AC3E}">
        <p14:creationId xmlns:p14="http://schemas.microsoft.com/office/powerpoint/2010/main" val="4458560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Picture 19">
            <a:extLst>
              <a:ext uri="{FF2B5EF4-FFF2-40B4-BE49-F238E27FC236}">
                <a16:creationId xmlns:a16="http://schemas.microsoft.com/office/drawing/2014/main" id="{75FDF44E-7154-D77D-A1C4-53255ADCE740}"/>
              </a:ext>
            </a:extLst>
          </p:cNvPr>
          <p:cNvPicPr>
            <a:picLocks noChangeAspect="1"/>
          </p:cNvPicPr>
          <p:nvPr/>
        </p:nvPicPr>
        <p:blipFill>
          <a:blip r:embed="rId2"/>
          <a:stretch>
            <a:fillRect/>
          </a:stretch>
        </p:blipFill>
        <p:spPr>
          <a:xfrm>
            <a:off x="641006" y="3274354"/>
            <a:ext cx="4436888" cy="2756444"/>
          </a:xfrm>
          <a:prstGeom prst="rect">
            <a:avLst/>
          </a:prstGeom>
          <a:effectLst>
            <a:glow rad="63500">
              <a:schemeClr val="accent3">
                <a:satMod val="175000"/>
                <a:alpha val="40000"/>
              </a:schemeClr>
            </a:glow>
          </a:effectLst>
        </p:spPr>
      </p:pic>
      <p:pic>
        <p:nvPicPr>
          <p:cNvPr id="29" name="Picture 28">
            <a:extLst>
              <a:ext uri="{FF2B5EF4-FFF2-40B4-BE49-F238E27FC236}">
                <a16:creationId xmlns:a16="http://schemas.microsoft.com/office/drawing/2014/main" id="{EEECB5F9-27A4-D823-77F4-B993ECE5F21B}"/>
              </a:ext>
            </a:extLst>
          </p:cNvPr>
          <p:cNvPicPr>
            <a:picLocks noChangeAspect="1"/>
          </p:cNvPicPr>
          <p:nvPr/>
        </p:nvPicPr>
        <p:blipFill>
          <a:blip r:embed="rId3"/>
          <a:stretch>
            <a:fillRect/>
          </a:stretch>
        </p:blipFill>
        <p:spPr>
          <a:xfrm>
            <a:off x="4798728" y="4970867"/>
            <a:ext cx="4436888" cy="1723313"/>
          </a:xfrm>
          <a:prstGeom prst="rect">
            <a:avLst/>
          </a:prstGeom>
          <a:effectLst>
            <a:glow rad="63500">
              <a:schemeClr val="accent3">
                <a:satMod val="175000"/>
                <a:alpha val="40000"/>
              </a:schemeClr>
            </a:glow>
          </a:effectLst>
        </p:spPr>
      </p:pic>
      <p:sp>
        <p:nvSpPr>
          <p:cNvPr id="3" name="Subtitle 2">
            <a:extLst>
              <a:ext uri="{FF2B5EF4-FFF2-40B4-BE49-F238E27FC236}">
                <a16:creationId xmlns:a16="http://schemas.microsoft.com/office/drawing/2014/main" id="{5DD04D75-5580-4918-ACD6-01E26F36A2CB}"/>
              </a:ext>
            </a:extLst>
          </p:cNvPr>
          <p:cNvSpPr>
            <a:spLocks noGrp="1"/>
          </p:cNvSpPr>
          <p:nvPr>
            <p:ph type="subTitle" idx="4294967295"/>
          </p:nvPr>
        </p:nvSpPr>
        <p:spPr>
          <a:xfrm>
            <a:off x="789559" y="203199"/>
            <a:ext cx="10973816" cy="3136893"/>
          </a:xfrm>
          <a:prstGeom prst="rect">
            <a:avLst/>
          </a:prstGeom>
        </p:spPr>
        <p:txBody>
          <a:bodyPr vert="horz" lIns="91440" tIns="45720" rIns="91440" bIns="45720" rtlCol="0" anchor="t">
            <a:normAutofit fontScale="47500" lnSpcReduction="20000"/>
          </a:bodyPr>
          <a:lstStyle/>
          <a:p>
            <a:pPr marL="0" indent="0">
              <a:lnSpc>
                <a:spcPct val="120000"/>
              </a:lnSpc>
              <a:spcBef>
                <a:spcPts val="600"/>
              </a:spcBef>
              <a:buNone/>
            </a:pPr>
            <a:r>
              <a:rPr lang="en-US" sz="3800" b="1" dirty="0">
                <a:solidFill>
                  <a:schemeClr val="accent1">
                    <a:lumMod val="75000"/>
                  </a:schemeClr>
                </a:solidFill>
              </a:rPr>
              <a:t>IMS Administration Tool ISPF LAB Exercise 2</a:t>
            </a:r>
          </a:p>
          <a:p>
            <a:pPr marL="0" indent="0">
              <a:lnSpc>
                <a:spcPct val="120000"/>
              </a:lnSpc>
              <a:spcBef>
                <a:spcPts val="600"/>
              </a:spcBef>
              <a:buNone/>
            </a:pPr>
            <a:r>
              <a:rPr lang="en-US" sz="2600" b="1" dirty="0"/>
              <a:t>Key Feature:   Database and Application Administration - Compare </a:t>
            </a:r>
            <a:endParaRPr lang="en-US" sz="2600" b="1" dirty="0">
              <a:cs typeface="Calibri"/>
            </a:endParaRPr>
          </a:p>
          <a:p>
            <a:pPr marL="0" indent="0">
              <a:lnSpc>
                <a:spcPct val="120000"/>
              </a:lnSpc>
              <a:spcBef>
                <a:spcPts val="600"/>
              </a:spcBef>
              <a:buNone/>
            </a:pPr>
            <a:r>
              <a:rPr lang="en-US" sz="2600" b="1" dirty="0"/>
              <a:t>Description:</a:t>
            </a:r>
            <a:r>
              <a:rPr lang="en-US" sz="2600" dirty="0"/>
              <a:t>    Compare between the IMS Directory data sets of IFA1 (Managed ACBs) and IFA2 (ACBLIB Managed) ACBLIB staging library.     </a:t>
            </a:r>
            <a:endParaRPr lang="en-US" sz="2600" dirty="0">
              <a:cs typeface="Calibri"/>
            </a:endParaRPr>
          </a:p>
          <a:p>
            <a:pPr marL="0" indent="0">
              <a:lnSpc>
                <a:spcPct val="120000"/>
              </a:lnSpc>
              <a:spcBef>
                <a:spcPts val="600"/>
              </a:spcBef>
              <a:buNone/>
            </a:pPr>
            <a:r>
              <a:rPr lang="en-US" sz="2600" b="1" dirty="0"/>
              <a:t>Instructions:</a:t>
            </a:r>
          </a:p>
          <a:p>
            <a:pPr marL="344488" indent="-231775">
              <a:lnSpc>
                <a:spcPct val="120000"/>
              </a:lnSpc>
              <a:spcBef>
                <a:spcPts val="600"/>
              </a:spcBef>
              <a:buAutoNum type="arabicPeriod"/>
            </a:pPr>
            <a:r>
              <a:rPr lang="en-US" sz="2600" dirty="0"/>
              <a:t>S</a:t>
            </a:r>
            <a:r>
              <a:rPr lang="en-US" sz="2600" dirty="0">
                <a:cs typeface="Calibri Light"/>
              </a:rPr>
              <a:t>elect</a:t>
            </a:r>
            <a:r>
              <a:rPr lang="en-US" sz="2600" dirty="0"/>
              <a:t> Option          (Compare Single Resource).</a:t>
            </a:r>
          </a:p>
          <a:p>
            <a:pPr marL="344488" indent="-231775">
              <a:lnSpc>
                <a:spcPct val="120000"/>
              </a:lnSpc>
              <a:spcBef>
                <a:spcPts val="600"/>
              </a:spcBef>
              <a:buAutoNum type="arabicPeriod"/>
            </a:pPr>
            <a:r>
              <a:rPr lang="en-US" sz="2600" dirty="0"/>
              <a:t>Select Comparison Scope:            (Compare Single Resource).</a:t>
            </a:r>
          </a:p>
          <a:p>
            <a:pPr marL="344488" indent="-231775">
              <a:lnSpc>
                <a:spcPct val="120000"/>
              </a:lnSpc>
              <a:spcBef>
                <a:spcPts val="600"/>
              </a:spcBef>
              <a:buAutoNum type="arabicPeriod"/>
            </a:pPr>
            <a:r>
              <a:rPr lang="en-US" sz="2600" dirty="0"/>
              <a:t>Specify "</a:t>
            </a:r>
            <a:r>
              <a:rPr lang="en-US" sz="2600" b="1" dirty="0"/>
              <a:t>1</a:t>
            </a:r>
            <a:r>
              <a:rPr lang="en-US" sz="2600" dirty="0"/>
              <a:t>" for DBD resource type, IMS Directory IMSID is </a:t>
            </a:r>
            <a:r>
              <a:rPr lang="en-US" sz="2600" b="1" dirty="0">
                <a:latin typeface="Consolas" panose="020B0609020204030204" pitchFamily="49" charset="0"/>
              </a:rPr>
              <a:t>IVP1</a:t>
            </a:r>
            <a:r>
              <a:rPr lang="en-US" sz="2600" dirty="0"/>
              <a:t>, IMS Directory Data Set is "</a:t>
            </a:r>
            <a:r>
              <a:rPr lang="en-US" sz="2600" b="1" dirty="0"/>
              <a:t>A</a:t>
            </a:r>
            <a:r>
              <a:rPr lang="en-US" sz="2600" dirty="0"/>
              <a:t>", and IMS Directory Resource Name is </a:t>
            </a:r>
            <a:r>
              <a:rPr lang="en-US" sz="2600" b="1" dirty="0">
                <a:latin typeface="Consolas" panose="020B0609020204030204" pitchFamily="49" charset="0"/>
              </a:rPr>
              <a:t>ADBD01</a:t>
            </a:r>
            <a:r>
              <a:rPr lang="en-US" sz="2600" dirty="0"/>
              <a:t> </a:t>
            </a:r>
            <a:r>
              <a:rPr lang="en-US" sz="2600" u="sng" dirty="0"/>
              <a:t>(in this case you will use FF00 versus using your own set of databases since this DBD has changes that will differ from the active directory</a:t>
            </a:r>
            <a:r>
              <a:rPr lang="en-US" sz="2600" dirty="0"/>
              <a:t>.</a:t>
            </a:r>
          </a:p>
          <a:p>
            <a:pPr marL="344488" indent="-231775">
              <a:lnSpc>
                <a:spcPct val="120000"/>
              </a:lnSpc>
              <a:spcBef>
                <a:spcPts val="600"/>
              </a:spcBef>
              <a:buAutoNum type="arabicPeriod"/>
            </a:pPr>
            <a:r>
              <a:rPr lang="en-US" sz="2600" dirty="0"/>
              <a:t>Specify “</a:t>
            </a:r>
            <a:r>
              <a:rPr lang="en-US" sz="2600" b="1" dirty="0">
                <a:latin typeface="Consolas" panose="020B0609020204030204" pitchFamily="49" charset="0"/>
              </a:rPr>
              <a:t>IMS15.ACBLIB</a:t>
            </a:r>
            <a:r>
              <a:rPr lang="en-US" sz="2600" dirty="0"/>
              <a:t>" for Other ACBLIB field with the Resource Name of </a:t>
            </a:r>
            <a:r>
              <a:rPr lang="en-US" sz="2600" b="1" dirty="0">
                <a:latin typeface="Consolas" panose="020B0609020204030204" pitchFamily="49" charset="0"/>
              </a:rPr>
              <a:t>ADBD01</a:t>
            </a:r>
            <a:r>
              <a:rPr lang="en-US" sz="2600" dirty="0"/>
              <a:t>, and Press Enter.</a:t>
            </a:r>
          </a:p>
          <a:p>
            <a:pPr marL="344488" indent="-231775">
              <a:lnSpc>
                <a:spcPct val="120000"/>
              </a:lnSpc>
              <a:spcBef>
                <a:spcPts val="600"/>
              </a:spcBef>
              <a:buAutoNum type="arabicPeriod"/>
            </a:pPr>
            <a:r>
              <a:rPr lang="en-US" sz="2600" dirty="0">
                <a:cs typeface="Calibri Light"/>
              </a:rPr>
              <a:t>Once you see the </a:t>
            </a:r>
            <a:r>
              <a:rPr lang="en-US" sz="2600" b="1" dirty="0">
                <a:latin typeface="Consolas" panose="020B0609020204030204" pitchFamily="49" charset="0"/>
                <a:cs typeface="Calibri Light"/>
              </a:rPr>
              <a:t>ADBD01</a:t>
            </a:r>
            <a:r>
              <a:rPr lang="en-US" sz="2600" dirty="0">
                <a:cs typeface="Calibri Light"/>
              </a:rPr>
              <a:t> database displayed in the list, specify "</a:t>
            </a:r>
            <a:r>
              <a:rPr lang="en-US" sz="2600" b="1" dirty="0">
                <a:cs typeface="Calibri Light"/>
              </a:rPr>
              <a:t>S</a:t>
            </a:r>
            <a:r>
              <a:rPr lang="en-US" sz="2600" dirty="0">
                <a:cs typeface="Calibri Light"/>
              </a:rPr>
              <a:t>" on the line command to see the comparison details.</a:t>
            </a:r>
            <a:br>
              <a:rPr lang="en-US" sz="2600" dirty="0">
                <a:cs typeface="Calibri Light"/>
              </a:rPr>
            </a:br>
            <a:r>
              <a:rPr lang="en-US" sz="2600" dirty="0">
                <a:cs typeface="Calibri Light"/>
              </a:rPr>
              <a:t>This may take a minute but you should see that there are differences if you used the </a:t>
            </a:r>
            <a:r>
              <a:rPr lang="en-US" sz="2600" b="1" dirty="0">
                <a:latin typeface="Consolas" panose="020B0609020204030204" pitchFamily="49" charset="0"/>
                <a:cs typeface="Calibri Light"/>
              </a:rPr>
              <a:t>ADBD01</a:t>
            </a:r>
            <a:r>
              <a:rPr lang="en-US" sz="2600" dirty="0">
                <a:cs typeface="Calibri Light"/>
              </a:rPr>
              <a:t> database.  Otherwise, you can see how easy it is to pinpoint differences between objects in source/target libraries and also be able to see what those differences are by looking at the source details.  </a:t>
            </a:r>
          </a:p>
        </p:txBody>
      </p:sp>
      <p:cxnSp>
        <p:nvCxnSpPr>
          <p:cNvPr id="7" name="Straight Arrow Connector 6">
            <a:extLst>
              <a:ext uri="{FF2B5EF4-FFF2-40B4-BE49-F238E27FC236}">
                <a16:creationId xmlns:a16="http://schemas.microsoft.com/office/drawing/2014/main" id="{3BD62DBA-A119-4885-877C-4F36817C284D}"/>
              </a:ext>
            </a:extLst>
          </p:cNvPr>
          <p:cNvCxnSpPr>
            <a:cxnSpLocks/>
          </p:cNvCxnSpPr>
          <p:nvPr/>
        </p:nvCxnSpPr>
        <p:spPr>
          <a:xfrm>
            <a:off x="208718" y="3822694"/>
            <a:ext cx="414528"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a16="http://schemas.microsoft.com/office/drawing/2014/main" id="{5F034EAB-F64A-4292-9925-A89481E69480}"/>
              </a:ext>
            </a:extLst>
          </p:cNvPr>
          <p:cNvSpPr/>
          <p:nvPr/>
        </p:nvSpPr>
        <p:spPr>
          <a:xfrm>
            <a:off x="2866884" y="1625377"/>
            <a:ext cx="262892" cy="205740"/>
          </a:xfrm>
          <a:prstGeom prst="rect">
            <a:avLst/>
          </a:prstGeom>
          <a:solidFill>
            <a:schemeClr val="bg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b="1" dirty="0">
                <a:solidFill>
                  <a:schemeClr val="tx1"/>
                </a:solidFill>
              </a:rPr>
              <a:t>1</a:t>
            </a:r>
            <a:endParaRPr lang="en-US" b="1" dirty="0">
              <a:solidFill>
                <a:schemeClr val="tx1"/>
              </a:solidFill>
              <a:cs typeface="Calibri"/>
            </a:endParaRPr>
          </a:p>
        </p:txBody>
      </p:sp>
      <p:cxnSp>
        <p:nvCxnSpPr>
          <p:cNvPr id="10" name="Straight Arrow Connector 9">
            <a:extLst>
              <a:ext uri="{FF2B5EF4-FFF2-40B4-BE49-F238E27FC236}">
                <a16:creationId xmlns:a16="http://schemas.microsoft.com/office/drawing/2014/main" id="{C3E96EC7-FAD0-77DF-A851-A4C80779C6E1}"/>
              </a:ext>
            </a:extLst>
          </p:cNvPr>
          <p:cNvCxnSpPr>
            <a:cxnSpLocks/>
          </p:cNvCxnSpPr>
          <p:nvPr/>
        </p:nvCxnSpPr>
        <p:spPr>
          <a:xfrm>
            <a:off x="4340229" y="6519517"/>
            <a:ext cx="414528"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C0668073-AA05-AB9B-2322-E419FE739713}"/>
              </a:ext>
            </a:extLst>
          </p:cNvPr>
          <p:cNvSpPr/>
          <p:nvPr/>
        </p:nvSpPr>
        <p:spPr>
          <a:xfrm>
            <a:off x="2110036" y="1339052"/>
            <a:ext cx="262892" cy="205740"/>
          </a:xfrm>
          <a:prstGeom prst="rect">
            <a:avLst/>
          </a:prstGeom>
          <a:solidFill>
            <a:schemeClr val="bg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b="1" dirty="0">
                <a:solidFill>
                  <a:schemeClr val="tx1"/>
                </a:solidFill>
              </a:rPr>
              <a:t>1</a:t>
            </a:r>
            <a:endParaRPr lang="en-US" b="1" dirty="0">
              <a:solidFill>
                <a:schemeClr val="tx1"/>
              </a:solidFill>
              <a:cs typeface="Calibri"/>
            </a:endParaRPr>
          </a:p>
        </p:txBody>
      </p:sp>
      <p:cxnSp>
        <p:nvCxnSpPr>
          <p:cNvPr id="12" name="Straight Arrow Connector 11">
            <a:extLst>
              <a:ext uri="{FF2B5EF4-FFF2-40B4-BE49-F238E27FC236}">
                <a16:creationId xmlns:a16="http://schemas.microsoft.com/office/drawing/2014/main" id="{A5728156-02F0-F29A-8559-BBB0E8B0215A}"/>
              </a:ext>
            </a:extLst>
          </p:cNvPr>
          <p:cNvCxnSpPr>
            <a:cxnSpLocks/>
          </p:cNvCxnSpPr>
          <p:nvPr/>
        </p:nvCxnSpPr>
        <p:spPr>
          <a:xfrm>
            <a:off x="208718" y="4083101"/>
            <a:ext cx="414528"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1128C4D6-94E3-038B-1195-B866CC0D3A26}"/>
              </a:ext>
            </a:extLst>
          </p:cNvPr>
          <p:cNvCxnSpPr>
            <a:cxnSpLocks/>
          </p:cNvCxnSpPr>
          <p:nvPr/>
        </p:nvCxnSpPr>
        <p:spPr>
          <a:xfrm>
            <a:off x="208717" y="4562947"/>
            <a:ext cx="414528"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00128EBA-6AD8-6A04-D70A-AF6E00530B34}"/>
              </a:ext>
            </a:extLst>
          </p:cNvPr>
          <p:cNvCxnSpPr>
            <a:cxnSpLocks/>
          </p:cNvCxnSpPr>
          <p:nvPr/>
        </p:nvCxnSpPr>
        <p:spPr>
          <a:xfrm>
            <a:off x="208717" y="4693600"/>
            <a:ext cx="414528"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3D810B00-6073-8356-D70D-F29D48248D02}"/>
              </a:ext>
            </a:extLst>
          </p:cNvPr>
          <p:cNvCxnSpPr>
            <a:cxnSpLocks/>
          </p:cNvCxnSpPr>
          <p:nvPr/>
        </p:nvCxnSpPr>
        <p:spPr>
          <a:xfrm>
            <a:off x="208717" y="4824253"/>
            <a:ext cx="414528"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53D3D22E-CDCD-B9C8-EEA2-256CF2466161}"/>
              </a:ext>
            </a:extLst>
          </p:cNvPr>
          <p:cNvCxnSpPr>
            <a:cxnSpLocks/>
          </p:cNvCxnSpPr>
          <p:nvPr/>
        </p:nvCxnSpPr>
        <p:spPr>
          <a:xfrm>
            <a:off x="208717" y="5442668"/>
            <a:ext cx="414528"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D5721B9D-2570-186F-C0AF-B24AF5DA8061}"/>
              </a:ext>
            </a:extLst>
          </p:cNvPr>
          <p:cNvCxnSpPr>
            <a:cxnSpLocks/>
          </p:cNvCxnSpPr>
          <p:nvPr/>
        </p:nvCxnSpPr>
        <p:spPr>
          <a:xfrm>
            <a:off x="208718" y="5682407"/>
            <a:ext cx="414528"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2" name="Rectangle 1">
            <a:extLst>
              <a:ext uri="{FF2B5EF4-FFF2-40B4-BE49-F238E27FC236}">
                <a16:creationId xmlns:a16="http://schemas.microsoft.com/office/drawing/2014/main" id="{B6F43DB7-4303-B46C-CE7D-97BA2EF0CA67}"/>
              </a:ext>
            </a:extLst>
          </p:cNvPr>
          <p:cNvSpPr/>
          <p:nvPr/>
        </p:nvSpPr>
        <p:spPr>
          <a:xfrm>
            <a:off x="1784367" y="5366655"/>
            <a:ext cx="791852" cy="144041"/>
          </a:xfrm>
          <a:prstGeom prst="rect">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E76BBF5A-3599-8578-DDCA-ACF26E66B803}"/>
              </a:ext>
            </a:extLst>
          </p:cNvPr>
          <p:cNvSpPr/>
          <p:nvPr/>
        </p:nvSpPr>
        <p:spPr>
          <a:xfrm>
            <a:off x="1775739" y="4651912"/>
            <a:ext cx="129297" cy="119012"/>
          </a:xfrm>
          <a:prstGeom prst="rect">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Slide Number Placeholder 7">
            <a:extLst>
              <a:ext uri="{FF2B5EF4-FFF2-40B4-BE49-F238E27FC236}">
                <a16:creationId xmlns:a16="http://schemas.microsoft.com/office/drawing/2014/main" id="{F5EDC271-8409-8197-155A-B53DC49CCFFE}"/>
              </a:ext>
            </a:extLst>
          </p:cNvPr>
          <p:cNvSpPr>
            <a:spLocks noGrp="1"/>
          </p:cNvSpPr>
          <p:nvPr>
            <p:ph type="sldNum" sz="quarter" idx="12"/>
          </p:nvPr>
        </p:nvSpPr>
        <p:spPr/>
        <p:txBody>
          <a:bodyPr/>
          <a:lstStyle/>
          <a:p>
            <a:fld id="{1C788548-AC4B-4945-A4F1-BA86477A7FC8}" type="slidenum">
              <a:rPr lang="en-US" smtClean="0"/>
              <a:t>16</a:t>
            </a:fld>
            <a:endParaRPr lang="en-US"/>
          </a:p>
        </p:txBody>
      </p:sp>
      <p:sp>
        <p:nvSpPr>
          <p:cNvPr id="30" name="Rectangle 29">
            <a:extLst>
              <a:ext uri="{FF2B5EF4-FFF2-40B4-BE49-F238E27FC236}">
                <a16:creationId xmlns:a16="http://schemas.microsoft.com/office/drawing/2014/main" id="{78D9CD72-305D-7584-4D7F-A4FD60025BF8}"/>
              </a:ext>
            </a:extLst>
          </p:cNvPr>
          <p:cNvSpPr/>
          <p:nvPr/>
        </p:nvSpPr>
        <p:spPr>
          <a:xfrm>
            <a:off x="6621246" y="6449659"/>
            <a:ext cx="791852" cy="144041"/>
          </a:xfrm>
          <a:prstGeom prst="rect">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2" name="Picture 31">
            <a:extLst>
              <a:ext uri="{FF2B5EF4-FFF2-40B4-BE49-F238E27FC236}">
                <a16:creationId xmlns:a16="http://schemas.microsoft.com/office/drawing/2014/main" id="{D22D8D4B-5B39-9C15-9534-CD292D3E9779}"/>
              </a:ext>
            </a:extLst>
          </p:cNvPr>
          <p:cNvPicPr>
            <a:picLocks noChangeAspect="1"/>
          </p:cNvPicPr>
          <p:nvPr/>
        </p:nvPicPr>
        <p:blipFill>
          <a:blip r:embed="rId4"/>
          <a:stretch>
            <a:fillRect/>
          </a:stretch>
        </p:blipFill>
        <p:spPr>
          <a:xfrm>
            <a:off x="7474296" y="3193299"/>
            <a:ext cx="4419741" cy="2739296"/>
          </a:xfrm>
          <a:prstGeom prst="rect">
            <a:avLst/>
          </a:prstGeom>
          <a:effectLst>
            <a:glow rad="63500">
              <a:schemeClr val="accent3">
                <a:satMod val="175000"/>
                <a:alpha val="40000"/>
              </a:schemeClr>
            </a:glow>
          </a:effectLst>
        </p:spPr>
      </p:pic>
      <p:sp>
        <p:nvSpPr>
          <p:cNvPr id="33" name="Rectangle 32">
            <a:extLst>
              <a:ext uri="{FF2B5EF4-FFF2-40B4-BE49-F238E27FC236}">
                <a16:creationId xmlns:a16="http://schemas.microsoft.com/office/drawing/2014/main" id="{D355E77A-5D70-2ED5-A4A0-6E75284B9F4B}"/>
              </a:ext>
            </a:extLst>
          </p:cNvPr>
          <p:cNvSpPr/>
          <p:nvPr/>
        </p:nvSpPr>
        <p:spPr>
          <a:xfrm>
            <a:off x="7912334" y="4545694"/>
            <a:ext cx="1154030" cy="130653"/>
          </a:xfrm>
          <a:prstGeom prst="rect">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276500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Arrow Connector 6">
            <a:extLst>
              <a:ext uri="{FF2B5EF4-FFF2-40B4-BE49-F238E27FC236}">
                <a16:creationId xmlns:a16="http://schemas.microsoft.com/office/drawing/2014/main" id="{3BD62DBA-A119-4885-877C-4F36817C284D}"/>
              </a:ext>
            </a:extLst>
          </p:cNvPr>
          <p:cNvCxnSpPr>
            <a:cxnSpLocks/>
          </p:cNvCxnSpPr>
          <p:nvPr/>
        </p:nvCxnSpPr>
        <p:spPr>
          <a:xfrm>
            <a:off x="355363" y="3173915"/>
            <a:ext cx="414528"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pic>
        <p:nvPicPr>
          <p:cNvPr id="12" name="Picture 11">
            <a:extLst>
              <a:ext uri="{FF2B5EF4-FFF2-40B4-BE49-F238E27FC236}">
                <a16:creationId xmlns:a16="http://schemas.microsoft.com/office/drawing/2014/main" id="{CBB5B0AA-DDF2-3B45-00AB-61524887F431}"/>
              </a:ext>
            </a:extLst>
          </p:cNvPr>
          <p:cNvPicPr>
            <a:picLocks noChangeAspect="1"/>
          </p:cNvPicPr>
          <p:nvPr/>
        </p:nvPicPr>
        <p:blipFill>
          <a:blip r:embed="rId2"/>
          <a:stretch>
            <a:fillRect/>
          </a:stretch>
        </p:blipFill>
        <p:spPr>
          <a:xfrm>
            <a:off x="830277" y="2937472"/>
            <a:ext cx="6304144" cy="2328997"/>
          </a:xfrm>
          <a:prstGeom prst="rect">
            <a:avLst/>
          </a:prstGeom>
          <a:effectLst>
            <a:glow rad="63500">
              <a:schemeClr val="accent3">
                <a:satMod val="175000"/>
                <a:alpha val="40000"/>
              </a:schemeClr>
            </a:glow>
          </a:effectLst>
        </p:spPr>
      </p:pic>
      <p:sp>
        <p:nvSpPr>
          <p:cNvPr id="3" name="Subtitle 2">
            <a:extLst>
              <a:ext uri="{FF2B5EF4-FFF2-40B4-BE49-F238E27FC236}">
                <a16:creationId xmlns:a16="http://schemas.microsoft.com/office/drawing/2014/main" id="{5DD04D75-5580-4918-ACD6-01E26F36A2CB}"/>
              </a:ext>
            </a:extLst>
          </p:cNvPr>
          <p:cNvSpPr>
            <a:spLocks noGrp="1"/>
          </p:cNvSpPr>
          <p:nvPr>
            <p:ph type="subTitle" idx="4294967295"/>
          </p:nvPr>
        </p:nvSpPr>
        <p:spPr>
          <a:xfrm>
            <a:off x="789559" y="203200"/>
            <a:ext cx="10973816" cy="2287237"/>
          </a:xfrm>
          <a:prstGeom prst="rect">
            <a:avLst/>
          </a:prstGeom>
        </p:spPr>
        <p:txBody>
          <a:bodyPr vert="horz" lIns="91440" tIns="45720" rIns="91440" bIns="45720" rtlCol="0" anchor="t">
            <a:normAutofit fontScale="77500" lnSpcReduction="20000"/>
          </a:bodyPr>
          <a:lstStyle/>
          <a:p>
            <a:pPr marL="0" indent="0">
              <a:lnSpc>
                <a:spcPct val="120000"/>
              </a:lnSpc>
              <a:spcBef>
                <a:spcPts val="600"/>
              </a:spcBef>
              <a:buNone/>
            </a:pPr>
            <a:r>
              <a:rPr lang="en-US" sz="3100" b="1" dirty="0">
                <a:solidFill>
                  <a:schemeClr val="accent1">
                    <a:lumMod val="75000"/>
                  </a:schemeClr>
                </a:solidFill>
              </a:rPr>
              <a:t>IMS Administration Tool ISPF LAB Exercise 2 </a:t>
            </a:r>
          </a:p>
          <a:p>
            <a:pPr marL="0" indent="0">
              <a:lnSpc>
                <a:spcPct val="120000"/>
              </a:lnSpc>
              <a:spcBef>
                <a:spcPts val="600"/>
              </a:spcBef>
              <a:buNone/>
            </a:pPr>
            <a:r>
              <a:rPr lang="en-US" sz="2300" b="1" dirty="0"/>
              <a:t>Key Feature:   Database and Application Administration - Compare </a:t>
            </a:r>
            <a:endParaRPr lang="en-US" sz="2300" b="1" dirty="0">
              <a:cs typeface="Calibri"/>
            </a:endParaRPr>
          </a:p>
          <a:p>
            <a:pPr marL="0" indent="0">
              <a:lnSpc>
                <a:spcPct val="120000"/>
              </a:lnSpc>
              <a:spcBef>
                <a:spcPts val="600"/>
              </a:spcBef>
              <a:buNone/>
            </a:pPr>
            <a:r>
              <a:rPr lang="en-US" sz="2300" b="1" dirty="0"/>
              <a:t>Description:</a:t>
            </a:r>
            <a:r>
              <a:rPr lang="en-US" sz="2300" dirty="0"/>
              <a:t>    Compare between the IMS Directory data sets    </a:t>
            </a:r>
            <a:endParaRPr lang="en-US" sz="2300" dirty="0">
              <a:cs typeface="Calibri"/>
            </a:endParaRPr>
          </a:p>
          <a:p>
            <a:pPr marL="0" indent="0">
              <a:lnSpc>
                <a:spcPct val="120000"/>
              </a:lnSpc>
              <a:spcBef>
                <a:spcPts val="600"/>
              </a:spcBef>
              <a:buNone/>
            </a:pPr>
            <a:r>
              <a:rPr lang="en-US" sz="2300" b="1" dirty="0"/>
              <a:t>Instructions:</a:t>
            </a:r>
            <a:r>
              <a:rPr lang="en-US" sz="2300" dirty="0"/>
              <a:t>   If you are interested in seeing other types of compares, you can go back to the “</a:t>
            </a:r>
            <a:r>
              <a:rPr lang="en-US" sz="2300" b="1" dirty="0"/>
              <a:t>Database and Application Administration</a:t>
            </a:r>
            <a:r>
              <a:rPr lang="en-US" sz="2300" dirty="0"/>
              <a:t>” Menu and S</a:t>
            </a:r>
            <a:r>
              <a:rPr lang="en-US" sz="2300" dirty="0">
                <a:cs typeface="Calibri Light"/>
              </a:rPr>
              <a:t>elect</a:t>
            </a:r>
            <a:r>
              <a:rPr lang="en-US" sz="2300" dirty="0"/>
              <a:t> Option         (Compare) again and press Enter.   </a:t>
            </a:r>
            <a:endParaRPr lang="en-US" sz="2300" dirty="0">
              <a:cs typeface="Calibri"/>
            </a:endParaRPr>
          </a:p>
          <a:p>
            <a:pPr marL="0" indent="0">
              <a:lnSpc>
                <a:spcPct val="120000"/>
              </a:lnSpc>
              <a:spcBef>
                <a:spcPts val="600"/>
              </a:spcBef>
              <a:buNone/>
            </a:pPr>
            <a:r>
              <a:rPr lang="en-US" sz="2300" dirty="0"/>
              <a:t>Then, select Option          (Compare IMS Directories) and press Enter.</a:t>
            </a:r>
            <a:endParaRPr lang="en-US" sz="2600" dirty="0">
              <a:cs typeface="Calibri"/>
            </a:endParaRPr>
          </a:p>
        </p:txBody>
      </p:sp>
      <p:sp>
        <p:nvSpPr>
          <p:cNvPr id="6" name="Rectangle 5">
            <a:extLst>
              <a:ext uri="{FF2B5EF4-FFF2-40B4-BE49-F238E27FC236}">
                <a16:creationId xmlns:a16="http://schemas.microsoft.com/office/drawing/2014/main" id="{5F034EAB-F64A-4292-9925-A89481E69480}"/>
              </a:ext>
            </a:extLst>
          </p:cNvPr>
          <p:cNvSpPr/>
          <p:nvPr/>
        </p:nvSpPr>
        <p:spPr>
          <a:xfrm>
            <a:off x="2805582" y="2047156"/>
            <a:ext cx="297180" cy="205740"/>
          </a:xfrm>
          <a:prstGeom prst="rect">
            <a:avLst/>
          </a:prstGeom>
          <a:solidFill>
            <a:schemeClr val="bg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b="1" dirty="0">
                <a:solidFill>
                  <a:schemeClr val="tx1"/>
                </a:solidFill>
              </a:rPr>
              <a:t>2</a:t>
            </a:r>
            <a:endParaRPr lang="en-US" b="1" dirty="0">
              <a:solidFill>
                <a:schemeClr val="tx1"/>
              </a:solidFill>
              <a:cs typeface="Calibri"/>
            </a:endParaRPr>
          </a:p>
        </p:txBody>
      </p:sp>
      <p:cxnSp>
        <p:nvCxnSpPr>
          <p:cNvPr id="10" name="Straight Arrow Connector 9">
            <a:extLst>
              <a:ext uri="{FF2B5EF4-FFF2-40B4-BE49-F238E27FC236}">
                <a16:creationId xmlns:a16="http://schemas.microsoft.com/office/drawing/2014/main" id="{C3E96EC7-FAD0-77DF-A851-A4C80779C6E1}"/>
              </a:ext>
            </a:extLst>
          </p:cNvPr>
          <p:cNvCxnSpPr>
            <a:cxnSpLocks/>
          </p:cNvCxnSpPr>
          <p:nvPr/>
        </p:nvCxnSpPr>
        <p:spPr>
          <a:xfrm>
            <a:off x="4944041" y="4328717"/>
            <a:ext cx="414528"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3FB0FA2B-2A18-8603-6A46-3BFD90C81E16}"/>
              </a:ext>
            </a:extLst>
          </p:cNvPr>
          <p:cNvSpPr/>
          <p:nvPr/>
        </p:nvSpPr>
        <p:spPr>
          <a:xfrm>
            <a:off x="5913722" y="1692974"/>
            <a:ext cx="297180" cy="205740"/>
          </a:xfrm>
          <a:prstGeom prst="rect">
            <a:avLst/>
          </a:prstGeom>
          <a:solidFill>
            <a:schemeClr val="bg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b="1" dirty="0">
                <a:solidFill>
                  <a:schemeClr val="tx1"/>
                </a:solidFill>
              </a:rPr>
              <a:t>3</a:t>
            </a:r>
            <a:endParaRPr lang="en-US" b="1" dirty="0">
              <a:solidFill>
                <a:schemeClr val="tx1"/>
              </a:solidFill>
              <a:cs typeface="Calibri"/>
            </a:endParaRPr>
          </a:p>
        </p:txBody>
      </p:sp>
      <p:sp>
        <p:nvSpPr>
          <p:cNvPr id="5" name="Slide Number Placeholder 4">
            <a:extLst>
              <a:ext uri="{FF2B5EF4-FFF2-40B4-BE49-F238E27FC236}">
                <a16:creationId xmlns:a16="http://schemas.microsoft.com/office/drawing/2014/main" id="{C966AC79-3D41-5756-977B-E799005E239F}"/>
              </a:ext>
            </a:extLst>
          </p:cNvPr>
          <p:cNvSpPr>
            <a:spLocks noGrp="1"/>
          </p:cNvSpPr>
          <p:nvPr>
            <p:ph type="sldNum" sz="quarter" idx="12"/>
          </p:nvPr>
        </p:nvSpPr>
        <p:spPr/>
        <p:txBody>
          <a:bodyPr/>
          <a:lstStyle/>
          <a:p>
            <a:fld id="{1C788548-AC4B-4945-A4F1-BA86477A7FC8}" type="slidenum">
              <a:rPr lang="en-US" smtClean="0"/>
              <a:t>17</a:t>
            </a:fld>
            <a:endParaRPr lang="en-US"/>
          </a:p>
        </p:txBody>
      </p:sp>
      <p:pic>
        <p:nvPicPr>
          <p:cNvPr id="14" name="Picture 13">
            <a:extLst>
              <a:ext uri="{FF2B5EF4-FFF2-40B4-BE49-F238E27FC236}">
                <a16:creationId xmlns:a16="http://schemas.microsoft.com/office/drawing/2014/main" id="{69A48E80-6A73-B80C-6834-A13B370AD4F8}"/>
              </a:ext>
            </a:extLst>
          </p:cNvPr>
          <p:cNvPicPr>
            <a:picLocks noChangeAspect="1"/>
          </p:cNvPicPr>
          <p:nvPr/>
        </p:nvPicPr>
        <p:blipFill>
          <a:blip r:embed="rId3"/>
          <a:stretch>
            <a:fillRect/>
          </a:stretch>
        </p:blipFill>
        <p:spPr>
          <a:xfrm>
            <a:off x="5358570" y="4074263"/>
            <a:ext cx="6310241" cy="1786378"/>
          </a:xfrm>
          <a:prstGeom prst="rect">
            <a:avLst/>
          </a:prstGeom>
          <a:effectLst>
            <a:glow rad="63500">
              <a:schemeClr val="accent3">
                <a:satMod val="175000"/>
                <a:alpha val="40000"/>
              </a:schemeClr>
            </a:glow>
          </a:effectLst>
        </p:spPr>
      </p:pic>
    </p:spTree>
    <p:extLst>
      <p:ext uri="{BB962C8B-B14F-4D97-AF65-F5344CB8AC3E}">
        <p14:creationId xmlns:p14="http://schemas.microsoft.com/office/powerpoint/2010/main" val="1393039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2E9599FE-15EC-4E19-2FA6-16E1FF9FA9B7}"/>
              </a:ext>
            </a:extLst>
          </p:cNvPr>
          <p:cNvPicPr>
            <a:picLocks noChangeAspect="1"/>
          </p:cNvPicPr>
          <p:nvPr/>
        </p:nvPicPr>
        <p:blipFill>
          <a:blip r:embed="rId2"/>
          <a:stretch>
            <a:fillRect/>
          </a:stretch>
        </p:blipFill>
        <p:spPr>
          <a:xfrm>
            <a:off x="635423" y="3589736"/>
            <a:ext cx="4432601" cy="2773591"/>
          </a:xfrm>
          <a:prstGeom prst="rect">
            <a:avLst/>
          </a:prstGeom>
          <a:effectLst>
            <a:glow rad="63500">
              <a:schemeClr val="accent3">
                <a:satMod val="175000"/>
                <a:alpha val="40000"/>
              </a:schemeClr>
            </a:glow>
          </a:effectLst>
        </p:spPr>
      </p:pic>
      <p:pic>
        <p:nvPicPr>
          <p:cNvPr id="24" name="Picture 23">
            <a:extLst>
              <a:ext uri="{FF2B5EF4-FFF2-40B4-BE49-F238E27FC236}">
                <a16:creationId xmlns:a16="http://schemas.microsoft.com/office/drawing/2014/main" id="{3DBBF3BF-6639-3340-3A43-F13B68A8D168}"/>
              </a:ext>
            </a:extLst>
          </p:cNvPr>
          <p:cNvPicPr>
            <a:picLocks noChangeAspect="1"/>
          </p:cNvPicPr>
          <p:nvPr/>
        </p:nvPicPr>
        <p:blipFill>
          <a:blip r:embed="rId3"/>
          <a:stretch>
            <a:fillRect/>
          </a:stretch>
        </p:blipFill>
        <p:spPr>
          <a:xfrm>
            <a:off x="4692873" y="3259010"/>
            <a:ext cx="2679375" cy="2640318"/>
          </a:xfrm>
          <a:prstGeom prst="rect">
            <a:avLst/>
          </a:prstGeom>
          <a:effectLst>
            <a:glow rad="63500">
              <a:schemeClr val="accent3">
                <a:satMod val="175000"/>
                <a:alpha val="40000"/>
              </a:schemeClr>
            </a:glow>
          </a:effectLst>
        </p:spPr>
      </p:pic>
      <p:sp>
        <p:nvSpPr>
          <p:cNvPr id="3" name="Subtitle 2">
            <a:extLst>
              <a:ext uri="{FF2B5EF4-FFF2-40B4-BE49-F238E27FC236}">
                <a16:creationId xmlns:a16="http://schemas.microsoft.com/office/drawing/2014/main" id="{5DD04D75-5580-4918-ACD6-01E26F36A2CB}"/>
              </a:ext>
            </a:extLst>
          </p:cNvPr>
          <p:cNvSpPr>
            <a:spLocks noGrp="1"/>
          </p:cNvSpPr>
          <p:nvPr>
            <p:ph type="subTitle" idx="4294967295"/>
          </p:nvPr>
        </p:nvSpPr>
        <p:spPr>
          <a:xfrm>
            <a:off x="789559" y="203200"/>
            <a:ext cx="10973816" cy="3004683"/>
          </a:xfrm>
          <a:prstGeom prst="rect">
            <a:avLst/>
          </a:prstGeom>
        </p:spPr>
        <p:txBody>
          <a:bodyPr vert="horz" lIns="91440" tIns="45720" rIns="91440" bIns="45720" rtlCol="0" anchor="t">
            <a:normAutofit fontScale="55000" lnSpcReduction="20000"/>
          </a:bodyPr>
          <a:lstStyle/>
          <a:p>
            <a:pPr marL="0" indent="0">
              <a:lnSpc>
                <a:spcPct val="120000"/>
              </a:lnSpc>
              <a:spcBef>
                <a:spcPts val="600"/>
              </a:spcBef>
              <a:buNone/>
            </a:pPr>
            <a:r>
              <a:rPr lang="en-US" sz="3000" b="1" dirty="0">
                <a:solidFill>
                  <a:schemeClr val="accent1">
                    <a:lumMod val="75000"/>
                  </a:schemeClr>
                </a:solidFill>
              </a:rPr>
              <a:t>IMS Administration Tool ISPF LAB Exercise 2</a:t>
            </a:r>
          </a:p>
          <a:p>
            <a:pPr marL="0" indent="0">
              <a:lnSpc>
                <a:spcPct val="120000"/>
              </a:lnSpc>
              <a:spcBef>
                <a:spcPts val="600"/>
              </a:spcBef>
              <a:buNone/>
            </a:pPr>
            <a:r>
              <a:rPr lang="en-US" sz="2600" b="1" dirty="0"/>
              <a:t>Key Feature:   Database and Application Administration - Compare </a:t>
            </a:r>
            <a:endParaRPr lang="en-US" sz="2600" b="1" dirty="0">
              <a:cs typeface="Calibri"/>
            </a:endParaRPr>
          </a:p>
          <a:p>
            <a:pPr marL="0" indent="0">
              <a:lnSpc>
                <a:spcPct val="120000"/>
              </a:lnSpc>
              <a:spcBef>
                <a:spcPts val="600"/>
              </a:spcBef>
              <a:buNone/>
            </a:pPr>
            <a:r>
              <a:rPr lang="en-US" sz="2600" b="1" dirty="0"/>
              <a:t>Description:</a:t>
            </a:r>
            <a:r>
              <a:rPr lang="en-US" sz="2600" dirty="0"/>
              <a:t>    Compare multiple resources between the IMS Directory data sets of IFA1 (Managed ACBs) using filtering.     </a:t>
            </a:r>
            <a:endParaRPr lang="en-US" sz="2600" dirty="0">
              <a:cs typeface="Calibri"/>
            </a:endParaRPr>
          </a:p>
          <a:p>
            <a:pPr marL="0" indent="0">
              <a:lnSpc>
                <a:spcPct val="120000"/>
              </a:lnSpc>
              <a:spcBef>
                <a:spcPts val="600"/>
              </a:spcBef>
              <a:buNone/>
            </a:pPr>
            <a:r>
              <a:rPr lang="en-US" sz="2600" b="1" dirty="0"/>
              <a:t>Instructions:</a:t>
            </a:r>
            <a:r>
              <a:rPr lang="en-US" sz="2600" dirty="0"/>
              <a:t>  </a:t>
            </a:r>
          </a:p>
          <a:p>
            <a:pPr marL="396875" indent="-284163">
              <a:lnSpc>
                <a:spcPct val="120000"/>
              </a:lnSpc>
              <a:spcBef>
                <a:spcPts val="100"/>
              </a:spcBef>
              <a:buFont typeface="+mj-lt"/>
              <a:buAutoNum type="arabicPeriod"/>
            </a:pPr>
            <a:r>
              <a:rPr lang="en-US" sz="2600" dirty="0"/>
              <a:t>S</a:t>
            </a:r>
            <a:r>
              <a:rPr lang="en-US" sz="2600" dirty="0">
                <a:cs typeface="Calibri Light"/>
              </a:rPr>
              <a:t>elect</a:t>
            </a:r>
            <a:r>
              <a:rPr lang="en-US" sz="2600" dirty="0"/>
              <a:t> Option          (Compare Multiple Resources).</a:t>
            </a:r>
            <a:endParaRPr lang="en-US" sz="2600" dirty="0">
              <a:cs typeface="Calibri"/>
            </a:endParaRPr>
          </a:p>
          <a:p>
            <a:pPr marL="396875" indent="-284163">
              <a:lnSpc>
                <a:spcPct val="120000"/>
              </a:lnSpc>
              <a:spcBef>
                <a:spcPts val="100"/>
              </a:spcBef>
              <a:buFont typeface="+mj-lt"/>
              <a:buAutoNum type="arabicPeriod"/>
            </a:pPr>
            <a:r>
              <a:rPr lang="en-US" sz="2600" dirty="0"/>
              <a:t>Specify "</a:t>
            </a:r>
            <a:r>
              <a:rPr lang="en-US" sz="2600" b="1" dirty="0"/>
              <a:t>1</a:t>
            </a:r>
            <a:r>
              <a:rPr lang="en-US" sz="2600" dirty="0"/>
              <a:t>" for DBD resource type and specify the Filter "</a:t>
            </a:r>
            <a:r>
              <a:rPr lang="en-US" sz="2600" b="1" dirty="0"/>
              <a:t>*</a:t>
            </a:r>
            <a:r>
              <a:rPr lang="en-US" sz="2600" dirty="0"/>
              <a:t>".</a:t>
            </a:r>
            <a:endParaRPr lang="en-US" sz="2600" dirty="0">
              <a:cs typeface="Calibri"/>
            </a:endParaRPr>
          </a:p>
          <a:p>
            <a:pPr marL="396875" indent="-284163">
              <a:lnSpc>
                <a:spcPct val="120000"/>
              </a:lnSpc>
              <a:spcBef>
                <a:spcPts val="100"/>
              </a:spcBef>
              <a:buFont typeface="+mj-lt"/>
              <a:buAutoNum type="arabicPeriod"/>
            </a:pPr>
            <a:r>
              <a:rPr lang="en-US" sz="2600" dirty="0"/>
              <a:t>For the </a:t>
            </a:r>
            <a:r>
              <a:rPr lang="en-US" sz="2600" b="1" dirty="0"/>
              <a:t>Source IMS Directory</a:t>
            </a:r>
            <a:r>
              <a:rPr lang="en-US" sz="2600" dirty="0"/>
              <a:t>, specify "</a:t>
            </a:r>
            <a:r>
              <a:rPr lang="en-US" sz="2600" b="1" dirty="0"/>
              <a:t>1</a:t>
            </a:r>
            <a:r>
              <a:rPr lang="en-US" sz="2600" dirty="0"/>
              <a:t>" for IMSID, "</a:t>
            </a:r>
            <a:r>
              <a:rPr lang="en-US" sz="2600" b="1" dirty="0">
                <a:highlight>
                  <a:srgbClr val="FFFF00"/>
                </a:highlight>
              </a:rPr>
              <a:t>A</a:t>
            </a:r>
            <a:r>
              <a:rPr lang="en-US" sz="2600" dirty="0"/>
              <a:t>" for the Active IMS Directory, and </a:t>
            </a:r>
            <a:r>
              <a:rPr lang="en-US" sz="2600" b="1" dirty="0"/>
              <a:t>blanks</a:t>
            </a:r>
            <a:r>
              <a:rPr lang="en-US" sz="2600" dirty="0"/>
              <a:t> for the resource name since we are displaying multiple objects using filtering.</a:t>
            </a:r>
            <a:endParaRPr lang="en-US" sz="2600" dirty="0">
              <a:cs typeface="Calibri"/>
            </a:endParaRPr>
          </a:p>
          <a:p>
            <a:pPr marL="396875" indent="-284163">
              <a:lnSpc>
                <a:spcPct val="120000"/>
              </a:lnSpc>
              <a:spcBef>
                <a:spcPts val="100"/>
              </a:spcBef>
              <a:buFont typeface="+mj-lt"/>
              <a:buAutoNum type="arabicPeriod"/>
            </a:pPr>
            <a:r>
              <a:rPr lang="en-US" sz="2600" dirty="0">
                <a:cs typeface="Calibri Light"/>
              </a:rPr>
              <a:t>For the </a:t>
            </a:r>
            <a:r>
              <a:rPr lang="en-US" sz="2600" b="1" dirty="0">
                <a:cs typeface="Calibri Light"/>
              </a:rPr>
              <a:t>Target IMS Directory</a:t>
            </a:r>
            <a:r>
              <a:rPr lang="en-US" sz="2600" dirty="0">
                <a:cs typeface="Calibri Light"/>
              </a:rPr>
              <a:t>, Specify "</a:t>
            </a:r>
            <a:r>
              <a:rPr lang="en-US" sz="2600" b="1" dirty="0">
                <a:cs typeface="Calibri Light"/>
              </a:rPr>
              <a:t>1</a:t>
            </a:r>
            <a:r>
              <a:rPr lang="en-US" sz="2600" dirty="0">
                <a:cs typeface="Calibri Light"/>
              </a:rPr>
              <a:t>" for IMSID, "</a:t>
            </a:r>
            <a:r>
              <a:rPr lang="en-US" sz="2600" b="1" dirty="0">
                <a:highlight>
                  <a:srgbClr val="FFFF00"/>
                </a:highlight>
                <a:cs typeface="Calibri Light"/>
              </a:rPr>
              <a:t>S</a:t>
            </a:r>
            <a:r>
              <a:rPr lang="en-US" sz="2600" dirty="0">
                <a:cs typeface="Calibri Light"/>
              </a:rPr>
              <a:t>" for the Staging IMS Directory, and </a:t>
            </a:r>
            <a:r>
              <a:rPr lang="en-US" sz="2600" b="1" dirty="0">
                <a:cs typeface="Calibri Light"/>
              </a:rPr>
              <a:t>blanks</a:t>
            </a:r>
            <a:r>
              <a:rPr lang="en-US" sz="2600" dirty="0">
                <a:cs typeface="Calibri Light"/>
              </a:rPr>
              <a:t> for the resource name.  Then, press Enter.</a:t>
            </a:r>
          </a:p>
          <a:p>
            <a:pPr marL="396875" indent="-284163">
              <a:lnSpc>
                <a:spcPct val="120000"/>
              </a:lnSpc>
              <a:spcBef>
                <a:spcPts val="100"/>
              </a:spcBef>
              <a:buFont typeface="+mj-lt"/>
              <a:buAutoNum type="arabicPeriod"/>
            </a:pPr>
            <a:r>
              <a:rPr lang="en-US" sz="2600" dirty="0">
                <a:cs typeface="Calibri Light"/>
              </a:rPr>
              <a:t>You will be prompted with a panel to select the Source IMSID.  Select "</a:t>
            </a:r>
            <a:r>
              <a:rPr lang="en-US" sz="2600" b="1" dirty="0">
                <a:cs typeface="Calibri Light"/>
              </a:rPr>
              <a:t>IVP1</a:t>
            </a:r>
            <a:r>
              <a:rPr lang="en-US" sz="2600" dirty="0">
                <a:cs typeface="Calibri Light"/>
              </a:rPr>
              <a:t>", and press Enter.  Then, It will bring you back to the previous panel to allow you to select the Target IMSID.  Press Enter and you will select "</a:t>
            </a:r>
            <a:r>
              <a:rPr lang="en-US" sz="2600" b="1" dirty="0">
                <a:cs typeface="Calibri Light"/>
              </a:rPr>
              <a:t>IVP1</a:t>
            </a:r>
            <a:r>
              <a:rPr lang="en-US" sz="2600" dirty="0">
                <a:cs typeface="Calibri Light"/>
              </a:rPr>
              <a:t>" from the list.  Press Enter. </a:t>
            </a:r>
          </a:p>
          <a:p>
            <a:pPr marL="396875" indent="-284163">
              <a:lnSpc>
                <a:spcPct val="120000"/>
              </a:lnSpc>
              <a:spcBef>
                <a:spcPts val="100"/>
              </a:spcBef>
              <a:buFont typeface="+mj-lt"/>
              <a:buAutoNum type="arabicPeriod"/>
            </a:pPr>
            <a:r>
              <a:rPr lang="en-US" sz="2600" dirty="0">
                <a:cs typeface="Calibri Light"/>
              </a:rPr>
              <a:t> After both Source and Target IMSIDs are selected, you can press Enter again to see the list of resources that were filtered.    </a:t>
            </a:r>
            <a:endParaRPr lang="en-US" sz="2600" dirty="0">
              <a:cs typeface="Calibri"/>
            </a:endParaRPr>
          </a:p>
        </p:txBody>
      </p:sp>
      <p:cxnSp>
        <p:nvCxnSpPr>
          <p:cNvPr id="7" name="Straight Arrow Connector 6">
            <a:extLst>
              <a:ext uri="{FF2B5EF4-FFF2-40B4-BE49-F238E27FC236}">
                <a16:creationId xmlns:a16="http://schemas.microsoft.com/office/drawing/2014/main" id="{3BD62DBA-A119-4885-877C-4F36817C284D}"/>
              </a:ext>
            </a:extLst>
          </p:cNvPr>
          <p:cNvCxnSpPr>
            <a:cxnSpLocks/>
          </p:cNvCxnSpPr>
          <p:nvPr/>
        </p:nvCxnSpPr>
        <p:spPr>
          <a:xfrm>
            <a:off x="320862" y="4159132"/>
            <a:ext cx="274320"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C0668073-AA05-AB9B-2322-E419FE739713}"/>
              </a:ext>
            </a:extLst>
          </p:cNvPr>
          <p:cNvSpPr/>
          <p:nvPr/>
        </p:nvSpPr>
        <p:spPr>
          <a:xfrm>
            <a:off x="2302987" y="1401476"/>
            <a:ext cx="297180" cy="205740"/>
          </a:xfrm>
          <a:prstGeom prst="rect">
            <a:avLst/>
          </a:prstGeom>
          <a:solidFill>
            <a:schemeClr val="bg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b="1" dirty="0">
                <a:solidFill>
                  <a:schemeClr val="tx1"/>
                </a:solidFill>
                <a:cs typeface="Calibri"/>
              </a:rPr>
              <a:t>2</a:t>
            </a:r>
          </a:p>
        </p:txBody>
      </p:sp>
      <p:cxnSp>
        <p:nvCxnSpPr>
          <p:cNvPr id="12" name="Straight Arrow Connector 11">
            <a:extLst>
              <a:ext uri="{FF2B5EF4-FFF2-40B4-BE49-F238E27FC236}">
                <a16:creationId xmlns:a16="http://schemas.microsoft.com/office/drawing/2014/main" id="{A5728156-02F0-F29A-8559-BBB0E8B0215A}"/>
              </a:ext>
            </a:extLst>
          </p:cNvPr>
          <p:cNvCxnSpPr>
            <a:cxnSpLocks/>
          </p:cNvCxnSpPr>
          <p:nvPr/>
        </p:nvCxnSpPr>
        <p:spPr>
          <a:xfrm>
            <a:off x="320862" y="4359157"/>
            <a:ext cx="274320"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1128C4D6-94E3-038B-1195-B866CC0D3A26}"/>
              </a:ext>
            </a:extLst>
          </p:cNvPr>
          <p:cNvCxnSpPr>
            <a:cxnSpLocks/>
          </p:cNvCxnSpPr>
          <p:nvPr/>
        </p:nvCxnSpPr>
        <p:spPr>
          <a:xfrm>
            <a:off x="320862" y="4899385"/>
            <a:ext cx="274320"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3D810B00-6073-8356-D70D-F29D48248D02}"/>
              </a:ext>
            </a:extLst>
          </p:cNvPr>
          <p:cNvCxnSpPr>
            <a:cxnSpLocks/>
          </p:cNvCxnSpPr>
          <p:nvPr/>
        </p:nvCxnSpPr>
        <p:spPr>
          <a:xfrm>
            <a:off x="320862" y="5143439"/>
            <a:ext cx="274320"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53D3D22E-CDCD-B9C8-EEA2-256CF2466161}"/>
              </a:ext>
            </a:extLst>
          </p:cNvPr>
          <p:cNvCxnSpPr>
            <a:cxnSpLocks/>
          </p:cNvCxnSpPr>
          <p:nvPr/>
        </p:nvCxnSpPr>
        <p:spPr>
          <a:xfrm>
            <a:off x="320862" y="5631012"/>
            <a:ext cx="274320"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D5721B9D-2570-186F-C0AF-B24AF5DA8061}"/>
              </a:ext>
            </a:extLst>
          </p:cNvPr>
          <p:cNvCxnSpPr>
            <a:cxnSpLocks/>
          </p:cNvCxnSpPr>
          <p:nvPr/>
        </p:nvCxnSpPr>
        <p:spPr>
          <a:xfrm>
            <a:off x="320862" y="5884591"/>
            <a:ext cx="274320"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32BF9A47-6457-3192-45FF-F1085C362E58}"/>
              </a:ext>
            </a:extLst>
          </p:cNvPr>
          <p:cNvCxnSpPr>
            <a:cxnSpLocks/>
          </p:cNvCxnSpPr>
          <p:nvPr/>
        </p:nvCxnSpPr>
        <p:spPr>
          <a:xfrm>
            <a:off x="320862" y="4502032"/>
            <a:ext cx="274320"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C070A6C3-72A2-E5D0-4DA5-70BA6A9AD717}"/>
              </a:ext>
            </a:extLst>
          </p:cNvPr>
          <p:cNvSpPr/>
          <p:nvPr/>
        </p:nvSpPr>
        <p:spPr>
          <a:xfrm>
            <a:off x="1759707" y="5077659"/>
            <a:ext cx="146478" cy="144041"/>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96590639-9F2C-5BAC-1B09-006A38BC7E7B}"/>
              </a:ext>
            </a:extLst>
          </p:cNvPr>
          <p:cNvSpPr/>
          <p:nvPr/>
        </p:nvSpPr>
        <p:spPr>
          <a:xfrm>
            <a:off x="1759712" y="5815337"/>
            <a:ext cx="146478" cy="144041"/>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Slide Number Placeholder 9">
            <a:extLst>
              <a:ext uri="{FF2B5EF4-FFF2-40B4-BE49-F238E27FC236}">
                <a16:creationId xmlns:a16="http://schemas.microsoft.com/office/drawing/2014/main" id="{B4ADBACD-3EBD-B9A5-F849-B4B1B54CDCC1}"/>
              </a:ext>
            </a:extLst>
          </p:cNvPr>
          <p:cNvSpPr>
            <a:spLocks noGrp="1"/>
          </p:cNvSpPr>
          <p:nvPr>
            <p:ph type="sldNum" sz="quarter" idx="12"/>
          </p:nvPr>
        </p:nvSpPr>
        <p:spPr/>
        <p:txBody>
          <a:bodyPr/>
          <a:lstStyle/>
          <a:p>
            <a:fld id="{1C788548-AC4B-4945-A4F1-BA86477A7FC8}" type="slidenum">
              <a:rPr lang="en-US" smtClean="0"/>
              <a:t>18</a:t>
            </a:fld>
            <a:endParaRPr lang="en-US"/>
          </a:p>
        </p:txBody>
      </p:sp>
      <p:pic>
        <p:nvPicPr>
          <p:cNvPr id="22" name="Picture 21">
            <a:extLst>
              <a:ext uri="{FF2B5EF4-FFF2-40B4-BE49-F238E27FC236}">
                <a16:creationId xmlns:a16="http://schemas.microsoft.com/office/drawing/2014/main" id="{E429C7F7-1D9D-BC33-215D-7A71C9B5AD95}"/>
              </a:ext>
            </a:extLst>
          </p:cNvPr>
          <p:cNvPicPr>
            <a:picLocks noChangeAspect="1"/>
          </p:cNvPicPr>
          <p:nvPr/>
        </p:nvPicPr>
        <p:blipFill>
          <a:blip r:embed="rId4"/>
          <a:stretch>
            <a:fillRect/>
          </a:stretch>
        </p:blipFill>
        <p:spPr>
          <a:xfrm>
            <a:off x="5470146" y="4027924"/>
            <a:ext cx="2687187" cy="2640318"/>
          </a:xfrm>
          <a:prstGeom prst="rect">
            <a:avLst/>
          </a:prstGeom>
          <a:effectLst>
            <a:glow rad="63500">
              <a:schemeClr val="accent3">
                <a:satMod val="175000"/>
                <a:alpha val="40000"/>
              </a:schemeClr>
            </a:glow>
          </a:effectLst>
        </p:spPr>
      </p:pic>
      <p:pic>
        <p:nvPicPr>
          <p:cNvPr id="26" name="Picture 25">
            <a:extLst>
              <a:ext uri="{FF2B5EF4-FFF2-40B4-BE49-F238E27FC236}">
                <a16:creationId xmlns:a16="http://schemas.microsoft.com/office/drawing/2014/main" id="{6B618526-0E09-B04D-7224-15D53DB47A27}"/>
              </a:ext>
            </a:extLst>
          </p:cNvPr>
          <p:cNvPicPr>
            <a:picLocks noChangeAspect="1"/>
          </p:cNvPicPr>
          <p:nvPr/>
        </p:nvPicPr>
        <p:blipFill>
          <a:blip r:embed="rId5"/>
          <a:stretch>
            <a:fillRect/>
          </a:stretch>
        </p:blipFill>
        <p:spPr>
          <a:xfrm>
            <a:off x="7490294" y="3437626"/>
            <a:ext cx="4432601" cy="2867901"/>
          </a:xfrm>
          <a:prstGeom prst="rect">
            <a:avLst/>
          </a:prstGeom>
          <a:effectLst>
            <a:glow rad="63500">
              <a:schemeClr val="accent3">
                <a:satMod val="175000"/>
                <a:alpha val="40000"/>
              </a:schemeClr>
            </a:glow>
          </a:effectLst>
        </p:spPr>
      </p:pic>
    </p:spTree>
    <p:extLst>
      <p:ext uri="{BB962C8B-B14F-4D97-AF65-F5344CB8AC3E}">
        <p14:creationId xmlns:p14="http://schemas.microsoft.com/office/powerpoint/2010/main" val="39276315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0D228161-C724-E161-522B-33A79A78E1EF}"/>
              </a:ext>
            </a:extLst>
          </p:cNvPr>
          <p:cNvPicPr>
            <a:picLocks noChangeAspect="1"/>
          </p:cNvPicPr>
          <p:nvPr/>
        </p:nvPicPr>
        <p:blipFill>
          <a:blip r:embed="rId2"/>
          <a:stretch>
            <a:fillRect/>
          </a:stretch>
        </p:blipFill>
        <p:spPr>
          <a:xfrm>
            <a:off x="675009" y="3801640"/>
            <a:ext cx="5220619" cy="1544980"/>
          </a:xfrm>
          <a:prstGeom prst="rect">
            <a:avLst/>
          </a:prstGeom>
          <a:effectLst>
            <a:glow rad="63500">
              <a:schemeClr val="accent3">
                <a:satMod val="175000"/>
                <a:alpha val="40000"/>
              </a:schemeClr>
            </a:glow>
          </a:effectLst>
        </p:spPr>
      </p:pic>
      <p:pic>
        <p:nvPicPr>
          <p:cNvPr id="16" name="Picture 15">
            <a:extLst>
              <a:ext uri="{FF2B5EF4-FFF2-40B4-BE49-F238E27FC236}">
                <a16:creationId xmlns:a16="http://schemas.microsoft.com/office/drawing/2014/main" id="{65F1A95E-F8F1-1909-7BAC-E970FE593D4A}"/>
              </a:ext>
            </a:extLst>
          </p:cNvPr>
          <p:cNvPicPr>
            <a:picLocks noChangeAspect="1"/>
          </p:cNvPicPr>
          <p:nvPr/>
        </p:nvPicPr>
        <p:blipFill>
          <a:blip r:embed="rId3"/>
          <a:stretch>
            <a:fillRect/>
          </a:stretch>
        </p:blipFill>
        <p:spPr>
          <a:xfrm>
            <a:off x="6419452" y="3192656"/>
            <a:ext cx="5303689" cy="3163694"/>
          </a:xfrm>
          <a:prstGeom prst="rect">
            <a:avLst/>
          </a:prstGeom>
          <a:effectLst>
            <a:glow rad="63500">
              <a:schemeClr val="accent3">
                <a:satMod val="175000"/>
                <a:alpha val="40000"/>
              </a:schemeClr>
            </a:glow>
          </a:effectLst>
        </p:spPr>
      </p:pic>
      <p:sp>
        <p:nvSpPr>
          <p:cNvPr id="3" name="Subtitle 2">
            <a:extLst>
              <a:ext uri="{FF2B5EF4-FFF2-40B4-BE49-F238E27FC236}">
                <a16:creationId xmlns:a16="http://schemas.microsoft.com/office/drawing/2014/main" id="{5DD04D75-5580-4918-ACD6-01E26F36A2CB}"/>
              </a:ext>
            </a:extLst>
          </p:cNvPr>
          <p:cNvSpPr>
            <a:spLocks noGrp="1"/>
          </p:cNvSpPr>
          <p:nvPr>
            <p:ph type="subTitle" idx="4294967295"/>
          </p:nvPr>
        </p:nvSpPr>
        <p:spPr>
          <a:xfrm>
            <a:off x="789559" y="203200"/>
            <a:ext cx="10973816" cy="3100424"/>
          </a:xfrm>
          <a:prstGeom prst="rect">
            <a:avLst/>
          </a:prstGeom>
        </p:spPr>
        <p:txBody>
          <a:bodyPr vert="horz" lIns="91440" tIns="45720" rIns="91440" bIns="45720" rtlCol="0" anchor="t">
            <a:normAutofit fontScale="70000" lnSpcReduction="20000"/>
          </a:bodyPr>
          <a:lstStyle/>
          <a:p>
            <a:pPr marL="0" indent="0">
              <a:lnSpc>
                <a:spcPct val="120000"/>
              </a:lnSpc>
              <a:spcBef>
                <a:spcPts val="600"/>
              </a:spcBef>
              <a:buNone/>
            </a:pPr>
            <a:r>
              <a:rPr lang="en-US" sz="3400" b="1" dirty="0">
                <a:solidFill>
                  <a:schemeClr val="accent1">
                    <a:lumMod val="75000"/>
                  </a:schemeClr>
                </a:solidFill>
                <a:latin typeface="Calibri (Body)"/>
              </a:rPr>
              <a:t>IMS Administration Tool ISPF LAB Exercise 2 </a:t>
            </a:r>
          </a:p>
          <a:p>
            <a:pPr marL="0" indent="0">
              <a:lnSpc>
                <a:spcPct val="120000"/>
              </a:lnSpc>
              <a:spcBef>
                <a:spcPts val="600"/>
              </a:spcBef>
              <a:buNone/>
            </a:pPr>
            <a:r>
              <a:rPr lang="en-US" sz="2600" b="1" dirty="0">
                <a:latin typeface="Calibri (Body)"/>
              </a:rPr>
              <a:t>Key Feature:   Database and Application Administration - Compare </a:t>
            </a:r>
            <a:endParaRPr lang="en-US" sz="2600" b="1" dirty="0">
              <a:latin typeface="Calibri (Body)"/>
              <a:cs typeface="Calibri"/>
            </a:endParaRPr>
          </a:p>
          <a:p>
            <a:pPr marL="0" indent="0">
              <a:lnSpc>
                <a:spcPct val="120000"/>
              </a:lnSpc>
              <a:spcBef>
                <a:spcPts val="600"/>
              </a:spcBef>
              <a:buNone/>
            </a:pPr>
            <a:r>
              <a:rPr lang="en-US" sz="2600" b="1" dirty="0">
                <a:latin typeface="Calibri (Body)"/>
              </a:rPr>
              <a:t>Description:</a:t>
            </a:r>
            <a:r>
              <a:rPr lang="en-US" sz="2600" dirty="0">
                <a:latin typeface="Calibri (Body)"/>
              </a:rPr>
              <a:t>    Compare between the IMS Directory and IMS Catalog    </a:t>
            </a:r>
            <a:endParaRPr lang="en-US" sz="2600" dirty="0">
              <a:latin typeface="Calibri (Body)"/>
              <a:cs typeface="Calibri"/>
            </a:endParaRPr>
          </a:p>
          <a:p>
            <a:pPr marL="0" indent="0">
              <a:lnSpc>
                <a:spcPct val="120000"/>
              </a:lnSpc>
              <a:spcBef>
                <a:spcPts val="600"/>
              </a:spcBef>
              <a:buNone/>
            </a:pPr>
            <a:r>
              <a:rPr lang="en-US" sz="2600" b="1" dirty="0">
                <a:latin typeface="Calibri (Body)"/>
              </a:rPr>
              <a:t>Instructions:</a:t>
            </a:r>
            <a:r>
              <a:rPr lang="en-US" sz="2600" dirty="0">
                <a:latin typeface="Calibri (Body)"/>
              </a:rPr>
              <a:t>   If you are interested in seeing other types of compares, you can go back to the “</a:t>
            </a:r>
            <a:r>
              <a:rPr lang="en-US" sz="2600" b="1" dirty="0">
                <a:latin typeface="Calibri (Body)"/>
              </a:rPr>
              <a:t>Database and Application Administration</a:t>
            </a:r>
            <a:r>
              <a:rPr lang="en-US" sz="2600" dirty="0">
                <a:latin typeface="Calibri (Body)"/>
              </a:rPr>
              <a:t>” Menu, S</a:t>
            </a:r>
            <a:r>
              <a:rPr lang="en-US" sz="2600" dirty="0">
                <a:latin typeface="Calibri (Body)"/>
                <a:cs typeface="Calibri Light"/>
              </a:rPr>
              <a:t>elect</a:t>
            </a:r>
            <a:r>
              <a:rPr lang="en-US" sz="2600" dirty="0">
                <a:latin typeface="Calibri (Body)"/>
              </a:rPr>
              <a:t> Option         (Compare) again and Press Enter.  Then, select Option          (Compare IMS Directory and IMS Catalog) and press Enter.</a:t>
            </a:r>
          </a:p>
          <a:p>
            <a:pPr marL="0" indent="0">
              <a:lnSpc>
                <a:spcPct val="120000"/>
              </a:lnSpc>
              <a:spcBef>
                <a:spcPts val="600"/>
              </a:spcBef>
              <a:buNone/>
            </a:pPr>
            <a:r>
              <a:rPr lang="en-US" sz="2600" dirty="0">
                <a:latin typeface="Calibri (Body)"/>
                <a:cs typeface="Calibri Light"/>
              </a:rPr>
              <a:t>In this example, we will be comparing all objects that are in the IMS Directory and IMS Catalog to see if both are in sync.  Specify the options below that are highlighted in blue, then Press Enter several times to resolve the discovered IMS information and to get a list of objects.</a:t>
            </a:r>
          </a:p>
        </p:txBody>
      </p:sp>
      <p:cxnSp>
        <p:nvCxnSpPr>
          <p:cNvPr id="7" name="Straight Arrow Connector 6">
            <a:extLst>
              <a:ext uri="{FF2B5EF4-FFF2-40B4-BE49-F238E27FC236}">
                <a16:creationId xmlns:a16="http://schemas.microsoft.com/office/drawing/2014/main" id="{3BD62DBA-A119-4885-877C-4F36817C284D}"/>
              </a:ext>
            </a:extLst>
          </p:cNvPr>
          <p:cNvCxnSpPr>
            <a:cxnSpLocks/>
          </p:cNvCxnSpPr>
          <p:nvPr/>
        </p:nvCxnSpPr>
        <p:spPr>
          <a:xfrm>
            <a:off x="345060" y="3995407"/>
            <a:ext cx="312696"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a16="http://schemas.microsoft.com/office/drawing/2014/main" id="{5F034EAB-F64A-4292-9925-A89481E69480}"/>
              </a:ext>
            </a:extLst>
          </p:cNvPr>
          <p:cNvSpPr/>
          <p:nvPr/>
        </p:nvSpPr>
        <p:spPr>
          <a:xfrm>
            <a:off x="5507432" y="1702298"/>
            <a:ext cx="297180" cy="205740"/>
          </a:xfrm>
          <a:prstGeom prst="rect">
            <a:avLst/>
          </a:prstGeom>
          <a:solidFill>
            <a:schemeClr val="bg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b="1" dirty="0">
                <a:solidFill>
                  <a:schemeClr val="tx1"/>
                </a:solidFill>
                <a:cs typeface="Calibri"/>
              </a:rPr>
              <a:t>3</a:t>
            </a:r>
          </a:p>
        </p:txBody>
      </p:sp>
      <p:cxnSp>
        <p:nvCxnSpPr>
          <p:cNvPr id="10" name="Straight Arrow Connector 9">
            <a:extLst>
              <a:ext uri="{FF2B5EF4-FFF2-40B4-BE49-F238E27FC236}">
                <a16:creationId xmlns:a16="http://schemas.microsoft.com/office/drawing/2014/main" id="{C3E96EC7-FAD0-77DF-A851-A4C80779C6E1}"/>
              </a:ext>
            </a:extLst>
          </p:cNvPr>
          <p:cNvCxnSpPr>
            <a:cxnSpLocks/>
          </p:cNvCxnSpPr>
          <p:nvPr/>
        </p:nvCxnSpPr>
        <p:spPr>
          <a:xfrm>
            <a:off x="6071794" y="3839773"/>
            <a:ext cx="310896"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3FB0FA2B-2A18-8603-6A46-3BFD90C81E16}"/>
              </a:ext>
            </a:extLst>
          </p:cNvPr>
          <p:cNvSpPr/>
          <p:nvPr/>
        </p:nvSpPr>
        <p:spPr>
          <a:xfrm>
            <a:off x="1630304" y="1971165"/>
            <a:ext cx="297180" cy="205740"/>
          </a:xfrm>
          <a:prstGeom prst="rect">
            <a:avLst/>
          </a:prstGeom>
          <a:solidFill>
            <a:schemeClr val="bg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b="1" dirty="0">
                <a:solidFill>
                  <a:schemeClr val="tx1"/>
                </a:solidFill>
              </a:rPr>
              <a:t>3</a:t>
            </a:r>
            <a:endParaRPr lang="en-US" b="1" dirty="0">
              <a:solidFill>
                <a:schemeClr val="tx1"/>
              </a:solidFill>
              <a:cs typeface="Calibri"/>
            </a:endParaRPr>
          </a:p>
        </p:txBody>
      </p:sp>
      <p:sp>
        <p:nvSpPr>
          <p:cNvPr id="2" name="Rectangle 1">
            <a:extLst>
              <a:ext uri="{FF2B5EF4-FFF2-40B4-BE49-F238E27FC236}">
                <a16:creationId xmlns:a16="http://schemas.microsoft.com/office/drawing/2014/main" id="{26CA3085-4CA2-2B97-E8C9-681721C18C24}"/>
              </a:ext>
            </a:extLst>
          </p:cNvPr>
          <p:cNvSpPr/>
          <p:nvPr/>
        </p:nvSpPr>
        <p:spPr>
          <a:xfrm>
            <a:off x="7769874" y="5711078"/>
            <a:ext cx="146478" cy="144041"/>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ADE1AD9F-8908-0017-71C2-4533D27113BF}"/>
              </a:ext>
            </a:extLst>
          </p:cNvPr>
          <p:cNvSpPr/>
          <p:nvPr/>
        </p:nvSpPr>
        <p:spPr>
          <a:xfrm>
            <a:off x="7769873" y="4968949"/>
            <a:ext cx="146478" cy="144041"/>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Slide Number Placeholder 11">
            <a:extLst>
              <a:ext uri="{FF2B5EF4-FFF2-40B4-BE49-F238E27FC236}">
                <a16:creationId xmlns:a16="http://schemas.microsoft.com/office/drawing/2014/main" id="{A17743B7-A8FD-BFBE-2158-CDA871003E63}"/>
              </a:ext>
            </a:extLst>
          </p:cNvPr>
          <p:cNvSpPr>
            <a:spLocks noGrp="1"/>
          </p:cNvSpPr>
          <p:nvPr>
            <p:ph type="sldNum" sz="quarter" idx="12"/>
          </p:nvPr>
        </p:nvSpPr>
        <p:spPr/>
        <p:txBody>
          <a:bodyPr/>
          <a:lstStyle/>
          <a:p>
            <a:fld id="{1C788548-AC4B-4945-A4F1-BA86477A7FC8}" type="slidenum">
              <a:rPr lang="en-US" smtClean="0"/>
              <a:t>19</a:t>
            </a:fld>
            <a:endParaRPr lang="en-US"/>
          </a:p>
        </p:txBody>
      </p:sp>
      <p:cxnSp>
        <p:nvCxnSpPr>
          <p:cNvPr id="18" name="Straight Arrow Connector 17">
            <a:extLst>
              <a:ext uri="{FF2B5EF4-FFF2-40B4-BE49-F238E27FC236}">
                <a16:creationId xmlns:a16="http://schemas.microsoft.com/office/drawing/2014/main" id="{CCA008FF-6E61-5960-3165-CB9EB53B2987}"/>
              </a:ext>
            </a:extLst>
          </p:cNvPr>
          <p:cNvCxnSpPr>
            <a:cxnSpLocks/>
          </p:cNvCxnSpPr>
          <p:nvPr/>
        </p:nvCxnSpPr>
        <p:spPr>
          <a:xfrm>
            <a:off x="6060292" y="4138821"/>
            <a:ext cx="310896"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D18AD279-879F-367D-90C8-74DACAD93471}"/>
              </a:ext>
            </a:extLst>
          </p:cNvPr>
          <p:cNvCxnSpPr>
            <a:cxnSpLocks/>
          </p:cNvCxnSpPr>
          <p:nvPr/>
        </p:nvCxnSpPr>
        <p:spPr>
          <a:xfrm>
            <a:off x="6066047" y="4291222"/>
            <a:ext cx="310896"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A05DF922-A97E-5FFF-EE44-2678527CCB91}"/>
              </a:ext>
            </a:extLst>
          </p:cNvPr>
          <p:cNvCxnSpPr>
            <a:cxnSpLocks/>
          </p:cNvCxnSpPr>
          <p:nvPr/>
        </p:nvCxnSpPr>
        <p:spPr>
          <a:xfrm>
            <a:off x="6057421" y="4748420"/>
            <a:ext cx="310896"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712B12B4-095D-320A-7A44-3DC86D99886A}"/>
              </a:ext>
            </a:extLst>
          </p:cNvPr>
          <p:cNvCxnSpPr>
            <a:cxnSpLocks/>
          </p:cNvCxnSpPr>
          <p:nvPr/>
        </p:nvCxnSpPr>
        <p:spPr>
          <a:xfrm>
            <a:off x="6048790" y="5033089"/>
            <a:ext cx="310896"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2F46ACA6-04DA-BBCB-393A-E61572148E88}"/>
              </a:ext>
            </a:extLst>
          </p:cNvPr>
          <p:cNvCxnSpPr>
            <a:cxnSpLocks/>
          </p:cNvCxnSpPr>
          <p:nvPr/>
        </p:nvCxnSpPr>
        <p:spPr>
          <a:xfrm>
            <a:off x="6048791" y="5636939"/>
            <a:ext cx="310896"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5EDECB71-E599-8709-D34D-6216F5270E57}"/>
              </a:ext>
            </a:extLst>
          </p:cNvPr>
          <p:cNvCxnSpPr>
            <a:cxnSpLocks/>
          </p:cNvCxnSpPr>
          <p:nvPr/>
        </p:nvCxnSpPr>
        <p:spPr>
          <a:xfrm>
            <a:off x="6048789" y="5809473"/>
            <a:ext cx="310896"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592233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5DD04D75-5580-4918-ACD6-01E26F36A2CB}"/>
              </a:ext>
            </a:extLst>
          </p:cNvPr>
          <p:cNvSpPr>
            <a:spLocks noGrp="1"/>
          </p:cNvSpPr>
          <p:nvPr>
            <p:ph type="subTitle" idx="4294967295"/>
          </p:nvPr>
        </p:nvSpPr>
        <p:spPr>
          <a:xfrm>
            <a:off x="789559" y="203201"/>
            <a:ext cx="10973816" cy="2004740"/>
          </a:xfrm>
          <a:prstGeom prst="rect">
            <a:avLst/>
          </a:prstGeom>
        </p:spPr>
        <p:txBody>
          <a:bodyPr vert="horz" lIns="91440" tIns="45720" rIns="91440" bIns="45720" rtlCol="0" anchor="t">
            <a:normAutofit fontScale="77500" lnSpcReduction="20000"/>
          </a:bodyPr>
          <a:lstStyle/>
          <a:p>
            <a:pPr marL="0" indent="0">
              <a:lnSpc>
                <a:spcPct val="110000"/>
              </a:lnSpc>
              <a:spcBef>
                <a:spcPts val="600"/>
              </a:spcBef>
              <a:buNone/>
            </a:pPr>
            <a:r>
              <a:rPr lang="en-US" sz="3100" b="1" dirty="0">
                <a:solidFill>
                  <a:schemeClr val="accent1">
                    <a:lumMod val="75000"/>
                  </a:schemeClr>
                </a:solidFill>
              </a:rPr>
              <a:t>IMS Administration Tool ISPF LAB Exercise 2 </a:t>
            </a:r>
            <a:endParaRPr lang="en-US" sz="3000" b="1" dirty="0">
              <a:solidFill>
                <a:schemeClr val="accent1">
                  <a:lumMod val="75000"/>
                </a:schemeClr>
              </a:solidFill>
            </a:endParaRPr>
          </a:p>
          <a:p>
            <a:pPr marL="0" indent="0">
              <a:lnSpc>
                <a:spcPct val="110000"/>
              </a:lnSpc>
              <a:spcBef>
                <a:spcPts val="600"/>
              </a:spcBef>
              <a:buNone/>
            </a:pPr>
            <a:r>
              <a:rPr lang="en-US" sz="2300" b="1" dirty="0"/>
              <a:t>Key Feature:   Database and Application Administration - Compare </a:t>
            </a:r>
            <a:endParaRPr lang="en-US" sz="2300" b="1" dirty="0">
              <a:cs typeface="Calibri"/>
            </a:endParaRPr>
          </a:p>
          <a:p>
            <a:pPr marL="0" indent="0">
              <a:lnSpc>
                <a:spcPct val="110000"/>
              </a:lnSpc>
              <a:spcBef>
                <a:spcPts val="600"/>
              </a:spcBef>
              <a:buNone/>
            </a:pPr>
            <a:r>
              <a:rPr lang="en-US" sz="2300" b="1" dirty="0"/>
              <a:t>Description:</a:t>
            </a:r>
            <a:r>
              <a:rPr lang="en-US" sz="2300" dirty="0"/>
              <a:t>   Compare between the IMS Directory and IMS Catalog    </a:t>
            </a:r>
            <a:endParaRPr lang="en-US" sz="2300" dirty="0">
              <a:cs typeface="Calibri"/>
            </a:endParaRPr>
          </a:p>
          <a:p>
            <a:pPr marL="0" indent="0">
              <a:lnSpc>
                <a:spcPct val="110000"/>
              </a:lnSpc>
              <a:spcBef>
                <a:spcPts val="600"/>
              </a:spcBef>
              <a:buNone/>
            </a:pPr>
            <a:r>
              <a:rPr lang="en-US" sz="2300" b="1" dirty="0"/>
              <a:t>Instructions:</a:t>
            </a:r>
            <a:r>
              <a:rPr lang="en-US" sz="2300" dirty="0"/>
              <a:t>   </a:t>
            </a:r>
            <a:r>
              <a:rPr lang="en-US" sz="2300" dirty="0">
                <a:cs typeface="Calibri"/>
              </a:rPr>
              <a:t>You should be presented with a list of all objects in both the IMS directory and IMS Catalog.  If you scroll down the list, you can see that there are differences.  This is helpful when determining which members are out of sync.</a:t>
            </a:r>
            <a:r>
              <a:rPr lang="en-US" sz="2300" dirty="0">
                <a:cs typeface="Calibri Light"/>
              </a:rPr>
              <a:t>  </a:t>
            </a:r>
          </a:p>
        </p:txBody>
      </p:sp>
      <p:sp>
        <p:nvSpPr>
          <p:cNvPr id="4" name="Slide Number Placeholder 3">
            <a:extLst>
              <a:ext uri="{FF2B5EF4-FFF2-40B4-BE49-F238E27FC236}">
                <a16:creationId xmlns:a16="http://schemas.microsoft.com/office/drawing/2014/main" id="{8320F068-5590-3A49-15D4-EAF7C25C7901}"/>
              </a:ext>
            </a:extLst>
          </p:cNvPr>
          <p:cNvSpPr>
            <a:spLocks noGrp="1"/>
          </p:cNvSpPr>
          <p:nvPr>
            <p:ph type="sldNum" sz="quarter" idx="12"/>
          </p:nvPr>
        </p:nvSpPr>
        <p:spPr/>
        <p:txBody>
          <a:bodyPr/>
          <a:lstStyle/>
          <a:p>
            <a:fld id="{1C788548-AC4B-4945-A4F1-BA86477A7FC8}" type="slidenum">
              <a:rPr lang="en-US" smtClean="0"/>
              <a:t>20</a:t>
            </a:fld>
            <a:endParaRPr lang="en-US"/>
          </a:p>
        </p:txBody>
      </p:sp>
      <p:pic>
        <p:nvPicPr>
          <p:cNvPr id="7" name="Picture 6">
            <a:extLst>
              <a:ext uri="{FF2B5EF4-FFF2-40B4-BE49-F238E27FC236}">
                <a16:creationId xmlns:a16="http://schemas.microsoft.com/office/drawing/2014/main" id="{B7F72F53-CAA7-2658-3FC9-5D6EC9D1A226}"/>
              </a:ext>
            </a:extLst>
          </p:cNvPr>
          <p:cNvPicPr>
            <a:picLocks noChangeAspect="1"/>
          </p:cNvPicPr>
          <p:nvPr/>
        </p:nvPicPr>
        <p:blipFill>
          <a:blip r:embed="rId2"/>
          <a:stretch>
            <a:fillRect/>
          </a:stretch>
        </p:blipFill>
        <p:spPr>
          <a:xfrm>
            <a:off x="2746923" y="2175244"/>
            <a:ext cx="6501149" cy="4181106"/>
          </a:xfrm>
          <a:prstGeom prst="rect">
            <a:avLst/>
          </a:prstGeom>
          <a:effectLst>
            <a:glow rad="63500">
              <a:schemeClr val="accent3">
                <a:satMod val="175000"/>
                <a:alpha val="40000"/>
              </a:schemeClr>
            </a:glow>
          </a:effectLst>
        </p:spPr>
      </p:pic>
    </p:spTree>
    <p:extLst>
      <p:ext uri="{BB962C8B-B14F-4D97-AF65-F5344CB8AC3E}">
        <p14:creationId xmlns:p14="http://schemas.microsoft.com/office/powerpoint/2010/main" val="346740863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47E08336-71AB-44BF-9E1A-7442CE355F86}"/>
              </a:ext>
            </a:extLst>
          </p:cNvPr>
          <p:cNvSpPr txBox="1"/>
          <p:nvPr/>
        </p:nvSpPr>
        <p:spPr>
          <a:xfrm>
            <a:off x="1609852" y="853056"/>
            <a:ext cx="8242300" cy="4729628"/>
          </a:xfrm>
          <a:prstGeom prst="rect">
            <a:avLst/>
          </a:prstGeom>
          <a:solidFill>
            <a:schemeClr val="bg2"/>
          </a:solidFill>
          <a:ln w="57150">
            <a:solidFill>
              <a:srgbClr val="0070C0"/>
            </a:solidFill>
          </a:ln>
        </p:spPr>
        <p:txBody>
          <a:bodyPr wrap="square" rtlCol="0">
            <a:spAutoFit/>
          </a:bodyPr>
          <a:lstStyle/>
          <a:p>
            <a:pPr algn="ctr"/>
            <a:endParaRPr lang="en-US" sz="4267" dirty="0"/>
          </a:p>
          <a:p>
            <a:pPr algn="ctr"/>
            <a:r>
              <a:rPr lang="en-US" sz="5400" b="1" dirty="0"/>
              <a:t>IMS CATALOG </a:t>
            </a:r>
          </a:p>
          <a:p>
            <a:pPr algn="ctr"/>
            <a:r>
              <a:rPr lang="en-US" sz="5400" b="1" dirty="0"/>
              <a:t>AND </a:t>
            </a:r>
          </a:p>
          <a:p>
            <a:pPr algn="ctr"/>
            <a:r>
              <a:rPr lang="en-US" sz="5400" b="1" dirty="0"/>
              <a:t>DIRECTORY MANAGEMENT</a:t>
            </a:r>
          </a:p>
          <a:p>
            <a:pPr algn="ctr"/>
            <a:r>
              <a:rPr lang="en-US" sz="5400" dirty="0">
                <a:solidFill>
                  <a:schemeClr val="accent1"/>
                </a:solidFill>
              </a:rPr>
              <a:t>Exercise 3 </a:t>
            </a:r>
          </a:p>
          <a:p>
            <a:pPr algn="ctr"/>
            <a:endParaRPr lang="en-US" sz="4267" dirty="0"/>
          </a:p>
        </p:txBody>
      </p:sp>
      <p:sp>
        <p:nvSpPr>
          <p:cNvPr id="2" name="Slide Number Placeholder 1">
            <a:extLst>
              <a:ext uri="{FF2B5EF4-FFF2-40B4-BE49-F238E27FC236}">
                <a16:creationId xmlns:a16="http://schemas.microsoft.com/office/drawing/2014/main" id="{2117D6BF-BCD0-71D2-3788-FF5ABC187078}"/>
              </a:ext>
            </a:extLst>
          </p:cNvPr>
          <p:cNvSpPr>
            <a:spLocks noGrp="1"/>
          </p:cNvSpPr>
          <p:nvPr>
            <p:ph type="sldNum" sz="quarter" idx="12"/>
          </p:nvPr>
        </p:nvSpPr>
        <p:spPr/>
        <p:txBody>
          <a:bodyPr/>
          <a:lstStyle/>
          <a:p>
            <a:fld id="{1C788548-AC4B-4945-A4F1-BA86477A7FC8}" type="slidenum">
              <a:rPr lang="en-US" smtClean="0"/>
              <a:t>21</a:t>
            </a:fld>
            <a:endParaRPr lang="en-US"/>
          </a:p>
        </p:txBody>
      </p:sp>
    </p:spTree>
    <p:extLst>
      <p:ext uri="{BB962C8B-B14F-4D97-AF65-F5344CB8AC3E}">
        <p14:creationId xmlns:p14="http://schemas.microsoft.com/office/powerpoint/2010/main" val="364369255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116">
        <p159:morph option="byObject"/>
      </p:transition>
    </mc:Choice>
    <mc:Fallback xmlns="">
      <p:transition spd="slow" advTm="116">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mph" presetSubtype="0" fill="hold" nodeType="clickEffect">
                                  <p:stCondLst>
                                    <p:cond delay="0"/>
                                  </p:stCondLst>
                                  <p:iterate type="lt">
                                    <p:tmPct val="4000"/>
                                  </p:iterate>
                                  <p:childTnLst>
                                    <p:set>
                                      <p:cBhvr override="childStyle">
                                        <p:cTn id="6" dur="500" fill="hold"/>
                                        <p:tgtEl>
                                          <p:spTgt spid="9">
                                            <p:txEl>
                                              <p:pRg st="1" end="1"/>
                                            </p:txEl>
                                          </p:spTgt>
                                        </p:tgtEl>
                                        <p:attrNameLst>
                                          <p:attrName>style.color</p:attrName>
                                        </p:attrNameLst>
                                      </p:cBhvr>
                                      <p:to>
                                        <p:clrVal>
                                          <a:srgbClr val="FFC000"/>
                                        </p:clrVal>
                                      </p:to>
                                    </p:set>
                                    <p:set>
                                      <p:cBhvr>
                                        <p:cTn id="7" dur="500" fill="hold"/>
                                        <p:tgtEl>
                                          <p:spTgt spid="9">
                                            <p:txEl>
                                              <p:pRg st="1" end="1"/>
                                            </p:txEl>
                                          </p:spTgt>
                                        </p:tgtEl>
                                        <p:attrNameLst>
                                          <p:attrName>fillcolor</p:attrName>
                                        </p:attrNameLst>
                                      </p:cBhvr>
                                      <p:to>
                                        <p:clrVal>
                                          <a:srgbClr val="FFC000"/>
                                        </p:clrVal>
                                      </p:to>
                                    </p:set>
                                    <p:set>
                                      <p:cBhvr>
                                        <p:cTn id="8" dur="500" fill="hold"/>
                                        <p:tgtEl>
                                          <p:spTgt spid="9">
                                            <p:txEl>
                                              <p:pRg st="1" end="1"/>
                                            </p:txEl>
                                          </p:spTgt>
                                        </p:tgtEl>
                                        <p:attrNameLst>
                                          <p:attrName>fill.type</p:attrName>
                                        </p:attrNameLst>
                                      </p:cBhvr>
                                      <p:to>
                                        <p:strVal val="solid"/>
                                      </p:to>
                                    </p:set>
                                  </p:childTnLst>
                                </p:cTn>
                              </p:par>
                            </p:childTnLst>
                          </p:cTn>
                        </p:par>
                      </p:childTnLst>
                    </p:cTn>
                  </p:par>
                  <p:par>
                    <p:cTn id="9" fill="hold">
                      <p:stCondLst>
                        <p:cond delay="indefinite"/>
                      </p:stCondLst>
                      <p:childTnLst>
                        <p:par>
                          <p:cTn id="10" fill="hold">
                            <p:stCondLst>
                              <p:cond delay="0"/>
                            </p:stCondLst>
                            <p:childTnLst>
                              <p:par>
                                <p:cTn id="11" presetID="16" presetClass="emph" presetSubtype="0" fill="hold" nodeType="clickEffect">
                                  <p:stCondLst>
                                    <p:cond delay="0"/>
                                  </p:stCondLst>
                                  <p:iterate type="lt">
                                    <p:tmPct val="4000"/>
                                  </p:iterate>
                                  <p:childTnLst>
                                    <p:set>
                                      <p:cBhvr override="childStyle">
                                        <p:cTn id="12" dur="500" fill="hold"/>
                                        <p:tgtEl>
                                          <p:spTgt spid="9">
                                            <p:txEl>
                                              <p:pRg st="2" end="2"/>
                                            </p:txEl>
                                          </p:spTgt>
                                        </p:tgtEl>
                                        <p:attrNameLst>
                                          <p:attrName>style.color</p:attrName>
                                        </p:attrNameLst>
                                      </p:cBhvr>
                                      <p:to>
                                        <p:clrVal>
                                          <a:srgbClr val="FFC000"/>
                                        </p:clrVal>
                                      </p:to>
                                    </p:set>
                                    <p:set>
                                      <p:cBhvr>
                                        <p:cTn id="13" dur="500" fill="hold"/>
                                        <p:tgtEl>
                                          <p:spTgt spid="9">
                                            <p:txEl>
                                              <p:pRg st="2" end="2"/>
                                            </p:txEl>
                                          </p:spTgt>
                                        </p:tgtEl>
                                        <p:attrNameLst>
                                          <p:attrName>fillcolor</p:attrName>
                                        </p:attrNameLst>
                                      </p:cBhvr>
                                      <p:to>
                                        <p:clrVal>
                                          <a:srgbClr val="FFC000"/>
                                        </p:clrVal>
                                      </p:to>
                                    </p:set>
                                    <p:set>
                                      <p:cBhvr>
                                        <p:cTn id="14" dur="500" fill="hold"/>
                                        <p:tgtEl>
                                          <p:spTgt spid="9">
                                            <p:txEl>
                                              <p:pRg st="2" end="2"/>
                                            </p:txEl>
                                          </p:spTgt>
                                        </p:tgtEl>
                                        <p:attrNameLst>
                                          <p:attrName>fill.type</p:attrName>
                                        </p:attrNameLst>
                                      </p:cBhvr>
                                      <p:to>
                                        <p:strVal val="solid"/>
                                      </p:to>
                                    </p:set>
                                  </p:childTnLst>
                                </p:cTn>
                              </p:par>
                            </p:childTnLst>
                          </p:cTn>
                        </p:par>
                      </p:childTnLst>
                    </p:cTn>
                  </p:par>
                  <p:par>
                    <p:cTn id="15" fill="hold">
                      <p:stCondLst>
                        <p:cond delay="indefinite"/>
                      </p:stCondLst>
                      <p:childTnLst>
                        <p:par>
                          <p:cTn id="16" fill="hold">
                            <p:stCondLst>
                              <p:cond delay="0"/>
                            </p:stCondLst>
                            <p:childTnLst>
                              <p:par>
                                <p:cTn id="17" presetID="16" presetClass="emph" presetSubtype="0" fill="hold" nodeType="clickEffect">
                                  <p:stCondLst>
                                    <p:cond delay="0"/>
                                  </p:stCondLst>
                                  <p:iterate type="lt">
                                    <p:tmPct val="4000"/>
                                  </p:iterate>
                                  <p:childTnLst>
                                    <p:set>
                                      <p:cBhvr override="childStyle">
                                        <p:cTn id="18" dur="500" fill="hold"/>
                                        <p:tgtEl>
                                          <p:spTgt spid="9">
                                            <p:txEl>
                                              <p:pRg st="3" end="3"/>
                                            </p:txEl>
                                          </p:spTgt>
                                        </p:tgtEl>
                                        <p:attrNameLst>
                                          <p:attrName>style.color</p:attrName>
                                        </p:attrNameLst>
                                      </p:cBhvr>
                                      <p:to>
                                        <p:clrVal>
                                          <a:srgbClr val="FFC000"/>
                                        </p:clrVal>
                                      </p:to>
                                    </p:set>
                                    <p:set>
                                      <p:cBhvr>
                                        <p:cTn id="19" dur="500" fill="hold"/>
                                        <p:tgtEl>
                                          <p:spTgt spid="9">
                                            <p:txEl>
                                              <p:pRg st="3" end="3"/>
                                            </p:txEl>
                                          </p:spTgt>
                                        </p:tgtEl>
                                        <p:attrNameLst>
                                          <p:attrName>fillcolor</p:attrName>
                                        </p:attrNameLst>
                                      </p:cBhvr>
                                      <p:to>
                                        <p:clrVal>
                                          <a:srgbClr val="FFC000"/>
                                        </p:clrVal>
                                      </p:to>
                                    </p:set>
                                    <p:set>
                                      <p:cBhvr>
                                        <p:cTn id="20" dur="500" fill="hold"/>
                                        <p:tgtEl>
                                          <p:spTgt spid="9">
                                            <p:txEl>
                                              <p:pRg st="3" end="3"/>
                                            </p:txEl>
                                          </p:spTgt>
                                        </p:tgtEl>
                                        <p:attrNameLst>
                                          <p:attrName>fill.type</p:attrName>
                                        </p:attrNameLst>
                                      </p:cBhvr>
                                      <p:to>
                                        <p:strVal val="solid"/>
                                      </p:to>
                                    </p:set>
                                  </p:childTnLst>
                                </p:cTn>
                              </p:par>
                            </p:childTnLst>
                          </p:cTn>
                        </p:par>
                      </p:childTnLst>
                    </p:cTn>
                  </p:par>
                  <p:par>
                    <p:cTn id="21" fill="hold">
                      <p:stCondLst>
                        <p:cond delay="indefinite"/>
                      </p:stCondLst>
                      <p:childTnLst>
                        <p:par>
                          <p:cTn id="22" fill="hold">
                            <p:stCondLst>
                              <p:cond delay="0"/>
                            </p:stCondLst>
                            <p:childTnLst>
                              <p:par>
                                <p:cTn id="23" presetID="16" presetClass="emph" presetSubtype="0" fill="hold" nodeType="clickEffect">
                                  <p:stCondLst>
                                    <p:cond delay="0"/>
                                  </p:stCondLst>
                                  <p:iterate type="lt">
                                    <p:tmPct val="4000"/>
                                  </p:iterate>
                                  <p:childTnLst>
                                    <p:set>
                                      <p:cBhvr override="childStyle">
                                        <p:cTn id="24" dur="500" fill="hold"/>
                                        <p:tgtEl>
                                          <p:spTgt spid="9">
                                            <p:txEl>
                                              <p:pRg st="4" end="4"/>
                                            </p:txEl>
                                          </p:spTgt>
                                        </p:tgtEl>
                                        <p:attrNameLst>
                                          <p:attrName>style.color</p:attrName>
                                        </p:attrNameLst>
                                      </p:cBhvr>
                                      <p:to>
                                        <p:clrVal>
                                          <a:srgbClr val="FFC000"/>
                                        </p:clrVal>
                                      </p:to>
                                    </p:set>
                                    <p:set>
                                      <p:cBhvr>
                                        <p:cTn id="25" dur="500" fill="hold"/>
                                        <p:tgtEl>
                                          <p:spTgt spid="9">
                                            <p:txEl>
                                              <p:pRg st="4" end="4"/>
                                            </p:txEl>
                                          </p:spTgt>
                                        </p:tgtEl>
                                        <p:attrNameLst>
                                          <p:attrName>fillcolor</p:attrName>
                                        </p:attrNameLst>
                                      </p:cBhvr>
                                      <p:to>
                                        <p:clrVal>
                                          <a:srgbClr val="FFC000"/>
                                        </p:clrVal>
                                      </p:to>
                                    </p:set>
                                    <p:set>
                                      <p:cBhvr>
                                        <p:cTn id="26" dur="500" fill="hold"/>
                                        <p:tgtEl>
                                          <p:spTgt spid="9">
                                            <p:txEl>
                                              <p:pRg st="4" end="4"/>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5DD04D75-5580-4918-ACD6-01E26F36A2CB}"/>
              </a:ext>
            </a:extLst>
          </p:cNvPr>
          <p:cNvSpPr>
            <a:spLocks noGrp="1"/>
          </p:cNvSpPr>
          <p:nvPr>
            <p:ph type="subTitle" idx="4294967295"/>
          </p:nvPr>
        </p:nvSpPr>
        <p:spPr>
          <a:xfrm>
            <a:off x="961009" y="203196"/>
            <a:ext cx="10301723" cy="3225797"/>
          </a:xfrm>
          <a:prstGeom prst="rect">
            <a:avLst/>
          </a:prstGeom>
        </p:spPr>
        <p:txBody>
          <a:bodyPr vert="horz" lIns="91440" tIns="45720" rIns="91440" bIns="45720" rtlCol="0" anchor="t">
            <a:normAutofit fontScale="62500" lnSpcReduction="20000"/>
          </a:bodyPr>
          <a:lstStyle/>
          <a:p>
            <a:pPr marL="0" indent="0" algn="l">
              <a:lnSpc>
                <a:spcPct val="120000"/>
              </a:lnSpc>
              <a:spcBef>
                <a:spcPts val="600"/>
              </a:spcBef>
              <a:buNone/>
            </a:pPr>
            <a:r>
              <a:rPr lang="en-US" sz="3800" b="1" dirty="0">
                <a:solidFill>
                  <a:schemeClr val="accent1">
                    <a:lumMod val="75000"/>
                  </a:schemeClr>
                </a:solidFill>
              </a:rPr>
              <a:t>IMS Administration Tool ISPF LAB Exercise 3</a:t>
            </a:r>
          </a:p>
          <a:p>
            <a:pPr marL="0" indent="0" algn="l">
              <a:lnSpc>
                <a:spcPct val="120000"/>
              </a:lnSpc>
              <a:spcBef>
                <a:spcPts val="600"/>
              </a:spcBef>
              <a:buNone/>
            </a:pPr>
            <a:r>
              <a:rPr lang="en-US" sz="2900" b="1" dirty="0"/>
              <a:t>Key Feature:   IMS Catalog and Directory Management </a:t>
            </a:r>
          </a:p>
          <a:p>
            <a:pPr marL="0" indent="0">
              <a:lnSpc>
                <a:spcPct val="120000"/>
              </a:lnSpc>
              <a:spcBef>
                <a:spcPts val="600"/>
              </a:spcBef>
              <a:buNone/>
            </a:pPr>
            <a:r>
              <a:rPr lang="en-US" sz="2900" b="1" dirty="0"/>
              <a:t>Description:</a:t>
            </a:r>
            <a:r>
              <a:rPr lang="en-US" sz="2900" dirty="0"/>
              <a:t>   Helps you manage your IMS Catalog and your ACBLIBs: </a:t>
            </a:r>
          </a:p>
          <a:p>
            <a:pPr marL="341313" indent="-230188">
              <a:lnSpc>
                <a:spcPct val="120000"/>
              </a:lnSpc>
              <a:spcBef>
                <a:spcPts val="0"/>
              </a:spcBef>
            </a:pPr>
            <a:r>
              <a:rPr lang="en-US" sz="2900" dirty="0">
                <a:cs typeface="Arial"/>
              </a:rPr>
              <a:t>Use Catalog space utilization statistics to determine the current state of active and pending catalog libraries for efficient planning and maintenance.</a:t>
            </a:r>
          </a:p>
          <a:p>
            <a:pPr marL="341313" indent="-230188">
              <a:lnSpc>
                <a:spcPct val="120000"/>
              </a:lnSpc>
              <a:spcBef>
                <a:spcPts val="0"/>
              </a:spcBef>
            </a:pPr>
            <a:r>
              <a:rPr lang="en-US" sz="2900" dirty="0">
                <a:cs typeface="Arial"/>
              </a:rPr>
              <a:t>Compare your catalog and ACB libraries to quickly pinpoint discrepancies/differences.</a:t>
            </a:r>
            <a:r>
              <a:rPr lang="en-US" sz="2900" dirty="0"/>
              <a:t>  </a:t>
            </a:r>
          </a:p>
          <a:p>
            <a:pPr marL="341313" indent="-230188">
              <a:lnSpc>
                <a:spcPct val="120000"/>
              </a:lnSpc>
              <a:spcBef>
                <a:spcPts val="0"/>
              </a:spcBef>
            </a:pPr>
            <a:r>
              <a:rPr lang="en-US" sz="2900" dirty="0"/>
              <a:t>Export and Import DBDs and PSBs.</a:t>
            </a:r>
          </a:p>
          <a:p>
            <a:pPr marL="341313" indent="-230188">
              <a:lnSpc>
                <a:spcPct val="120000"/>
              </a:lnSpc>
              <a:spcBef>
                <a:spcPts val="0"/>
              </a:spcBef>
            </a:pPr>
            <a:r>
              <a:rPr lang="en-US" sz="2900" dirty="0"/>
              <a:t>Backup and Restore Directory/BSDS data sets. </a:t>
            </a:r>
            <a:endParaRPr lang="en-US" sz="2900" dirty="0">
              <a:cs typeface="Calibri Light"/>
            </a:endParaRPr>
          </a:p>
          <a:p>
            <a:pPr marL="0" indent="0">
              <a:lnSpc>
                <a:spcPct val="120000"/>
              </a:lnSpc>
              <a:spcBef>
                <a:spcPts val="600"/>
              </a:spcBef>
              <a:buNone/>
            </a:pPr>
            <a:r>
              <a:rPr lang="en-US" sz="2900" b="1" dirty="0"/>
              <a:t>Instructions:</a:t>
            </a:r>
            <a:r>
              <a:rPr lang="en-US" sz="2900" dirty="0"/>
              <a:t>   Select Option         (IMS Catalog and ACBLIB Management), starting with the arrow and press Enter.</a:t>
            </a:r>
            <a:endParaRPr lang="en-US" sz="2600" dirty="0">
              <a:cs typeface="Calibri Light"/>
            </a:endParaRPr>
          </a:p>
        </p:txBody>
      </p:sp>
      <p:cxnSp>
        <p:nvCxnSpPr>
          <p:cNvPr id="7" name="Straight Arrow Connector 6">
            <a:extLst>
              <a:ext uri="{FF2B5EF4-FFF2-40B4-BE49-F238E27FC236}">
                <a16:creationId xmlns:a16="http://schemas.microsoft.com/office/drawing/2014/main" id="{3BD62DBA-A119-4885-877C-4F36817C284D}"/>
              </a:ext>
            </a:extLst>
          </p:cNvPr>
          <p:cNvCxnSpPr>
            <a:cxnSpLocks/>
          </p:cNvCxnSpPr>
          <p:nvPr/>
        </p:nvCxnSpPr>
        <p:spPr>
          <a:xfrm>
            <a:off x="1664434" y="3874175"/>
            <a:ext cx="414528"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a16="http://schemas.microsoft.com/office/drawing/2014/main" id="{5506BA7E-F65F-4B5D-A956-50222C96746E}"/>
              </a:ext>
            </a:extLst>
          </p:cNvPr>
          <p:cNvSpPr/>
          <p:nvPr/>
        </p:nvSpPr>
        <p:spPr>
          <a:xfrm>
            <a:off x="3738699" y="2733356"/>
            <a:ext cx="308918" cy="284205"/>
          </a:xfrm>
          <a:prstGeom prst="rect">
            <a:avLst/>
          </a:prstGeom>
          <a:solidFill>
            <a:schemeClr val="bg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2</a:t>
            </a:r>
            <a:endParaRPr lang="en-US" dirty="0">
              <a:solidFill>
                <a:schemeClr val="tx1"/>
              </a:solidFill>
            </a:endParaRPr>
          </a:p>
        </p:txBody>
      </p:sp>
      <p:sp>
        <p:nvSpPr>
          <p:cNvPr id="2" name="Slide Number Placeholder 1">
            <a:extLst>
              <a:ext uri="{FF2B5EF4-FFF2-40B4-BE49-F238E27FC236}">
                <a16:creationId xmlns:a16="http://schemas.microsoft.com/office/drawing/2014/main" id="{C1E07F50-F07C-C093-A0CA-6EA18A1E08EE}"/>
              </a:ext>
            </a:extLst>
          </p:cNvPr>
          <p:cNvSpPr>
            <a:spLocks noGrp="1"/>
          </p:cNvSpPr>
          <p:nvPr>
            <p:ph type="sldNum" sz="quarter" idx="12"/>
          </p:nvPr>
        </p:nvSpPr>
        <p:spPr/>
        <p:txBody>
          <a:bodyPr/>
          <a:lstStyle/>
          <a:p>
            <a:fld id="{1C788548-AC4B-4945-A4F1-BA86477A7FC8}" type="slidenum">
              <a:rPr lang="en-US" smtClean="0"/>
              <a:t>22</a:t>
            </a:fld>
            <a:endParaRPr lang="en-US"/>
          </a:p>
        </p:txBody>
      </p:sp>
      <p:pic>
        <p:nvPicPr>
          <p:cNvPr id="5" name="Picture 4">
            <a:extLst>
              <a:ext uri="{FF2B5EF4-FFF2-40B4-BE49-F238E27FC236}">
                <a16:creationId xmlns:a16="http://schemas.microsoft.com/office/drawing/2014/main" id="{AB0335B0-9745-F2FA-8678-D44AB0DE2993}"/>
              </a:ext>
            </a:extLst>
          </p:cNvPr>
          <p:cNvPicPr>
            <a:picLocks noChangeAspect="1"/>
          </p:cNvPicPr>
          <p:nvPr/>
        </p:nvPicPr>
        <p:blipFill>
          <a:blip r:embed="rId2"/>
          <a:stretch>
            <a:fillRect/>
          </a:stretch>
        </p:blipFill>
        <p:spPr>
          <a:xfrm>
            <a:off x="2122092" y="3568011"/>
            <a:ext cx="7947816" cy="2561820"/>
          </a:xfrm>
          <a:prstGeom prst="rect">
            <a:avLst/>
          </a:prstGeom>
          <a:effectLst>
            <a:glow rad="63500">
              <a:schemeClr val="accent3">
                <a:satMod val="175000"/>
                <a:alpha val="40000"/>
              </a:schemeClr>
            </a:glow>
          </a:effectLst>
        </p:spPr>
      </p:pic>
    </p:spTree>
    <p:extLst>
      <p:ext uri="{BB962C8B-B14F-4D97-AF65-F5344CB8AC3E}">
        <p14:creationId xmlns:p14="http://schemas.microsoft.com/office/powerpoint/2010/main" val="132656844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47E08336-71AB-44BF-9E1A-7442CE355F86}"/>
              </a:ext>
            </a:extLst>
          </p:cNvPr>
          <p:cNvSpPr txBox="1"/>
          <p:nvPr/>
        </p:nvSpPr>
        <p:spPr>
          <a:xfrm>
            <a:off x="1756156" y="1048128"/>
            <a:ext cx="8242300" cy="3898631"/>
          </a:xfrm>
          <a:prstGeom prst="rect">
            <a:avLst/>
          </a:prstGeom>
          <a:solidFill>
            <a:schemeClr val="bg2"/>
          </a:solidFill>
          <a:ln w="57150">
            <a:solidFill>
              <a:srgbClr val="0070C0"/>
            </a:solidFill>
          </a:ln>
        </p:spPr>
        <p:txBody>
          <a:bodyPr wrap="square" rtlCol="0">
            <a:spAutoFit/>
          </a:bodyPr>
          <a:lstStyle/>
          <a:p>
            <a:pPr algn="ctr"/>
            <a:endParaRPr lang="en-US" sz="4267" dirty="0"/>
          </a:p>
          <a:p>
            <a:pPr algn="ctr"/>
            <a:r>
              <a:rPr lang="en-US" sz="5400" b="1" dirty="0"/>
              <a:t>IMS CATALOG </a:t>
            </a:r>
          </a:p>
          <a:p>
            <a:pPr algn="ctr"/>
            <a:r>
              <a:rPr lang="en-US" sz="5400" b="1" dirty="0"/>
              <a:t>ANALYSIS and VALIDATION </a:t>
            </a:r>
          </a:p>
          <a:p>
            <a:pPr algn="ctr"/>
            <a:r>
              <a:rPr lang="en-US" sz="5400" dirty="0">
                <a:solidFill>
                  <a:schemeClr val="accent1"/>
                </a:solidFill>
              </a:rPr>
              <a:t>Exercise 3a </a:t>
            </a:r>
          </a:p>
          <a:p>
            <a:pPr algn="ctr"/>
            <a:endParaRPr lang="en-US" sz="4267" dirty="0"/>
          </a:p>
        </p:txBody>
      </p:sp>
      <p:sp>
        <p:nvSpPr>
          <p:cNvPr id="2" name="Slide Number Placeholder 1">
            <a:extLst>
              <a:ext uri="{FF2B5EF4-FFF2-40B4-BE49-F238E27FC236}">
                <a16:creationId xmlns:a16="http://schemas.microsoft.com/office/drawing/2014/main" id="{29B4318B-C972-A58C-2355-67766707E5A1}"/>
              </a:ext>
            </a:extLst>
          </p:cNvPr>
          <p:cNvSpPr>
            <a:spLocks noGrp="1"/>
          </p:cNvSpPr>
          <p:nvPr>
            <p:ph type="sldNum" sz="quarter" idx="12"/>
          </p:nvPr>
        </p:nvSpPr>
        <p:spPr/>
        <p:txBody>
          <a:bodyPr/>
          <a:lstStyle/>
          <a:p>
            <a:fld id="{1C788548-AC4B-4945-A4F1-BA86477A7FC8}" type="slidenum">
              <a:rPr lang="en-US" smtClean="0"/>
              <a:t>23</a:t>
            </a:fld>
            <a:endParaRPr lang="en-US"/>
          </a:p>
        </p:txBody>
      </p:sp>
    </p:spTree>
    <p:extLst>
      <p:ext uri="{BB962C8B-B14F-4D97-AF65-F5344CB8AC3E}">
        <p14:creationId xmlns:p14="http://schemas.microsoft.com/office/powerpoint/2010/main" val="15624696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116">
        <p159:morph option="byObject"/>
      </p:transition>
    </mc:Choice>
    <mc:Fallback xmlns="">
      <p:transition spd="slow" advTm="116">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mph" presetSubtype="0" fill="hold" nodeType="clickEffect">
                                  <p:stCondLst>
                                    <p:cond delay="0"/>
                                  </p:stCondLst>
                                  <p:iterate type="lt">
                                    <p:tmPct val="4000"/>
                                  </p:iterate>
                                  <p:childTnLst>
                                    <p:set>
                                      <p:cBhvr override="childStyle">
                                        <p:cTn id="6" dur="500" fill="hold"/>
                                        <p:tgtEl>
                                          <p:spTgt spid="9">
                                            <p:txEl>
                                              <p:pRg st="1" end="1"/>
                                            </p:txEl>
                                          </p:spTgt>
                                        </p:tgtEl>
                                        <p:attrNameLst>
                                          <p:attrName>style.color</p:attrName>
                                        </p:attrNameLst>
                                      </p:cBhvr>
                                      <p:to>
                                        <p:clrVal>
                                          <a:srgbClr val="FFC000"/>
                                        </p:clrVal>
                                      </p:to>
                                    </p:set>
                                    <p:set>
                                      <p:cBhvr>
                                        <p:cTn id="7" dur="500" fill="hold"/>
                                        <p:tgtEl>
                                          <p:spTgt spid="9">
                                            <p:txEl>
                                              <p:pRg st="1" end="1"/>
                                            </p:txEl>
                                          </p:spTgt>
                                        </p:tgtEl>
                                        <p:attrNameLst>
                                          <p:attrName>fillcolor</p:attrName>
                                        </p:attrNameLst>
                                      </p:cBhvr>
                                      <p:to>
                                        <p:clrVal>
                                          <a:srgbClr val="FFC000"/>
                                        </p:clrVal>
                                      </p:to>
                                    </p:set>
                                    <p:set>
                                      <p:cBhvr>
                                        <p:cTn id="8" dur="500" fill="hold"/>
                                        <p:tgtEl>
                                          <p:spTgt spid="9">
                                            <p:txEl>
                                              <p:pRg st="1" end="1"/>
                                            </p:txEl>
                                          </p:spTgt>
                                        </p:tgtEl>
                                        <p:attrNameLst>
                                          <p:attrName>fill.type</p:attrName>
                                        </p:attrNameLst>
                                      </p:cBhvr>
                                      <p:to>
                                        <p:strVal val="solid"/>
                                      </p:to>
                                    </p:set>
                                  </p:childTnLst>
                                </p:cTn>
                              </p:par>
                            </p:childTnLst>
                          </p:cTn>
                        </p:par>
                      </p:childTnLst>
                    </p:cTn>
                  </p:par>
                  <p:par>
                    <p:cTn id="9" fill="hold">
                      <p:stCondLst>
                        <p:cond delay="indefinite"/>
                      </p:stCondLst>
                      <p:childTnLst>
                        <p:par>
                          <p:cTn id="10" fill="hold">
                            <p:stCondLst>
                              <p:cond delay="0"/>
                            </p:stCondLst>
                            <p:childTnLst>
                              <p:par>
                                <p:cTn id="11" presetID="16" presetClass="emph" presetSubtype="0" fill="hold" nodeType="clickEffect">
                                  <p:stCondLst>
                                    <p:cond delay="0"/>
                                  </p:stCondLst>
                                  <p:iterate type="lt">
                                    <p:tmPct val="4000"/>
                                  </p:iterate>
                                  <p:childTnLst>
                                    <p:set>
                                      <p:cBhvr override="childStyle">
                                        <p:cTn id="12" dur="500" fill="hold"/>
                                        <p:tgtEl>
                                          <p:spTgt spid="9">
                                            <p:txEl>
                                              <p:pRg st="2" end="2"/>
                                            </p:txEl>
                                          </p:spTgt>
                                        </p:tgtEl>
                                        <p:attrNameLst>
                                          <p:attrName>style.color</p:attrName>
                                        </p:attrNameLst>
                                      </p:cBhvr>
                                      <p:to>
                                        <p:clrVal>
                                          <a:srgbClr val="FFC000"/>
                                        </p:clrVal>
                                      </p:to>
                                    </p:set>
                                    <p:set>
                                      <p:cBhvr>
                                        <p:cTn id="13" dur="500" fill="hold"/>
                                        <p:tgtEl>
                                          <p:spTgt spid="9">
                                            <p:txEl>
                                              <p:pRg st="2" end="2"/>
                                            </p:txEl>
                                          </p:spTgt>
                                        </p:tgtEl>
                                        <p:attrNameLst>
                                          <p:attrName>fillcolor</p:attrName>
                                        </p:attrNameLst>
                                      </p:cBhvr>
                                      <p:to>
                                        <p:clrVal>
                                          <a:srgbClr val="FFC000"/>
                                        </p:clrVal>
                                      </p:to>
                                    </p:set>
                                    <p:set>
                                      <p:cBhvr>
                                        <p:cTn id="14" dur="500" fill="hold"/>
                                        <p:tgtEl>
                                          <p:spTgt spid="9">
                                            <p:txEl>
                                              <p:pRg st="2" end="2"/>
                                            </p:txEl>
                                          </p:spTgt>
                                        </p:tgtEl>
                                        <p:attrNameLst>
                                          <p:attrName>fill.type</p:attrName>
                                        </p:attrNameLst>
                                      </p:cBhvr>
                                      <p:to>
                                        <p:strVal val="solid"/>
                                      </p:to>
                                    </p:set>
                                  </p:childTnLst>
                                </p:cTn>
                              </p:par>
                            </p:childTnLst>
                          </p:cTn>
                        </p:par>
                      </p:childTnLst>
                    </p:cTn>
                  </p:par>
                  <p:par>
                    <p:cTn id="15" fill="hold">
                      <p:stCondLst>
                        <p:cond delay="indefinite"/>
                      </p:stCondLst>
                      <p:childTnLst>
                        <p:par>
                          <p:cTn id="16" fill="hold">
                            <p:stCondLst>
                              <p:cond delay="0"/>
                            </p:stCondLst>
                            <p:childTnLst>
                              <p:par>
                                <p:cTn id="17" presetID="16" presetClass="emph" presetSubtype="0" fill="hold" nodeType="clickEffect">
                                  <p:stCondLst>
                                    <p:cond delay="0"/>
                                  </p:stCondLst>
                                  <p:iterate type="lt">
                                    <p:tmPct val="4000"/>
                                  </p:iterate>
                                  <p:childTnLst>
                                    <p:set>
                                      <p:cBhvr override="childStyle">
                                        <p:cTn id="18" dur="500" fill="hold"/>
                                        <p:tgtEl>
                                          <p:spTgt spid="9">
                                            <p:txEl>
                                              <p:pRg st="3" end="3"/>
                                            </p:txEl>
                                          </p:spTgt>
                                        </p:tgtEl>
                                        <p:attrNameLst>
                                          <p:attrName>style.color</p:attrName>
                                        </p:attrNameLst>
                                      </p:cBhvr>
                                      <p:to>
                                        <p:clrVal>
                                          <a:srgbClr val="FFC000"/>
                                        </p:clrVal>
                                      </p:to>
                                    </p:set>
                                    <p:set>
                                      <p:cBhvr>
                                        <p:cTn id="19" dur="500" fill="hold"/>
                                        <p:tgtEl>
                                          <p:spTgt spid="9">
                                            <p:txEl>
                                              <p:pRg st="3" end="3"/>
                                            </p:txEl>
                                          </p:spTgt>
                                        </p:tgtEl>
                                        <p:attrNameLst>
                                          <p:attrName>fillcolor</p:attrName>
                                        </p:attrNameLst>
                                      </p:cBhvr>
                                      <p:to>
                                        <p:clrVal>
                                          <a:srgbClr val="FFC000"/>
                                        </p:clrVal>
                                      </p:to>
                                    </p:set>
                                    <p:set>
                                      <p:cBhvr>
                                        <p:cTn id="20" dur="500" fill="hold"/>
                                        <p:tgtEl>
                                          <p:spTgt spid="9">
                                            <p:txEl>
                                              <p:pRg st="3" end="3"/>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5DD04D75-5580-4918-ACD6-01E26F36A2CB}"/>
              </a:ext>
            </a:extLst>
          </p:cNvPr>
          <p:cNvSpPr>
            <a:spLocks noGrp="1"/>
          </p:cNvSpPr>
          <p:nvPr>
            <p:ph type="subTitle" idx="4294967295"/>
          </p:nvPr>
        </p:nvSpPr>
        <p:spPr>
          <a:xfrm>
            <a:off x="961009" y="203199"/>
            <a:ext cx="10645775" cy="2252346"/>
          </a:xfrm>
          <a:prstGeom prst="rect">
            <a:avLst/>
          </a:prstGeom>
        </p:spPr>
        <p:txBody>
          <a:bodyPr vert="horz" lIns="91440" tIns="45720" rIns="91440" bIns="45720" rtlCol="0" anchor="t">
            <a:normAutofit fontScale="77500" lnSpcReduction="20000"/>
          </a:bodyPr>
          <a:lstStyle/>
          <a:p>
            <a:pPr marL="0" indent="0" algn="l">
              <a:lnSpc>
                <a:spcPct val="120000"/>
              </a:lnSpc>
              <a:spcBef>
                <a:spcPts val="600"/>
              </a:spcBef>
              <a:buNone/>
            </a:pPr>
            <a:r>
              <a:rPr lang="en-US" sz="3100" b="1" dirty="0">
                <a:solidFill>
                  <a:schemeClr val="accent1">
                    <a:lumMod val="75000"/>
                  </a:schemeClr>
                </a:solidFill>
              </a:rPr>
              <a:t>IMS Administration Tool ISPF LAB Exercise 3a </a:t>
            </a:r>
            <a:endParaRPr lang="en-US" sz="3000" b="1" dirty="0">
              <a:solidFill>
                <a:schemeClr val="accent1">
                  <a:lumMod val="75000"/>
                </a:schemeClr>
              </a:solidFill>
            </a:endParaRPr>
          </a:p>
          <a:p>
            <a:pPr marL="0" indent="0" algn="l">
              <a:lnSpc>
                <a:spcPct val="120000"/>
              </a:lnSpc>
              <a:spcBef>
                <a:spcPts val="600"/>
              </a:spcBef>
              <a:buNone/>
            </a:pPr>
            <a:r>
              <a:rPr lang="en-US" sz="2300" b="1" dirty="0"/>
              <a:t>Key Feature:   IMS Catalog and Directory Management – IMS Catalog Space and DBD/PSB Analysis</a:t>
            </a:r>
          </a:p>
          <a:p>
            <a:pPr marL="0" indent="0">
              <a:lnSpc>
                <a:spcPct val="120000"/>
              </a:lnSpc>
              <a:spcBef>
                <a:spcPts val="600"/>
              </a:spcBef>
              <a:buNone/>
            </a:pPr>
            <a:r>
              <a:rPr lang="en-US" sz="2300" b="1" dirty="0"/>
              <a:t>Description:</a:t>
            </a:r>
            <a:r>
              <a:rPr lang="en-US" sz="2300" dirty="0"/>
              <a:t>  Analyzes your current Catalog state and validates objects within the Catalog and ACBLIB.  </a:t>
            </a:r>
          </a:p>
          <a:p>
            <a:pPr marL="0" indent="0">
              <a:lnSpc>
                <a:spcPct val="120000"/>
              </a:lnSpc>
              <a:spcBef>
                <a:spcPts val="600"/>
              </a:spcBef>
              <a:buNone/>
            </a:pPr>
            <a:r>
              <a:rPr lang="en-US" sz="2300" b="1" dirty="0"/>
              <a:t>Instructions:</a:t>
            </a:r>
            <a:r>
              <a:rPr lang="en-US" sz="2300" dirty="0"/>
              <a:t>  </a:t>
            </a:r>
          </a:p>
          <a:p>
            <a:pPr marL="401638" indent="-290513">
              <a:lnSpc>
                <a:spcPct val="120000"/>
              </a:lnSpc>
              <a:spcBef>
                <a:spcPts val="600"/>
              </a:spcBef>
              <a:buAutoNum type="arabicPeriod"/>
            </a:pPr>
            <a:r>
              <a:rPr lang="en-US" sz="2300" dirty="0"/>
              <a:t>S</a:t>
            </a:r>
            <a:r>
              <a:rPr lang="en-US" sz="2300" dirty="0">
                <a:cs typeface="Calibri Light"/>
              </a:rPr>
              <a:t>elect</a:t>
            </a:r>
            <a:r>
              <a:rPr lang="en-US" sz="2300" dirty="0"/>
              <a:t> Option        (IMS Catalog Space and DBD/PSB Analysis) and press Enter.</a:t>
            </a:r>
          </a:p>
          <a:p>
            <a:pPr marL="401638" indent="-290513">
              <a:lnSpc>
                <a:spcPct val="120000"/>
              </a:lnSpc>
              <a:spcBef>
                <a:spcPts val="600"/>
              </a:spcBef>
              <a:buAutoNum type="arabicPeriod"/>
            </a:pPr>
            <a:r>
              <a:rPr lang="en-US" sz="2300" dirty="0"/>
              <a:t>When prompted for an IMS Subsystem ID, specify “IVP1” for the IMSID Filter and Select “IVP1” from the list.</a:t>
            </a:r>
            <a:endParaRPr lang="en-US" sz="2300" dirty="0">
              <a:cs typeface="Calibri"/>
            </a:endParaRPr>
          </a:p>
        </p:txBody>
      </p:sp>
      <p:cxnSp>
        <p:nvCxnSpPr>
          <p:cNvPr id="7" name="Straight Arrow Connector 6">
            <a:extLst>
              <a:ext uri="{FF2B5EF4-FFF2-40B4-BE49-F238E27FC236}">
                <a16:creationId xmlns:a16="http://schemas.microsoft.com/office/drawing/2014/main" id="{3BD62DBA-A119-4885-877C-4F36817C284D}"/>
              </a:ext>
            </a:extLst>
          </p:cNvPr>
          <p:cNvCxnSpPr>
            <a:cxnSpLocks/>
          </p:cNvCxnSpPr>
          <p:nvPr/>
        </p:nvCxnSpPr>
        <p:spPr>
          <a:xfrm>
            <a:off x="857032" y="3051648"/>
            <a:ext cx="414528"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569E5921-CE5C-472B-AF74-BB68D82A3351}"/>
              </a:ext>
            </a:extLst>
          </p:cNvPr>
          <p:cNvSpPr/>
          <p:nvPr/>
        </p:nvSpPr>
        <p:spPr>
          <a:xfrm>
            <a:off x="2757112" y="1727774"/>
            <a:ext cx="298469" cy="323799"/>
          </a:xfrm>
          <a:prstGeom prst="rect">
            <a:avLst/>
          </a:prstGeom>
          <a:solidFill>
            <a:schemeClr val="bg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1</a:t>
            </a:r>
            <a:endParaRPr lang="en-US" dirty="0">
              <a:solidFill>
                <a:schemeClr val="tx1"/>
              </a:solidFill>
            </a:endParaRPr>
          </a:p>
        </p:txBody>
      </p:sp>
      <p:sp>
        <p:nvSpPr>
          <p:cNvPr id="2" name="Slide Number Placeholder 1">
            <a:extLst>
              <a:ext uri="{FF2B5EF4-FFF2-40B4-BE49-F238E27FC236}">
                <a16:creationId xmlns:a16="http://schemas.microsoft.com/office/drawing/2014/main" id="{AD19DBB6-BEDC-D88A-EE30-4D2730501FB0}"/>
              </a:ext>
            </a:extLst>
          </p:cNvPr>
          <p:cNvSpPr>
            <a:spLocks noGrp="1"/>
          </p:cNvSpPr>
          <p:nvPr>
            <p:ph type="sldNum" sz="quarter" idx="12"/>
          </p:nvPr>
        </p:nvSpPr>
        <p:spPr/>
        <p:txBody>
          <a:bodyPr/>
          <a:lstStyle/>
          <a:p>
            <a:fld id="{1C788548-AC4B-4945-A4F1-BA86477A7FC8}" type="slidenum">
              <a:rPr lang="en-US" smtClean="0"/>
              <a:t>24</a:t>
            </a:fld>
            <a:endParaRPr lang="en-US"/>
          </a:p>
        </p:txBody>
      </p:sp>
      <p:pic>
        <p:nvPicPr>
          <p:cNvPr id="8" name="Picture 7">
            <a:extLst>
              <a:ext uri="{FF2B5EF4-FFF2-40B4-BE49-F238E27FC236}">
                <a16:creationId xmlns:a16="http://schemas.microsoft.com/office/drawing/2014/main" id="{417F089E-3394-6DBB-BB54-680AA989A215}"/>
              </a:ext>
            </a:extLst>
          </p:cNvPr>
          <p:cNvPicPr>
            <a:picLocks noChangeAspect="1"/>
          </p:cNvPicPr>
          <p:nvPr/>
        </p:nvPicPr>
        <p:blipFill>
          <a:blip r:embed="rId2"/>
          <a:stretch>
            <a:fillRect/>
          </a:stretch>
        </p:blipFill>
        <p:spPr>
          <a:xfrm>
            <a:off x="1271560" y="2807040"/>
            <a:ext cx="6606033" cy="1538216"/>
          </a:xfrm>
          <a:prstGeom prst="rect">
            <a:avLst/>
          </a:prstGeom>
          <a:effectLst>
            <a:glow rad="63500">
              <a:schemeClr val="accent3">
                <a:satMod val="175000"/>
                <a:alpha val="40000"/>
              </a:schemeClr>
            </a:glow>
          </a:effectLst>
        </p:spPr>
      </p:pic>
      <p:pic>
        <p:nvPicPr>
          <p:cNvPr id="13" name="Picture 12">
            <a:extLst>
              <a:ext uri="{FF2B5EF4-FFF2-40B4-BE49-F238E27FC236}">
                <a16:creationId xmlns:a16="http://schemas.microsoft.com/office/drawing/2014/main" id="{6F422E09-C260-7669-72B6-F0C3680B308F}"/>
              </a:ext>
            </a:extLst>
          </p:cNvPr>
          <p:cNvPicPr>
            <a:picLocks noChangeAspect="1"/>
          </p:cNvPicPr>
          <p:nvPr/>
        </p:nvPicPr>
        <p:blipFill>
          <a:blip r:embed="rId3"/>
          <a:stretch>
            <a:fillRect/>
          </a:stretch>
        </p:blipFill>
        <p:spPr>
          <a:xfrm>
            <a:off x="5351741" y="3693090"/>
            <a:ext cx="5892988" cy="2343477"/>
          </a:xfrm>
          <a:prstGeom prst="rect">
            <a:avLst/>
          </a:prstGeom>
          <a:effectLst>
            <a:glow rad="63500">
              <a:schemeClr val="accent3">
                <a:satMod val="175000"/>
                <a:alpha val="40000"/>
              </a:schemeClr>
            </a:glow>
          </a:effectLst>
        </p:spPr>
      </p:pic>
    </p:spTree>
    <p:extLst>
      <p:ext uri="{BB962C8B-B14F-4D97-AF65-F5344CB8AC3E}">
        <p14:creationId xmlns:p14="http://schemas.microsoft.com/office/powerpoint/2010/main" val="153145694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5DD04D75-5580-4918-ACD6-01E26F36A2CB}"/>
              </a:ext>
            </a:extLst>
          </p:cNvPr>
          <p:cNvSpPr>
            <a:spLocks noGrp="1"/>
          </p:cNvSpPr>
          <p:nvPr>
            <p:ph type="subTitle" idx="4294967295"/>
          </p:nvPr>
        </p:nvSpPr>
        <p:spPr>
          <a:xfrm>
            <a:off x="961009" y="203200"/>
            <a:ext cx="10994771" cy="2436483"/>
          </a:xfrm>
          <a:prstGeom prst="rect">
            <a:avLst/>
          </a:prstGeom>
        </p:spPr>
        <p:txBody>
          <a:bodyPr>
            <a:normAutofit fontScale="70000" lnSpcReduction="20000"/>
          </a:bodyPr>
          <a:lstStyle/>
          <a:p>
            <a:pPr marL="0" indent="0" algn="l">
              <a:lnSpc>
                <a:spcPct val="120000"/>
              </a:lnSpc>
              <a:spcBef>
                <a:spcPts val="600"/>
              </a:spcBef>
              <a:buNone/>
            </a:pPr>
            <a:r>
              <a:rPr lang="en-US" sz="3400" b="1" dirty="0">
                <a:solidFill>
                  <a:schemeClr val="accent1">
                    <a:lumMod val="75000"/>
                  </a:schemeClr>
                </a:solidFill>
              </a:rPr>
              <a:t>IMS Administration Tool ISPF LAB Exercise 3a </a:t>
            </a:r>
          </a:p>
          <a:p>
            <a:pPr marL="0" indent="0" algn="l">
              <a:lnSpc>
                <a:spcPct val="120000"/>
              </a:lnSpc>
              <a:spcBef>
                <a:spcPts val="600"/>
              </a:spcBef>
              <a:buNone/>
            </a:pPr>
            <a:r>
              <a:rPr lang="en-US" sz="2600" b="1" dirty="0"/>
              <a:t>Key Feature:  IMS Catalog Database Space Analysis</a:t>
            </a:r>
          </a:p>
          <a:p>
            <a:pPr marL="0" indent="0" algn="l">
              <a:lnSpc>
                <a:spcPct val="120000"/>
              </a:lnSpc>
              <a:spcBef>
                <a:spcPts val="600"/>
              </a:spcBef>
              <a:buNone/>
            </a:pPr>
            <a:r>
              <a:rPr lang="en-US" sz="2600" b="1" dirty="0"/>
              <a:t>Description:  </a:t>
            </a:r>
            <a:r>
              <a:rPr lang="en-US" sz="2600" dirty="0"/>
              <a:t>Since the IMS Catalog Database is a HALDB, it must be maintained just like any other IMS Database.  The summary report helps you determine if there is adequate space allocated/remaining for the database.</a:t>
            </a:r>
          </a:p>
          <a:p>
            <a:pPr marL="0" indent="0">
              <a:lnSpc>
                <a:spcPct val="120000"/>
              </a:lnSpc>
              <a:spcBef>
                <a:spcPts val="600"/>
              </a:spcBef>
              <a:buNone/>
            </a:pPr>
            <a:r>
              <a:rPr lang="en-US" sz="2600" b="1" dirty="0"/>
              <a:t>Instructions:</a:t>
            </a:r>
            <a:r>
              <a:rPr lang="en-US" sz="2600" dirty="0"/>
              <a:t>  As you can see here, a summary report of your IMS Catalog is presented for your viewing.  	           Scroll up/down (F7/F8) and also to the right/left (F10/F11) to see the entire report.</a:t>
            </a:r>
          </a:p>
        </p:txBody>
      </p:sp>
      <p:sp>
        <p:nvSpPr>
          <p:cNvPr id="2" name="Slide Number Placeholder 1">
            <a:extLst>
              <a:ext uri="{FF2B5EF4-FFF2-40B4-BE49-F238E27FC236}">
                <a16:creationId xmlns:a16="http://schemas.microsoft.com/office/drawing/2014/main" id="{AECC3967-2BD8-C03A-69D8-ABC5EC02F930}"/>
              </a:ext>
            </a:extLst>
          </p:cNvPr>
          <p:cNvSpPr>
            <a:spLocks noGrp="1"/>
          </p:cNvSpPr>
          <p:nvPr>
            <p:ph type="sldNum" sz="quarter" idx="12"/>
          </p:nvPr>
        </p:nvSpPr>
        <p:spPr/>
        <p:txBody>
          <a:bodyPr/>
          <a:lstStyle/>
          <a:p>
            <a:fld id="{1C788548-AC4B-4945-A4F1-BA86477A7FC8}" type="slidenum">
              <a:rPr lang="en-US" smtClean="0"/>
              <a:t>25</a:t>
            </a:fld>
            <a:endParaRPr lang="en-US"/>
          </a:p>
        </p:txBody>
      </p:sp>
      <p:pic>
        <p:nvPicPr>
          <p:cNvPr id="6" name="Picture 5">
            <a:extLst>
              <a:ext uri="{FF2B5EF4-FFF2-40B4-BE49-F238E27FC236}">
                <a16:creationId xmlns:a16="http://schemas.microsoft.com/office/drawing/2014/main" id="{AA148069-80D0-6851-325A-6685CFE850EE}"/>
              </a:ext>
            </a:extLst>
          </p:cNvPr>
          <p:cNvPicPr>
            <a:picLocks noChangeAspect="1"/>
          </p:cNvPicPr>
          <p:nvPr/>
        </p:nvPicPr>
        <p:blipFill>
          <a:blip r:embed="rId2"/>
          <a:stretch>
            <a:fillRect/>
          </a:stretch>
        </p:blipFill>
        <p:spPr>
          <a:xfrm>
            <a:off x="3039477" y="2707585"/>
            <a:ext cx="6113046" cy="3756423"/>
          </a:xfrm>
          <a:prstGeom prst="rect">
            <a:avLst/>
          </a:prstGeom>
          <a:effectLst>
            <a:glow rad="63500">
              <a:schemeClr val="accent3">
                <a:satMod val="175000"/>
                <a:alpha val="40000"/>
              </a:schemeClr>
            </a:glow>
          </a:effectLst>
        </p:spPr>
      </p:pic>
    </p:spTree>
    <p:extLst>
      <p:ext uri="{BB962C8B-B14F-4D97-AF65-F5344CB8AC3E}">
        <p14:creationId xmlns:p14="http://schemas.microsoft.com/office/powerpoint/2010/main" val="328781538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5DD04D75-5580-4918-ACD6-01E26F36A2CB}"/>
              </a:ext>
            </a:extLst>
          </p:cNvPr>
          <p:cNvSpPr>
            <a:spLocks noGrp="1"/>
          </p:cNvSpPr>
          <p:nvPr>
            <p:ph type="subTitle" idx="4294967295"/>
          </p:nvPr>
        </p:nvSpPr>
        <p:spPr>
          <a:xfrm>
            <a:off x="606679" y="237489"/>
            <a:ext cx="11084579" cy="2491743"/>
          </a:xfrm>
          <a:prstGeom prst="rect">
            <a:avLst/>
          </a:prstGeom>
        </p:spPr>
        <p:txBody>
          <a:bodyPr>
            <a:normAutofit fontScale="77500" lnSpcReduction="20000"/>
          </a:bodyPr>
          <a:lstStyle/>
          <a:p>
            <a:pPr marL="0" indent="0" algn="l">
              <a:lnSpc>
                <a:spcPct val="110000"/>
              </a:lnSpc>
              <a:spcBef>
                <a:spcPts val="600"/>
              </a:spcBef>
              <a:buNone/>
            </a:pPr>
            <a:r>
              <a:rPr lang="en-US" sz="3100" b="1" dirty="0">
                <a:solidFill>
                  <a:schemeClr val="accent1">
                    <a:lumMod val="75000"/>
                  </a:schemeClr>
                </a:solidFill>
                <a:latin typeface="Calibri (Body)"/>
              </a:rPr>
              <a:t>IMS Administration Tool ISPF LAB Exercise 3a </a:t>
            </a:r>
          </a:p>
          <a:p>
            <a:pPr marL="0" indent="0" algn="l">
              <a:lnSpc>
                <a:spcPct val="110000"/>
              </a:lnSpc>
              <a:spcBef>
                <a:spcPts val="600"/>
              </a:spcBef>
              <a:buNone/>
            </a:pPr>
            <a:r>
              <a:rPr lang="en-US" sz="2300" b="1" dirty="0">
                <a:latin typeface="Calibri (Body)"/>
              </a:rPr>
              <a:t>Key Feature:  IMS Catalog Database Space Analysis</a:t>
            </a:r>
          </a:p>
          <a:p>
            <a:pPr marL="0" indent="0" algn="l">
              <a:lnSpc>
                <a:spcPct val="110000"/>
              </a:lnSpc>
              <a:spcBef>
                <a:spcPts val="600"/>
              </a:spcBef>
              <a:buNone/>
            </a:pPr>
            <a:r>
              <a:rPr lang="en-US" sz="2300" b="1" dirty="0">
                <a:latin typeface="Calibri (Body)"/>
              </a:rPr>
              <a:t>Description:  View DBD and PSB Detail and XREF (using a batch job output)</a:t>
            </a:r>
          </a:p>
          <a:p>
            <a:pPr marL="0" indent="0">
              <a:lnSpc>
                <a:spcPct val="110000"/>
              </a:lnSpc>
              <a:spcBef>
                <a:spcPts val="600"/>
              </a:spcBef>
              <a:buNone/>
            </a:pPr>
            <a:r>
              <a:rPr lang="en-US" sz="2300" b="1" dirty="0">
                <a:latin typeface="Calibri (Body)"/>
              </a:rPr>
              <a:t>Instructions:</a:t>
            </a:r>
            <a:r>
              <a:rPr lang="en-US" sz="2300" dirty="0">
                <a:latin typeface="Calibri (Body)"/>
              </a:rPr>
              <a:t>  After previously viewing the IMS Catalog Database Space Analysis Report,</a:t>
            </a:r>
          </a:p>
          <a:p>
            <a:pPr marL="401638" indent="-290513">
              <a:lnSpc>
                <a:spcPct val="110000"/>
              </a:lnSpc>
              <a:spcBef>
                <a:spcPts val="600"/>
              </a:spcBef>
              <a:buAutoNum type="arabicPeriod"/>
            </a:pPr>
            <a:r>
              <a:rPr lang="en-US" sz="2300" dirty="0">
                <a:latin typeface="Calibri (Body)"/>
              </a:rPr>
              <a:t>Select Option         (</a:t>
            </a:r>
            <a:r>
              <a:rPr lang="en-US" sz="2300" dirty="0">
                <a:highlight>
                  <a:srgbClr val="FFFF00"/>
                </a:highlight>
                <a:latin typeface="Calibri (Body)"/>
              </a:rPr>
              <a:t>DBD/PSB Detail and XREF (Batch Job)</a:t>
            </a:r>
            <a:r>
              <a:rPr lang="en-US" sz="2300" dirty="0">
                <a:latin typeface="Calibri (Body)"/>
              </a:rPr>
              <a:t>) and press Enter.</a:t>
            </a:r>
          </a:p>
          <a:p>
            <a:pPr marL="401638" indent="-290513">
              <a:lnSpc>
                <a:spcPct val="110000"/>
              </a:lnSpc>
              <a:spcBef>
                <a:spcPts val="600"/>
              </a:spcBef>
              <a:buAutoNum type="arabicPeriod"/>
            </a:pPr>
            <a:r>
              <a:rPr lang="en-US" sz="2300" dirty="0">
                <a:latin typeface="Calibri (Body)"/>
              </a:rPr>
              <a:t>On the next panel, specify “</a:t>
            </a:r>
            <a:r>
              <a:rPr lang="en-US" sz="2300" b="1" dirty="0">
                <a:latin typeface="Calibri (Body)"/>
              </a:rPr>
              <a:t>Y</a:t>
            </a:r>
            <a:r>
              <a:rPr lang="en-US" sz="2300" dirty="0">
                <a:latin typeface="Calibri (Body)"/>
              </a:rPr>
              <a:t>” for the first question and specify a data set HLQ if it is not filled in.</a:t>
            </a:r>
          </a:p>
          <a:p>
            <a:pPr marL="401638" indent="-290513">
              <a:lnSpc>
                <a:spcPct val="110000"/>
              </a:lnSpc>
              <a:spcBef>
                <a:spcPts val="600"/>
              </a:spcBef>
              <a:buAutoNum type="arabicPeriod"/>
            </a:pPr>
            <a:r>
              <a:rPr lang="en-US" sz="2300" dirty="0">
                <a:latin typeface="Calibri (Body)"/>
              </a:rPr>
              <a:t>Then, press Enter.</a:t>
            </a:r>
          </a:p>
        </p:txBody>
      </p:sp>
      <p:sp>
        <p:nvSpPr>
          <p:cNvPr id="6" name="Rectangle 5">
            <a:extLst>
              <a:ext uri="{FF2B5EF4-FFF2-40B4-BE49-F238E27FC236}">
                <a16:creationId xmlns:a16="http://schemas.microsoft.com/office/drawing/2014/main" id="{4648A1D2-D817-422B-8F78-34353D7D6409}"/>
              </a:ext>
            </a:extLst>
          </p:cNvPr>
          <p:cNvSpPr/>
          <p:nvPr/>
        </p:nvSpPr>
        <p:spPr>
          <a:xfrm>
            <a:off x="2403397" y="1600947"/>
            <a:ext cx="377190" cy="320040"/>
          </a:xfrm>
          <a:prstGeom prst="rect">
            <a:avLst/>
          </a:prstGeom>
          <a:solidFill>
            <a:schemeClr val="bg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1</a:t>
            </a:r>
            <a:endParaRPr lang="en-US" dirty="0">
              <a:solidFill>
                <a:schemeClr val="tx1"/>
              </a:solidFill>
            </a:endParaRPr>
          </a:p>
        </p:txBody>
      </p:sp>
      <p:cxnSp>
        <p:nvCxnSpPr>
          <p:cNvPr id="10" name="Straight Arrow Connector 9">
            <a:extLst>
              <a:ext uri="{FF2B5EF4-FFF2-40B4-BE49-F238E27FC236}">
                <a16:creationId xmlns:a16="http://schemas.microsoft.com/office/drawing/2014/main" id="{5885BEC6-F990-4B8C-B6F1-EEB4C7A1BE0F}"/>
              </a:ext>
            </a:extLst>
          </p:cNvPr>
          <p:cNvCxnSpPr>
            <a:cxnSpLocks/>
          </p:cNvCxnSpPr>
          <p:nvPr/>
        </p:nvCxnSpPr>
        <p:spPr>
          <a:xfrm>
            <a:off x="312172" y="2878505"/>
            <a:ext cx="354330"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2" name="Slide Number Placeholder 1">
            <a:extLst>
              <a:ext uri="{FF2B5EF4-FFF2-40B4-BE49-F238E27FC236}">
                <a16:creationId xmlns:a16="http://schemas.microsoft.com/office/drawing/2014/main" id="{16FE6D47-B439-0D3A-C9BF-D124F325B86F}"/>
              </a:ext>
            </a:extLst>
          </p:cNvPr>
          <p:cNvSpPr>
            <a:spLocks noGrp="1"/>
          </p:cNvSpPr>
          <p:nvPr>
            <p:ph type="sldNum" sz="quarter" idx="12"/>
          </p:nvPr>
        </p:nvSpPr>
        <p:spPr/>
        <p:txBody>
          <a:bodyPr/>
          <a:lstStyle/>
          <a:p>
            <a:fld id="{1C788548-AC4B-4945-A4F1-BA86477A7FC8}" type="slidenum">
              <a:rPr lang="en-US" smtClean="0"/>
              <a:t>26</a:t>
            </a:fld>
            <a:endParaRPr lang="en-US"/>
          </a:p>
        </p:txBody>
      </p:sp>
      <p:pic>
        <p:nvPicPr>
          <p:cNvPr id="7" name="Picture 6">
            <a:extLst>
              <a:ext uri="{FF2B5EF4-FFF2-40B4-BE49-F238E27FC236}">
                <a16:creationId xmlns:a16="http://schemas.microsoft.com/office/drawing/2014/main" id="{904E1DFF-C762-2A33-0BF7-EB92F219B779}"/>
              </a:ext>
            </a:extLst>
          </p:cNvPr>
          <p:cNvPicPr>
            <a:picLocks noChangeAspect="1"/>
          </p:cNvPicPr>
          <p:nvPr/>
        </p:nvPicPr>
        <p:blipFill>
          <a:blip r:embed="rId2"/>
          <a:stretch>
            <a:fillRect/>
          </a:stretch>
        </p:blipFill>
        <p:spPr>
          <a:xfrm>
            <a:off x="683594" y="2662777"/>
            <a:ext cx="5806012" cy="3546557"/>
          </a:xfrm>
          <a:prstGeom prst="rect">
            <a:avLst/>
          </a:prstGeom>
          <a:effectLst>
            <a:glow rad="63500">
              <a:schemeClr val="accent3">
                <a:satMod val="175000"/>
                <a:alpha val="40000"/>
              </a:schemeClr>
            </a:glow>
          </a:effectLst>
        </p:spPr>
      </p:pic>
      <p:pic>
        <p:nvPicPr>
          <p:cNvPr id="11" name="Picture 10">
            <a:extLst>
              <a:ext uri="{FF2B5EF4-FFF2-40B4-BE49-F238E27FC236}">
                <a16:creationId xmlns:a16="http://schemas.microsoft.com/office/drawing/2014/main" id="{82CB2E8E-5D1B-C4B2-CA8E-2DE79D291F5C}"/>
              </a:ext>
            </a:extLst>
          </p:cNvPr>
          <p:cNvPicPr>
            <a:picLocks noChangeAspect="1"/>
          </p:cNvPicPr>
          <p:nvPr/>
        </p:nvPicPr>
        <p:blipFill>
          <a:blip r:embed="rId3"/>
          <a:stretch>
            <a:fillRect/>
          </a:stretch>
        </p:blipFill>
        <p:spPr>
          <a:xfrm>
            <a:off x="5879625" y="2885645"/>
            <a:ext cx="5811633" cy="3552178"/>
          </a:xfrm>
          <a:prstGeom prst="rect">
            <a:avLst/>
          </a:prstGeom>
          <a:effectLst>
            <a:glow rad="63500">
              <a:schemeClr val="accent3">
                <a:satMod val="175000"/>
                <a:alpha val="40000"/>
              </a:schemeClr>
            </a:glow>
          </a:effectLst>
        </p:spPr>
      </p:pic>
      <p:sp>
        <p:nvSpPr>
          <p:cNvPr id="12" name="Rectangle 11">
            <a:extLst>
              <a:ext uri="{FF2B5EF4-FFF2-40B4-BE49-F238E27FC236}">
                <a16:creationId xmlns:a16="http://schemas.microsoft.com/office/drawing/2014/main" id="{39B64190-359D-72DD-871A-47ED79450973}"/>
              </a:ext>
            </a:extLst>
          </p:cNvPr>
          <p:cNvSpPr/>
          <p:nvPr/>
        </p:nvSpPr>
        <p:spPr>
          <a:xfrm>
            <a:off x="10658356" y="3994732"/>
            <a:ext cx="146478" cy="144041"/>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05103D84-9D14-25EA-73D1-704C9A23960F}"/>
              </a:ext>
            </a:extLst>
          </p:cNvPr>
          <p:cNvSpPr/>
          <p:nvPr/>
        </p:nvSpPr>
        <p:spPr>
          <a:xfrm>
            <a:off x="7999189" y="4830796"/>
            <a:ext cx="1076444" cy="134313"/>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8519002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C28CE7-BFF2-D4C5-1FC3-245206FCE968}"/>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11FCA192-9C56-64A5-7A0B-32B9D12D5DAB}"/>
              </a:ext>
            </a:extLst>
          </p:cNvPr>
          <p:cNvSpPr>
            <a:spLocks noGrp="1"/>
          </p:cNvSpPr>
          <p:nvPr>
            <p:ph type="subTitle" idx="4294967295"/>
          </p:nvPr>
        </p:nvSpPr>
        <p:spPr>
          <a:xfrm>
            <a:off x="606679" y="237489"/>
            <a:ext cx="11084579" cy="2491743"/>
          </a:xfrm>
          <a:prstGeom prst="rect">
            <a:avLst/>
          </a:prstGeom>
        </p:spPr>
        <p:txBody>
          <a:bodyPr>
            <a:normAutofit fontScale="77500" lnSpcReduction="20000"/>
          </a:bodyPr>
          <a:lstStyle/>
          <a:p>
            <a:pPr marL="0" indent="0" algn="l">
              <a:lnSpc>
                <a:spcPct val="110000"/>
              </a:lnSpc>
              <a:spcBef>
                <a:spcPts val="600"/>
              </a:spcBef>
              <a:buNone/>
            </a:pPr>
            <a:r>
              <a:rPr lang="en-US" sz="3100" b="1" dirty="0">
                <a:solidFill>
                  <a:schemeClr val="accent1">
                    <a:lumMod val="75000"/>
                  </a:schemeClr>
                </a:solidFill>
                <a:latin typeface="Calibri (Body)"/>
              </a:rPr>
              <a:t>IMS Administration Tool ISPF LAB Exercise 3a </a:t>
            </a:r>
          </a:p>
          <a:p>
            <a:pPr marL="0" indent="0" algn="l">
              <a:lnSpc>
                <a:spcPct val="110000"/>
              </a:lnSpc>
              <a:spcBef>
                <a:spcPts val="600"/>
              </a:spcBef>
              <a:buNone/>
            </a:pPr>
            <a:r>
              <a:rPr lang="en-US" sz="2300" b="1" dirty="0">
                <a:latin typeface="Calibri (Body)"/>
              </a:rPr>
              <a:t>Key Feature:  IMS Catalog Database Space Analysis</a:t>
            </a:r>
          </a:p>
          <a:p>
            <a:pPr marL="0" indent="0">
              <a:lnSpc>
                <a:spcPct val="110000"/>
              </a:lnSpc>
              <a:spcBef>
                <a:spcPts val="600"/>
              </a:spcBef>
              <a:buNone/>
            </a:pPr>
            <a:r>
              <a:rPr lang="en-US" sz="2300" b="1" dirty="0">
                <a:latin typeface="Calibri (Body)"/>
              </a:rPr>
              <a:t>Description:  View DBD and PSB Detail and XREF – Batch job JCL generation</a:t>
            </a:r>
          </a:p>
          <a:p>
            <a:pPr marL="0" indent="0">
              <a:lnSpc>
                <a:spcPct val="110000"/>
              </a:lnSpc>
              <a:spcBef>
                <a:spcPts val="600"/>
              </a:spcBef>
              <a:buNone/>
            </a:pPr>
            <a:r>
              <a:rPr lang="en-US" sz="2300" b="1" dirty="0">
                <a:latin typeface="Calibri (Body)"/>
              </a:rPr>
              <a:t>Instructions:</a:t>
            </a:r>
            <a:r>
              <a:rPr lang="en-US" sz="2300" dirty="0">
                <a:latin typeface="Calibri (Body)"/>
              </a:rPr>
              <a:t>  On the “Build and Submit the JCL to Generate Report and CSV Data Sets” panel,</a:t>
            </a:r>
          </a:p>
          <a:p>
            <a:pPr marL="401638" indent="-290513">
              <a:lnSpc>
                <a:spcPct val="110000"/>
              </a:lnSpc>
              <a:spcBef>
                <a:spcPts val="600"/>
              </a:spcBef>
              <a:buAutoNum type="arabicPeriod"/>
            </a:pPr>
            <a:r>
              <a:rPr lang="en-US" sz="2300" dirty="0">
                <a:latin typeface="Calibri (Body)"/>
              </a:rPr>
              <a:t>Specify CLASS, MSGCLASS, and REGION values, if any is missing, and press Enter key</a:t>
            </a:r>
          </a:p>
          <a:p>
            <a:pPr marL="401638" indent="-290513">
              <a:lnSpc>
                <a:spcPct val="110000"/>
              </a:lnSpc>
              <a:spcBef>
                <a:spcPts val="600"/>
              </a:spcBef>
              <a:buAutoNum type="arabicPeriod"/>
            </a:pPr>
            <a:r>
              <a:rPr lang="en-US" sz="2300" dirty="0">
                <a:latin typeface="Calibri (Body)"/>
              </a:rPr>
              <a:t>Then, on the next panel, specify the primary and secondary allocation amount of “0001” and hit Enter key twice.</a:t>
            </a:r>
          </a:p>
          <a:p>
            <a:pPr marL="401638" indent="-290513">
              <a:lnSpc>
                <a:spcPct val="110000"/>
              </a:lnSpc>
              <a:spcBef>
                <a:spcPts val="600"/>
              </a:spcBef>
              <a:buAutoNum type="arabicPeriod"/>
            </a:pPr>
            <a:r>
              <a:rPr lang="en-US" sz="2300" dirty="0">
                <a:latin typeface="Calibri (Body)"/>
              </a:rPr>
              <a:t>The next Enter key shows the JCL generation Editor panel on the next page.</a:t>
            </a:r>
          </a:p>
        </p:txBody>
      </p:sp>
      <p:cxnSp>
        <p:nvCxnSpPr>
          <p:cNvPr id="10" name="Straight Arrow Connector 9">
            <a:extLst>
              <a:ext uri="{FF2B5EF4-FFF2-40B4-BE49-F238E27FC236}">
                <a16:creationId xmlns:a16="http://schemas.microsoft.com/office/drawing/2014/main" id="{A9C3A5BB-9E87-56C2-884B-B9DC6795002F}"/>
              </a:ext>
            </a:extLst>
          </p:cNvPr>
          <p:cNvCxnSpPr>
            <a:cxnSpLocks/>
          </p:cNvCxnSpPr>
          <p:nvPr/>
        </p:nvCxnSpPr>
        <p:spPr>
          <a:xfrm>
            <a:off x="269463" y="4476568"/>
            <a:ext cx="354330"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2" name="Slide Number Placeholder 1">
            <a:extLst>
              <a:ext uri="{FF2B5EF4-FFF2-40B4-BE49-F238E27FC236}">
                <a16:creationId xmlns:a16="http://schemas.microsoft.com/office/drawing/2014/main" id="{DE1B4776-83F8-FAA4-4B06-B98AD8D62288}"/>
              </a:ext>
            </a:extLst>
          </p:cNvPr>
          <p:cNvSpPr>
            <a:spLocks noGrp="1"/>
          </p:cNvSpPr>
          <p:nvPr>
            <p:ph type="sldNum" sz="quarter" idx="12"/>
          </p:nvPr>
        </p:nvSpPr>
        <p:spPr/>
        <p:txBody>
          <a:bodyPr/>
          <a:lstStyle/>
          <a:p>
            <a:fld id="{1C788548-AC4B-4945-A4F1-BA86477A7FC8}" type="slidenum">
              <a:rPr lang="en-US" smtClean="0"/>
              <a:t>27</a:t>
            </a:fld>
            <a:endParaRPr lang="en-US"/>
          </a:p>
        </p:txBody>
      </p:sp>
      <p:pic>
        <p:nvPicPr>
          <p:cNvPr id="5" name="Picture 4">
            <a:extLst>
              <a:ext uri="{FF2B5EF4-FFF2-40B4-BE49-F238E27FC236}">
                <a16:creationId xmlns:a16="http://schemas.microsoft.com/office/drawing/2014/main" id="{F3BE79C6-88CA-BE92-2BF0-3AC3B46B8A22}"/>
              </a:ext>
            </a:extLst>
          </p:cNvPr>
          <p:cNvPicPr>
            <a:picLocks noChangeAspect="1"/>
          </p:cNvPicPr>
          <p:nvPr/>
        </p:nvPicPr>
        <p:blipFill>
          <a:blip r:embed="rId2"/>
          <a:stretch>
            <a:fillRect/>
          </a:stretch>
        </p:blipFill>
        <p:spPr>
          <a:xfrm>
            <a:off x="666523" y="2692152"/>
            <a:ext cx="5707605" cy="2480847"/>
          </a:xfrm>
          <a:prstGeom prst="rect">
            <a:avLst/>
          </a:prstGeom>
          <a:effectLst>
            <a:glow rad="63500">
              <a:schemeClr val="accent3">
                <a:satMod val="175000"/>
                <a:alpha val="40000"/>
              </a:schemeClr>
            </a:glow>
          </a:effectLst>
        </p:spPr>
      </p:pic>
      <p:pic>
        <p:nvPicPr>
          <p:cNvPr id="9" name="Picture 8">
            <a:extLst>
              <a:ext uri="{FF2B5EF4-FFF2-40B4-BE49-F238E27FC236}">
                <a16:creationId xmlns:a16="http://schemas.microsoft.com/office/drawing/2014/main" id="{FD83EADF-7C84-9B92-42D4-D91EEA655E2E}"/>
              </a:ext>
            </a:extLst>
          </p:cNvPr>
          <p:cNvPicPr>
            <a:picLocks noChangeAspect="1"/>
          </p:cNvPicPr>
          <p:nvPr/>
        </p:nvPicPr>
        <p:blipFill>
          <a:blip r:embed="rId3"/>
          <a:stretch>
            <a:fillRect/>
          </a:stretch>
        </p:blipFill>
        <p:spPr>
          <a:xfrm>
            <a:off x="5817872" y="2891325"/>
            <a:ext cx="5707605" cy="3525123"/>
          </a:xfrm>
          <a:prstGeom prst="rect">
            <a:avLst/>
          </a:prstGeom>
          <a:effectLst>
            <a:glow rad="63500">
              <a:schemeClr val="accent3">
                <a:satMod val="175000"/>
                <a:alpha val="40000"/>
              </a:schemeClr>
            </a:glow>
          </a:effectLst>
        </p:spPr>
      </p:pic>
      <p:sp>
        <p:nvSpPr>
          <p:cNvPr id="12" name="Rectangle 11">
            <a:extLst>
              <a:ext uri="{FF2B5EF4-FFF2-40B4-BE49-F238E27FC236}">
                <a16:creationId xmlns:a16="http://schemas.microsoft.com/office/drawing/2014/main" id="{78C4884E-0510-19EE-05AE-F89B4D89189C}"/>
              </a:ext>
            </a:extLst>
          </p:cNvPr>
          <p:cNvSpPr/>
          <p:nvPr/>
        </p:nvSpPr>
        <p:spPr>
          <a:xfrm>
            <a:off x="10354293" y="4645340"/>
            <a:ext cx="393107" cy="174488"/>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64DE8A3C-0629-00C2-0659-DDF67679FB78}"/>
              </a:ext>
            </a:extLst>
          </p:cNvPr>
          <p:cNvSpPr/>
          <p:nvPr/>
        </p:nvSpPr>
        <p:spPr>
          <a:xfrm>
            <a:off x="7477568" y="4647762"/>
            <a:ext cx="393107" cy="174488"/>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7FCAEC36-B567-29DD-B3B3-1D2378CC637F}"/>
              </a:ext>
            </a:extLst>
          </p:cNvPr>
          <p:cNvSpPr/>
          <p:nvPr/>
        </p:nvSpPr>
        <p:spPr>
          <a:xfrm>
            <a:off x="2929782" y="4402484"/>
            <a:ext cx="1784650" cy="217218"/>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1034050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35984A-60BB-924C-60F1-51B17AAD942C}"/>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42698393-CDA8-D959-0D24-FC1DB7AE3DE0}"/>
              </a:ext>
            </a:extLst>
          </p:cNvPr>
          <p:cNvSpPr>
            <a:spLocks noGrp="1"/>
          </p:cNvSpPr>
          <p:nvPr>
            <p:ph type="subTitle" idx="4294967295"/>
          </p:nvPr>
        </p:nvSpPr>
        <p:spPr>
          <a:xfrm>
            <a:off x="606679" y="237489"/>
            <a:ext cx="11084579" cy="2695317"/>
          </a:xfrm>
          <a:prstGeom prst="rect">
            <a:avLst/>
          </a:prstGeom>
        </p:spPr>
        <p:txBody>
          <a:bodyPr>
            <a:normAutofit fontScale="77500" lnSpcReduction="20000"/>
          </a:bodyPr>
          <a:lstStyle/>
          <a:p>
            <a:pPr marL="0" indent="0" algn="l">
              <a:lnSpc>
                <a:spcPct val="110000"/>
              </a:lnSpc>
              <a:spcBef>
                <a:spcPts val="600"/>
              </a:spcBef>
              <a:buNone/>
            </a:pPr>
            <a:r>
              <a:rPr lang="en-US" sz="3100" b="1" dirty="0">
                <a:solidFill>
                  <a:schemeClr val="accent1">
                    <a:lumMod val="75000"/>
                  </a:schemeClr>
                </a:solidFill>
                <a:latin typeface="Calibri (Body)"/>
              </a:rPr>
              <a:t>IMS Administration Tool ISPF LAB Exercise 3a </a:t>
            </a:r>
          </a:p>
          <a:p>
            <a:pPr marL="0" indent="0" algn="l">
              <a:lnSpc>
                <a:spcPct val="110000"/>
              </a:lnSpc>
              <a:spcBef>
                <a:spcPts val="600"/>
              </a:spcBef>
              <a:buNone/>
            </a:pPr>
            <a:r>
              <a:rPr lang="en-US" sz="2300" b="1" dirty="0">
                <a:latin typeface="Calibri (Body)"/>
              </a:rPr>
              <a:t>Key Feature:  IMS Catalog Database Space Analysis</a:t>
            </a:r>
          </a:p>
          <a:p>
            <a:pPr marL="0" indent="0">
              <a:lnSpc>
                <a:spcPct val="110000"/>
              </a:lnSpc>
              <a:spcBef>
                <a:spcPts val="600"/>
              </a:spcBef>
              <a:buNone/>
            </a:pPr>
            <a:r>
              <a:rPr lang="en-US" sz="2300" b="1" dirty="0">
                <a:latin typeface="Calibri (Body)"/>
              </a:rPr>
              <a:t>Description:  View DBD and PSB Detail and XREF – Batch job JCL generation (cont.)</a:t>
            </a:r>
          </a:p>
          <a:p>
            <a:pPr marL="0" indent="0">
              <a:lnSpc>
                <a:spcPct val="110000"/>
              </a:lnSpc>
              <a:spcBef>
                <a:spcPts val="600"/>
              </a:spcBef>
              <a:buNone/>
            </a:pPr>
            <a:r>
              <a:rPr lang="en-US" sz="2300" b="1" dirty="0">
                <a:latin typeface="Calibri (Body)"/>
              </a:rPr>
              <a:t>Instructions: </a:t>
            </a:r>
            <a:endParaRPr lang="en-US" sz="2300" dirty="0">
              <a:latin typeface="Calibri (Body)"/>
            </a:endParaRPr>
          </a:p>
          <a:p>
            <a:pPr marL="396875" indent="-284163">
              <a:lnSpc>
                <a:spcPct val="120000"/>
              </a:lnSpc>
              <a:spcBef>
                <a:spcPts val="300"/>
              </a:spcBef>
              <a:buAutoNum type="arabicPeriod"/>
            </a:pPr>
            <a:r>
              <a:rPr lang="en-US" sz="2300" dirty="0">
                <a:latin typeface="Calibri (Body)"/>
              </a:rPr>
              <a:t>Scroll the page to see the processing result and confirm that the JCL generation ended with a return code of 0.</a:t>
            </a:r>
          </a:p>
          <a:p>
            <a:pPr marL="396875" indent="-284163">
              <a:lnSpc>
                <a:spcPct val="120000"/>
              </a:lnSpc>
              <a:spcBef>
                <a:spcPts val="300"/>
              </a:spcBef>
              <a:buAutoNum type="arabicPeriod"/>
            </a:pPr>
            <a:r>
              <a:rPr lang="en-US" sz="2300" dirty="0">
                <a:latin typeface="Calibri (Body)"/>
              </a:rPr>
              <a:t>Pressing PF3 (End) shows the generated JCL. Scroll down the page to see the JCL content and press PF3.</a:t>
            </a:r>
          </a:p>
          <a:p>
            <a:pPr marL="396875" indent="-284163">
              <a:lnSpc>
                <a:spcPct val="120000"/>
              </a:lnSpc>
              <a:spcBef>
                <a:spcPts val="300"/>
              </a:spcBef>
              <a:buAutoNum type="arabicPeriod"/>
            </a:pPr>
            <a:r>
              <a:rPr lang="en-US" sz="2300" dirty="0">
                <a:latin typeface="Calibri (Body)"/>
              </a:rPr>
              <a:t>You will be asked whether to submit the JCL. Change the answer from ‘N’ to ‘Y’. Then, the JCL will be submitted.</a:t>
            </a:r>
          </a:p>
          <a:p>
            <a:pPr marL="396875" indent="-284163">
              <a:lnSpc>
                <a:spcPct val="120000"/>
              </a:lnSpc>
              <a:spcBef>
                <a:spcPts val="300"/>
              </a:spcBef>
              <a:buAutoNum type="arabicPeriod"/>
            </a:pPr>
            <a:r>
              <a:rPr lang="en-US" sz="2300" dirty="0">
                <a:latin typeface="Calibri (Body)"/>
              </a:rPr>
              <a:t>Press PF3 twice to go back to the “DBD/PSB Detail and XREF” panel.</a:t>
            </a:r>
          </a:p>
        </p:txBody>
      </p:sp>
      <p:sp>
        <p:nvSpPr>
          <p:cNvPr id="2" name="Slide Number Placeholder 1">
            <a:extLst>
              <a:ext uri="{FF2B5EF4-FFF2-40B4-BE49-F238E27FC236}">
                <a16:creationId xmlns:a16="http://schemas.microsoft.com/office/drawing/2014/main" id="{E429D501-265F-A361-461C-342D12EA34E3}"/>
              </a:ext>
            </a:extLst>
          </p:cNvPr>
          <p:cNvSpPr>
            <a:spLocks noGrp="1"/>
          </p:cNvSpPr>
          <p:nvPr>
            <p:ph type="sldNum" sz="quarter" idx="12"/>
          </p:nvPr>
        </p:nvSpPr>
        <p:spPr/>
        <p:txBody>
          <a:bodyPr/>
          <a:lstStyle/>
          <a:p>
            <a:fld id="{1C788548-AC4B-4945-A4F1-BA86477A7FC8}" type="slidenum">
              <a:rPr lang="en-US" smtClean="0"/>
              <a:t>28</a:t>
            </a:fld>
            <a:endParaRPr lang="en-US"/>
          </a:p>
        </p:txBody>
      </p:sp>
      <p:pic>
        <p:nvPicPr>
          <p:cNvPr id="6" name="Picture 5">
            <a:extLst>
              <a:ext uri="{FF2B5EF4-FFF2-40B4-BE49-F238E27FC236}">
                <a16:creationId xmlns:a16="http://schemas.microsoft.com/office/drawing/2014/main" id="{EABB7B80-467F-3D93-5D87-382D6C55099C}"/>
              </a:ext>
            </a:extLst>
          </p:cNvPr>
          <p:cNvPicPr>
            <a:picLocks noChangeAspect="1"/>
          </p:cNvPicPr>
          <p:nvPr/>
        </p:nvPicPr>
        <p:blipFill>
          <a:blip r:embed="rId2"/>
          <a:stretch>
            <a:fillRect/>
          </a:stretch>
        </p:blipFill>
        <p:spPr>
          <a:xfrm>
            <a:off x="537657" y="2932795"/>
            <a:ext cx="4634083" cy="2847611"/>
          </a:xfrm>
          <a:prstGeom prst="rect">
            <a:avLst/>
          </a:prstGeom>
          <a:effectLst>
            <a:glow rad="63500">
              <a:schemeClr val="accent3">
                <a:satMod val="175000"/>
                <a:alpha val="40000"/>
              </a:schemeClr>
            </a:glow>
          </a:effectLst>
        </p:spPr>
      </p:pic>
      <p:pic>
        <p:nvPicPr>
          <p:cNvPr id="8" name="Picture 7">
            <a:extLst>
              <a:ext uri="{FF2B5EF4-FFF2-40B4-BE49-F238E27FC236}">
                <a16:creationId xmlns:a16="http://schemas.microsoft.com/office/drawing/2014/main" id="{27E8BE7A-ED1E-42D3-5A8B-FF400ABF3FAB}"/>
              </a:ext>
            </a:extLst>
          </p:cNvPr>
          <p:cNvPicPr>
            <a:picLocks noChangeAspect="1"/>
          </p:cNvPicPr>
          <p:nvPr/>
        </p:nvPicPr>
        <p:blipFill>
          <a:blip r:embed="rId3"/>
          <a:stretch>
            <a:fillRect/>
          </a:stretch>
        </p:blipFill>
        <p:spPr>
          <a:xfrm>
            <a:off x="687812" y="5596989"/>
            <a:ext cx="4629606" cy="1016364"/>
          </a:xfrm>
          <a:prstGeom prst="rect">
            <a:avLst/>
          </a:prstGeom>
          <a:effectLst>
            <a:glow rad="63500">
              <a:schemeClr val="accent3">
                <a:satMod val="175000"/>
                <a:alpha val="40000"/>
              </a:schemeClr>
            </a:glow>
          </a:effectLst>
        </p:spPr>
      </p:pic>
      <p:pic>
        <p:nvPicPr>
          <p:cNvPr id="10" name="Picture 9">
            <a:extLst>
              <a:ext uri="{FF2B5EF4-FFF2-40B4-BE49-F238E27FC236}">
                <a16:creationId xmlns:a16="http://schemas.microsoft.com/office/drawing/2014/main" id="{F36C96E6-2F1C-7F36-2280-081B89C39036}"/>
              </a:ext>
            </a:extLst>
          </p:cNvPr>
          <p:cNvPicPr>
            <a:picLocks noChangeAspect="1"/>
          </p:cNvPicPr>
          <p:nvPr/>
        </p:nvPicPr>
        <p:blipFill>
          <a:blip r:embed="rId4"/>
          <a:stretch>
            <a:fillRect/>
          </a:stretch>
        </p:blipFill>
        <p:spPr>
          <a:xfrm>
            <a:off x="4304439" y="3513217"/>
            <a:ext cx="4638560" cy="2843133"/>
          </a:xfrm>
          <a:prstGeom prst="rect">
            <a:avLst/>
          </a:prstGeom>
          <a:effectLst>
            <a:glow rad="63500">
              <a:schemeClr val="accent3">
                <a:satMod val="175000"/>
                <a:alpha val="40000"/>
              </a:schemeClr>
            </a:glow>
          </a:effectLst>
        </p:spPr>
      </p:pic>
      <p:pic>
        <p:nvPicPr>
          <p:cNvPr id="12" name="Picture 11">
            <a:extLst>
              <a:ext uri="{FF2B5EF4-FFF2-40B4-BE49-F238E27FC236}">
                <a16:creationId xmlns:a16="http://schemas.microsoft.com/office/drawing/2014/main" id="{04423748-BA49-80A4-DB4D-BC45346166C2}"/>
              </a:ext>
            </a:extLst>
          </p:cNvPr>
          <p:cNvPicPr>
            <a:picLocks noChangeAspect="1"/>
          </p:cNvPicPr>
          <p:nvPr/>
        </p:nvPicPr>
        <p:blipFill>
          <a:blip r:embed="rId5"/>
          <a:stretch>
            <a:fillRect/>
          </a:stretch>
        </p:blipFill>
        <p:spPr>
          <a:xfrm>
            <a:off x="7079562" y="3008885"/>
            <a:ext cx="4611696" cy="2834178"/>
          </a:xfrm>
          <a:prstGeom prst="rect">
            <a:avLst/>
          </a:prstGeom>
          <a:effectLst>
            <a:glow rad="63500">
              <a:schemeClr val="accent3">
                <a:satMod val="175000"/>
                <a:alpha val="40000"/>
              </a:schemeClr>
            </a:glow>
          </a:effectLst>
        </p:spPr>
      </p:pic>
    </p:spTree>
    <p:extLst>
      <p:ext uri="{BB962C8B-B14F-4D97-AF65-F5344CB8AC3E}">
        <p14:creationId xmlns:p14="http://schemas.microsoft.com/office/powerpoint/2010/main" val="32254352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30B979-5B00-0EAF-F58C-3B05F21C3654}"/>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ADC86DA5-6EE2-EF9F-BA70-8473B644EC61}"/>
              </a:ext>
            </a:extLst>
          </p:cNvPr>
          <p:cNvSpPr>
            <a:spLocks noGrp="1"/>
          </p:cNvSpPr>
          <p:nvPr>
            <p:ph type="subTitle" idx="4294967295"/>
          </p:nvPr>
        </p:nvSpPr>
        <p:spPr>
          <a:xfrm>
            <a:off x="606679" y="237489"/>
            <a:ext cx="11084579" cy="3191511"/>
          </a:xfrm>
          <a:prstGeom prst="rect">
            <a:avLst/>
          </a:prstGeom>
        </p:spPr>
        <p:txBody>
          <a:bodyPr>
            <a:normAutofit fontScale="77500" lnSpcReduction="20000"/>
          </a:bodyPr>
          <a:lstStyle/>
          <a:p>
            <a:pPr marL="0" indent="0" algn="l">
              <a:lnSpc>
                <a:spcPct val="110000"/>
              </a:lnSpc>
              <a:spcBef>
                <a:spcPts val="600"/>
              </a:spcBef>
              <a:buNone/>
            </a:pPr>
            <a:r>
              <a:rPr lang="en-US" sz="3100" b="1" dirty="0">
                <a:solidFill>
                  <a:schemeClr val="accent1">
                    <a:lumMod val="75000"/>
                  </a:schemeClr>
                </a:solidFill>
                <a:latin typeface="Calibri (Body)"/>
              </a:rPr>
              <a:t>IMS Administration Tool ISPF LAB Exercise 3a </a:t>
            </a:r>
          </a:p>
          <a:p>
            <a:pPr marL="0" indent="0" algn="l">
              <a:lnSpc>
                <a:spcPct val="110000"/>
              </a:lnSpc>
              <a:spcBef>
                <a:spcPts val="600"/>
              </a:spcBef>
              <a:buNone/>
            </a:pPr>
            <a:r>
              <a:rPr lang="en-US" sz="2300" b="1" dirty="0">
                <a:latin typeface="Calibri (Body)"/>
              </a:rPr>
              <a:t>Key Feature:  IMS Catalog Database Space Analysis</a:t>
            </a:r>
          </a:p>
          <a:p>
            <a:pPr marL="0" indent="0">
              <a:lnSpc>
                <a:spcPct val="110000"/>
              </a:lnSpc>
              <a:spcBef>
                <a:spcPts val="600"/>
              </a:spcBef>
              <a:buNone/>
            </a:pPr>
            <a:r>
              <a:rPr lang="en-US" sz="2300" b="1" dirty="0">
                <a:latin typeface="Calibri (Body)"/>
              </a:rPr>
              <a:t>Description:  View DBD and PSB Detail and XREF – DBD/PSB Summary Report</a:t>
            </a:r>
          </a:p>
          <a:p>
            <a:pPr marL="0" indent="0">
              <a:lnSpc>
                <a:spcPct val="110000"/>
              </a:lnSpc>
              <a:spcBef>
                <a:spcPts val="600"/>
              </a:spcBef>
              <a:buNone/>
            </a:pPr>
            <a:r>
              <a:rPr lang="en-US" sz="2300" b="1" dirty="0">
                <a:latin typeface="Calibri (Body)"/>
              </a:rPr>
              <a:t>Instructions: </a:t>
            </a:r>
            <a:endParaRPr lang="en-US" sz="2300" dirty="0">
              <a:latin typeface="Calibri (Body)"/>
            </a:endParaRPr>
          </a:p>
          <a:p>
            <a:pPr marL="396875" indent="-284163">
              <a:lnSpc>
                <a:spcPct val="120000"/>
              </a:lnSpc>
              <a:spcBef>
                <a:spcPts val="200"/>
              </a:spcBef>
              <a:buAutoNum type="arabicPeriod"/>
            </a:pPr>
            <a:r>
              <a:rPr lang="en-US" sz="2300" dirty="0">
                <a:latin typeface="Calibri (Body)"/>
              </a:rPr>
              <a:t>Once you have received a job completion notification, check that the completion code is 0.</a:t>
            </a:r>
          </a:p>
          <a:p>
            <a:pPr marL="396875" indent="-284163">
              <a:lnSpc>
                <a:spcPct val="120000"/>
              </a:lnSpc>
              <a:spcBef>
                <a:spcPts val="200"/>
              </a:spcBef>
              <a:buAutoNum type="arabicPeriod"/>
            </a:pPr>
            <a:r>
              <a:rPr lang="en-US" sz="2300" dirty="0">
                <a:latin typeface="Calibri (Body)"/>
              </a:rPr>
              <a:t>Then, change the first option to “</a:t>
            </a:r>
            <a:r>
              <a:rPr lang="en-US" sz="2300" b="1" dirty="0">
                <a:highlight>
                  <a:srgbClr val="FFFF00"/>
                </a:highlight>
                <a:latin typeface="Calibri (Body)"/>
              </a:rPr>
              <a:t>N</a:t>
            </a:r>
            <a:r>
              <a:rPr lang="en-US" sz="2300" dirty="0">
                <a:latin typeface="Calibri (Body)"/>
              </a:rPr>
              <a:t>” and select View Report option         (Summary), and press Enter.</a:t>
            </a:r>
          </a:p>
          <a:p>
            <a:pPr marL="396875" indent="-284163">
              <a:lnSpc>
                <a:spcPct val="120000"/>
              </a:lnSpc>
              <a:spcBef>
                <a:spcPts val="200"/>
              </a:spcBef>
              <a:buAutoNum type="arabicPeriod"/>
            </a:pPr>
            <a:r>
              <a:rPr lang="en-US" sz="2300" dirty="0">
                <a:latin typeface="Calibri (Body)"/>
              </a:rPr>
              <a:t>Then, you see a high level information of DBDs and PSBs.  Scroll up/down (F7/F8) and also to the right/left (F10/F11) to see the entire report.  You see sections (1) </a:t>
            </a:r>
            <a:r>
              <a:rPr lang="en-US" sz="2300" b="1" dirty="0">
                <a:latin typeface="Calibri (Body)"/>
              </a:rPr>
              <a:t>All DBD and PSB Instances</a:t>
            </a:r>
            <a:r>
              <a:rPr lang="en-US" sz="2300" dirty="0">
                <a:latin typeface="Calibri (Body)"/>
              </a:rPr>
              <a:t>, (2) </a:t>
            </a:r>
            <a:r>
              <a:rPr lang="en-US" sz="2300" b="1" dirty="0">
                <a:latin typeface="Calibri (Body)"/>
              </a:rPr>
              <a:t>Obsolete DBD Instances</a:t>
            </a:r>
            <a:r>
              <a:rPr lang="en-US" sz="2300" dirty="0">
                <a:latin typeface="Calibri (Body)"/>
              </a:rPr>
              <a:t>, (3) </a:t>
            </a:r>
            <a:r>
              <a:rPr lang="en-US" sz="2300" b="1" dirty="0">
                <a:latin typeface="Calibri (Body)"/>
              </a:rPr>
              <a:t>DBDs not pointed to by PSB</a:t>
            </a:r>
            <a:r>
              <a:rPr lang="en-US" sz="2300" dirty="0">
                <a:latin typeface="Calibri (Body)"/>
              </a:rPr>
              <a:t>, (4) </a:t>
            </a:r>
            <a:r>
              <a:rPr lang="en-US" sz="2300" b="1" dirty="0">
                <a:latin typeface="Calibri (Body)"/>
              </a:rPr>
              <a:t>PSB Instance Information</a:t>
            </a:r>
            <a:r>
              <a:rPr lang="en-US" sz="2300" dirty="0">
                <a:latin typeface="Calibri (Body)"/>
              </a:rPr>
              <a:t>, and (5) </a:t>
            </a:r>
            <a:r>
              <a:rPr lang="en-US" sz="2300" b="1" dirty="0">
                <a:latin typeface="Calibri (Body)"/>
              </a:rPr>
              <a:t>Obsolete PSB Instances</a:t>
            </a:r>
            <a:r>
              <a:rPr lang="en-US" sz="2300" dirty="0">
                <a:latin typeface="Calibri (Body)"/>
              </a:rPr>
              <a:t>.</a:t>
            </a:r>
          </a:p>
          <a:p>
            <a:pPr marL="396875" indent="-284163">
              <a:lnSpc>
                <a:spcPct val="120000"/>
              </a:lnSpc>
              <a:spcBef>
                <a:spcPts val="200"/>
              </a:spcBef>
              <a:buAutoNum type="arabicPeriod"/>
            </a:pPr>
            <a:r>
              <a:rPr lang="en-US" sz="2300" dirty="0">
                <a:latin typeface="Calibri (Body)"/>
              </a:rPr>
              <a:t>Press PF3 to go back to the DBD/PSB Detail and XREF panel.</a:t>
            </a:r>
          </a:p>
          <a:p>
            <a:pPr marL="396875" indent="-284163">
              <a:lnSpc>
                <a:spcPct val="120000"/>
              </a:lnSpc>
              <a:spcBef>
                <a:spcPts val="200"/>
              </a:spcBef>
              <a:buAutoNum type="arabicPeriod"/>
            </a:pPr>
            <a:endParaRPr lang="en-US" sz="2300" dirty="0">
              <a:latin typeface="Calibri (Body)"/>
            </a:endParaRPr>
          </a:p>
        </p:txBody>
      </p:sp>
      <p:sp>
        <p:nvSpPr>
          <p:cNvPr id="2" name="Slide Number Placeholder 1">
            <a:extLst>
              <a:ext uri="{FF2B5EF4-FFF2-40B4-BE49-F238E27FC236}">
                <a16:creationId xmlns:a16="http://schemas.microsoft.com/office/drawing/2014/main" id="{6C2BF87A-FE85-E53F-4A2B-0155D68B869E}"/>
              </a:ext>
            </a:extLst>
          </p:cNvPr>
          <p:cNvSpPr>
            <a:spLocks noGrp="1"/>
          </p:cNvSpPr>
          <p:nvPr>
            <p:ph type="sldNum" sz="quarter" idx="12"/>
          </p:nvPr>
        </p:nvSpPr>
        <p:spPr/>
        <p:txBody>
          <a:bodyPr/>
          <a:lstStyle/>
          <a:p>
            <a:fld id="{1C788548-AC4B-4945-A4F1-BA86477A7FC8}" type="slidenum">
              <a:rPr lang="en-US" smtClean="0"/>
              <a:t>29</a:t>
            </a:fld>
            <a:endParaRPr lang="en-US"/>
          </a:p>
        </p:txBody>
      </p:sp>
      <p:pic>
        <p:nvPicPr>
          <p:cNvPr id="9" name="Picture 8">
            <a:extLst>
              <a:ext uri="{FF2B5EF4-FFF2-40B4-BE49-F238E27FC236}">
                <a16:creationId xmlns:a16="http://schemas.microsoft.com/office/drawing/2014/main" id="{D0960A84-9AC8-3AF0-DBFA-4A201E6D8887}"/>
              </a:ext>
            </a:extLst>
          </p:cNvPr>
          <p:cNvPicPr>
            <a:picLocks noChangeAspect="1"/>
          </p:cNvPicPr>
          <p:nvPr/>
        </p:nvPicPr>
        <p:blipFill>
          <a:blip r:embed="rId2"/>
          <a:stretch>
            <a:fillRect/>
          </a:stretch>
        </p:blipFill>
        <p:spPr>
          <a:xfrm>
            <a:off x="1062479" y="3398941"/>
            <a:ext cx="4915586" cy="3034136"/>
          </a:xfrm>
          <a:prstGeom prst="rect">
            <a:avLst/>
          </a:prstGeom>
          <a:effectLst>
            <a:glow rad="63500">
              <a:schemeClr val="accent3">
                <a:satMod val="175000"/>
                <a:alpha val="40000"/>
              </a:schemeClr>
            </a:glow>
          </a:effectLst>
        </p:spPr>
      </p:pic>
      <p:cxnSp>
        <p:nvCxnSpPr>
          <p:cNvPr id="11" name="Straight Arrow Connector 10">
            <a:extLst>
              <a:ext uri="{FF2B5EF4-FFF2-40B4-BE49-F238E27FC236}">
                <a16:creationId xmlns:a16="http://schemas.microsoft.com/office/drawing/2014/main" id="{2F0E370B-5173-98F0-811C-7375ECD4060E}"/>
              </a:ext>
            </a:extLst>
          </p:cNvPr>
          <p:cNvCxnSpPr>
            <a:cxnSpLocks/>
          </p:cNvCxnSpPr>
          <p:nvPr/>
        </p:nvCxnSpPr>
        <p:spPr>
          <a:xfrm>
            <a:off x="648600" y="5535435"/>
            <a:ext cx="354330"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75A61D12-7B0E-B531-8F1A-498148B04B61}"/>
              </a:ext>
            </a:extLst>
          </p:cNvPr>
          <p:cNvSpPr/>
          <p:nvPr/>
        </p:nvSpPr>
        <p:spPr>
          <a:xfrm>
            <a:off x="7350730" y="1915066"/>
            <a:ext cx="313860" cy="265067"/>
          </a:xfrm>
          <a:prstGeom prst="rect">
            <a:avLst/>
          </a:prstGeom>
          <a:solidFill>
            <a:schemeClr val="bg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1</a:t>
            </a:r>
            <a:endParaRPr lang="en-US" dirty="0">
              <a:solidFill>
                <a:schemeClr val="tx1"/>
              </a:solidFill>
            </a:endParaRPr>
          </a:p>
        </p:txBody>
      </p:sp>
      <p:sp>
        <p:nvSpPr>
          <p:cNvPr id="16" name="Rectangle 15">
            <a:extLst>
              <a:ext uri="{FF2B5EF4-FFF2-40B4-BE49-F238E27FC236}">
                <a16:creationId xmlns:a16="http://schemas.microsoft.com/office/drawing/2014/main" id="{62F42C5A-96D9-AD3C-2A97-6954C9A18A93}"/>
              </a:ext>
            </a:extLst>
          </p:cNvPr>
          <p:cNvSpPr/>
          <p:nvPr/>
        </p:nvSpPr>
        <p:spPr>
          <a:xfrm>
            <a:off x="5070089" y="4334107"/>
            <a:ext cx="208156" cy="178420"/>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17">
            <a:extLst>
              <a:ext uri="{FF2B5EF4-FFF2-40B4-BE49-F238E27FC236}">
                <a16:creationId xmlns:a16="http://schemas.microsoft.com/office/drawing/2014/main" id="{3D5F0590-DE18-A097-90A6-ED3F23D09BBD}"/>
              </a:ext>
            </a:extLst>
          </p:cNvPr>
          <p:cNvPicPr>
            <a:picLocks noChangeAspect="1"/>
          </p:cNvPicPr>
          <p:nvPr/>
        </p:nvPicPr>
        <p:blipFill>
          <a:blip r:embed="rId3"/>
          <a:stretch>
            <a:fillRect/>
          </a:stretch>
        </p:blipFill>
        <p:spPr>
          <a:xfrm>
            <a:off x="6213937" y="3425879"/>
            <a:ext cx="4920349" cy="3010320"/>
          </a:xfrm>
          <a:prstGeom prst="rect">
            <a:avLst/>
          </a:prstGeom>
          <a:effectLst>
            <a:glow rad="63500">
              <a:schemeClr val="accent3">
                <a:satMod val="175000"/>
                <a:alpha val="40000"/>
              </a:schemeClr>
            </a:glow>
          </a:effectLst>
        </p:spPr>
      </p:pic>
    </p:spTree>
    <p:extLst>
      <p:ext uri="{BB962C8B-B14F-4D97-AF65-F5344CB8AC3E}">
        <p14:creationId xmlns:p14="http://schemas.microsoft.com/office/powerpoint/2010/main" val="126056120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5DD04D75-5580-4918-ACD6-01E26F36A2CB}"/>
              </a:ext>
            </a:extLst>
          </p:cNvPr>
          <p:cNvSpPr>
            <a:spLocks noGrp="1"/>
          </p:cNvSpPr>
          <p:nvPr>
            <p:ph type="subTitle" idx="4294967295"/>
          </p:nvPr>
        </p:nvSpPr>
        <p:spPr>
          <a:xfrm>
            <a:off x="606679" y="237488"/>
            <a:ext cx="11257661" cy="3256207"/>
          </a:xfrm>
          <a:prstGeom prst="rect">
            <a:avLst/>
          </a:prstGeom>
        </p:spPr>
        <p:txBody>
          <a:bodyPr>
            <a:normAutofit fontScale="70000" lnSpcReduction="20000"/>
          </a:bodyPr>
          <a:lstStyle/>
          <a:p>
            <a:pPr marL="0" indent="0" algn="l">
              <a:buNone/>
            </a:pPr>
            <a:r>
              <a:rPr lang="en-US" sz="3400" b="1" dirty="0">
                <a:solidFill>
                  <a:schemeClr val="accent1">
                    <a:lumMod val="75000"/>
                  </a:schemeClr>
                </a:solidFill>
              </a:rPr>
              <a:t>IMS Administration Tool ISPF LAB Exercise 3a</a:t>
            </a:r>
            <a:r>
              <a:rPr lang="en-US" sz="3100" b="1" dirty="0">
                <a:solidFill>
                  <a:schemeClr val="accent1">
                    <a:lumMod val="75000"/>
                  </a:schemeClr>
                </a:solidFill>
              </a:rPr>
              <a:t> </a:t>
            </a:r>
          </a:p>
          <a:p>
            <a:pPr marL="0" indent="0" algn="l">
              <a:lnSpc>
                <a:spcPct val="120000"/>
              </a:lnSpc>
              <a:spcBef>
                <a:spcPts val="300"/>
              </a:spcBef>
              <a:buNone/>
            </a:pPr>
            <a:r>
              <a:rPr lang="en-US" sz="2600" b="1" dirty="0"/>
              <a:t>Key Feature:   IMS Catalog Database Space Analysis</a:t>
            </a:r>
          </a:p>
          <a:p>
            <a:pPr marL="0" indent="0" algn="l">
              <a:lnSpc>
                <a:spcPct val="120000"/>
              </a:lnSpc>
              <a:spcBef>
                <a:spcPts val="300"/>
              </a:spcBef>
              <a:buNone/>
            </a:pPr>
            <a:r>
              <a:rPr lang="en-US" sz="2600" b="1" dirty="0"/>
              <a:t>Description:   View DBD and PSB Detail and XREF – DBD Detail Report</a:t>
            </a:r>
          </a:p>
          <a:p>
            <a:pPr marL="0" indent="0">
              <a:lnSpc>
                <a:spcPct val="120000"/>
              </a:lnSpc>
              <a:spcBef>
                <a:spcPts val="300"/>
              </a:spcBef>
              <a:spcAft>
                <a:spcPts val="300"/>
              </a:spcAft>
              <a:buNone/>
            </a:pPr>
            <a:r>
              <a:rPr lang="en-US" sz="2600" b="1" dirty="0"/>
              <a:t>Instructions:</a:t>
            </a:r>
            <a:r>
              <a:rPr lang="en-US" sz="2600" dirty="0"/>
              <a:t>  You can see DBD and PSB Detail reports.  Here, we will see the DBD Detail report that</a:t>
            </a:r>
            <a:r>
              <a:rPr lang="en-US" altLang="ja-JP" sz="2600" dirty="0"/>
              <a:t> displays all DBD instances in the IMS catalog and  members in the IMS directory with information about them. You can check the consistency of DBDs in the IMS catalog and IMS directory.</a:t>
            </a:r>
            <a:endParaRPr lang="en-US" sz="2600" dirty="0"/>
          </a:p>
          <a:p>
            <a:pPr marL="396875" indent="-284163">
              <a:lnSpc>
                <a:spcPct val="120000"/>
              </a:lnSpc>
              <a:spcBef>
                <a:spcPts val="0"/>
              </a:spcBef>
              <a:buAutoNum type="arabicPeriod"/>
            </a:pPr>
            <a:r>
              <a:rPr lang="en-US" sz="2600" dirty="0"/>
              <a:t>Select Option        (DBD Detail) and press Enter.</a:t>
            </a:r>
          </a:p>
          <a:p>
            <a:pPr marL="396875" indent="-284163">
              <a:lnSpc>
                <a:spcPct val="120000"/>
              </a:lnSpc>
              <a:spcBef>
                <a:spcPts val="0"/>
              </a:spcBef>
              <a:buAutoNum type="arabicPeriod"/>
            </a:pPr>
            <a:r>
              <a:rPr lang="en-US" sz="2600" dirty="0"/>
              <a:t>Press F1 to see descriptions of report columns and how this report can be used to get more information of a DBD.</a:t>
            </a:r>
          </a:p>
          <a:p>
            <a:pPr marL="396875" indent="-284163">
              <a:lnSpc>
                <a:spcPct val="120000"/>
              </a:lnSpc>
              <a:spcBef>
                <a:spcPts val="0"/>
              </a:spcBef>
              <a:buAutoNum type="arabicPeriod"/>
            </a:pPr>
            <a:r>
              <a:rPr lang="en-US" sz="2600" dirty="0"/>
              <a:t>Scroll up/down (F7/F8) and also to the right/left (F10/F11) to see the entire report.</a:t>
            </a:r>
            <a:r>
              <a:rPr lang="ja-JP" altLang="en-US" sz="2600" dirty="0"/>
              <a:t> </a:t>
            </a:r>
            <a:endParaRPr lang="en-US" sz="2600" dirty="0"/>
          </a:p>
          <a:p>
            <a:pPr marL="396875" indent="-284163">
              <a:lnSpc>
                <a:spcPct val="120000"/>
              </a:lnSpc>
              <a:spcBef>
                <a:spcPts val="0"/>
              </a:spcBef>
              <a:buAutoNum type="arabicPeriod"/>
            </a:pPr>
            <a:r>
              <a:rPr lang="en-US" sz="2600" dirty="0"/>
              <a:t>Then, scroll up to the top of the report and move the mouse cursor to the DBD Name “</a:t>
            </a:r>
            <a:r>
              <a:rPr lang="en-US" sz="2600" dirty="0">
                <a:highlight>
                  <a:srgbClr val="FFFF00"/>
                </a:highlight>
              </a:rPr>
              <a:t>AUTODB</a:t>
            </a:r>
            <a:r>
              <a:rPr lang="en-US" sz="2600" dirty="0"/>
              <a:t>” and press PF4.</a:t>
            </a:r>
          </a:p>
        </p:txBody>
      </p:sp>
      <p:sp>
        <p:nvSpPr>
          <p:cNvPr id="6" name="Rectangle 5">
            <a:extLst>
              <a:ext uri="{FF2B5EF4-FFF2-40B4-BE49-F238E27FC236}">
                <a16:creationId xmlns:a16="http://schemas.microsoft.com/office/drawing/2014/main" id="{4648A1D2-D817-422B-8F78-34353D7D6409}"/>
              </a:ext>
            </a:extLst>
          </p:cNvPr>
          <p:cNvSpPr/>
          <p:nvPr/>
        </p:nvSpPr>
        <p:spPr>
          <a:xfrm>
            <a:off x="2405574" y="2059259"/>
            <a:ext cx="296318" cy="274292"/>
          </a:xfrm>
          <a:prstGeom prst="rect">
            <a:avLst/>
          </a:prstGeom>
          <a:solidFill>
            <a:schemeClr val="bg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2</a:t>
            </a:r>
            <a:endParaRPr lang="en-US" dirty="0">
              <a:solidFill>
                <a:schemeClr val="tx1"/>
              </a:solidFill>
            </a:endParaRPr>
          </a:p>
        </p:txBody>
      </p:sp>
      <p:cxnSp>
        <p:nvCxnSpPr>
          <p:cNvPr id="10" name="Straight Arrow Connector 9">
            <a:extLst>
              <a:ext uri="{FF2B5EF4-FFF2-40B4-BE49-F238E27FC236}">
                <a16:creationId xmlns:a16="http://schemas.microsoft.com/office/drawing/2014/main" id="{5885BEC6-F990-4B8C-B6F1-EEB4C7A1BE0F}"/>
              </a:ext>
            </a:extLst>
          </p:cNvPr>
          <p:cNvCxnSpPr>
            <a:cxnSpLocks/>
          </p:cNvCxnSpPr>
          <p:nvPr/>
        </p:nvCxnSpPr>
        <p:spPr>
          <a:xfrm>
            <a:off x="477608" y="5670846"/>
            <a:ext cx="354330"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2" name="Slide Number Placeholder 1">
            <a:extLst>
              <a:ext uri="{FF2B5EF4-FFF2-40B4-BE49-F238E27FC236}">
                <a16:creationId xmlns:a16="http://schemas.microsoft.com/office/drawing/2014/main" id="{DD6CFDC7-C499-F247-5774-5D645BC03028}"/>
              </a:ext>
            </a:extLst>
          </p:cNvPr>
          <p:cNvSpPr>
            <a:spLocks noGrp="1"/>
          </p:cNvSpPr>
          <p:nvPr>
            <p:ph type="sldNum" sz="quarter" idx="12"/>
          </p:nvPr>
        </p:nvSpPr>
        <p:spPr/>
        <p:txBody>
          <a:bodyPr/>
          <a:lstStyle/>
          <a:p>
            <a:fld id="{1C788548-AC4B-4945-A4F1-BA86477A7FC8}" type="slidenum">
              <a:rPr lang="en-US" smtClean="0"/>
              <a:t>30</a:t>
            </a:fld>
            <a:endParaRPr lang="en-US"/>
          </a:p>
        </p:txBody>
      </p:sp>
      <p:pic>
        <p:nvPicPr>
          <p:cNvPr id="8" name="Picture 7">
            <a:extLst>
              <a:ext uri="{FF2B5EF4-FFF2-40B4-BE49-F238E27FC236}">
                <a16:creationId xmlns:a16="http://schemas.microsoft.com/office/drawing/2014/main" id="{240C9516-59F2-1245-CF6C-66A4BDC4B5BA}"/>
              </a:ext>
            </a:extLst>
          </p:cNvPr>
          <p:cNvPicPr>
            <a:picLocks noChangeAspect="1"/>
          </p:cNvPicPr>
          <p:nvPr/>
        </p:nvPicPr>
        <p:blipFill>
          <a:blip r:embed="rId2"/>
          <a:stretch>
            <a:fillRect/>
          </a:stretch>
        </p:blipFill>
        <p:spPr>
          <a:xfrm>
            <a:off x="866442" y="3483135"/>
            <a:ext cx="5013898" cy="3080243"/>
          </a:xfrm>
          <a:prstGeom prst="rect">
            <a:avLst/>
          </a:prstGeom>
          <a:effectLst>
            <a:glow rad="63500">
              <a:schemeClr val="accent3">
                <a:satMod val="175000"/>
                <a:alpha val="40000"/>
              </a:schemeClr>
            </a:glow>
          </a:effectLst>
        </p:spPr>
      </p:pic>
      <p:pic>
        <p:nvPicPr>
          <p:cNvPr id="15" name="Picture 14">
            <a:extLst>
              <a:ext uri="{FF2B5EF4-FFF2-40B4-BE49-F238E27FC236}">
                <a16:creationId xmlns:a16="http://schemas.microsoft.com/office/drawing/2014/main" id="{12C2F65A-5AFD-4E5C-4DB7-9405C4FFB34A}"/>
              </a:ext>
            </a:extLst>
          </p:cNvPr>
          <p:cNvPicPr>
            <a:picLocks noChangeAspect="1"/>
          </p:cNvPicPr>
          <p:nvPr/>
        </p:nvPicPr>
        <p:blipFill>
          <a:blip r:embed="rId3"/>
          <a:stretch>
            <a:fillRect/>
          </a:stretch>
        </p:blipFill>
        <p:spPr>
          <a:xfrm>
            <a:off x="5816688" y="3274495"/>
            <a:ext cx="5117163" cy="3160455"/>
          </a:xfrm>
          <a:prstGeom prst="rect">
            <a:avLst/>
          </a:prstGeom>
          <a:effectLst>
            <a:glow rad="63500">
              <a:schemeClr val="accent3">
                <a:satMod val="175000"/>
                <a:alpha val="40000"/>
              </a:schemeClr>
            </a:glow>
          </a:effectLst>
        </p:spPr>
      </p:pic>
      <p:sp>
        <p:nvSpPr>
          <p:cNvPr id="16" name="Rectangle 15">
            <a:extLst>
              <a:ext uri="{FF2B5EF4-FFF2-40B4-BE49-F238E27FC236}">
                <a16:creationId xmlns:a16="http://schemas.microsoft.com/office/drawing/2014/main" id="{5B031531-7966-E315-7D17-2A71DD9849D8}"/>
              </a:ext>
            </a:extLst>
          </p:cNvPr>
          <p:cNvSpPr/>
          <p:nvPr/>
        </p:nvSpPr>
        <p:spPr>
          <a:xfrm>
            <a:off x="5778080" y="6140604"/>
            <a:ext cx="429432" cy="141249"/>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6077760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D5510A-DF79-388C-5F02-0761BB7B9BAE}"/>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49F58B6D-89EF-52E9-862B-57617CF71A36}"/>
              </a:ext>
            </a:extLst>
          </p:cNvPr>
          <p:cNvSpPr>
            <a:spLocks noGrp="1"/>
          </p:cNvSpPr>
          <p:nvPr>
            <p:ph type="subTitle" idx="4294967295"/>
          </p:nvPr>
        </p:nvSpPr>
        <p:spPr>
          <a:xfrm>
            <a:off x="606679" y="237489"/>
            <a:ext cx="11257661" cy="2512643"/>
          </a:xfrm>
          <a:prstGeom prst="rect">
            <a:avLst/>
          </a:prstGeom>
        </p:spPr>
        <p:txBody>
          <a:bodyPr>
            <a:normAutofit fontScale="70000" lnSpcReduction="20000"/>
          </a:bodyPr>
          <a:lstStyle/>
          <a:p>
            <a:pPr marL="0" indent="0" algn="l">
              <a:buNone/>
            </a:pPr>
            <a:r>
              <a:rPr lang="en-US" sz="3400" b="1" dirty="0">
                <a:solidFill>
                  <a:schemeClr val="accent1">
                    <a:lumMod val="75000"/>
                  </a:schemeClr>
                </a:solidFill>
              </a:rPr>
              <a:t>IMS Administration Tool ISPF LAB Exercise 3a</a:t>
            </a:r>
            <a:r>
              <a:rPr lang="en-US" sz="3100" b="1" dirty="0">
                <a:solidFill>
                  <a:schemeClr val="accent1">
                    <a:lumMod val="75000"/>
                  </a:schemeClr>
                </a:solidFill>
              </a:rPr>
              <a:t> </a:t>
            </a:r>
          </a:p>
          <a:p>
            <a:pPr marL="0" indent="0" algn="l">
              <a:lnSpc>
                <a:spcPct val="120000"/>
              </a:lnSpc>
              <a:spcBef>
                <a:spcPts val="300"/>
              </a:spcBef>
              <a:buNone/>
            </a:pPr>
            <a:r>
              <a:rPr lang="en-US" sz="2600" b="1" dirty="0"/>
              <a:t>Key Feature:    IMS Catalog Database Space Analysis</a:t>
            </a:r>
          </a:p>
          <a:p>
            <a:pPr marL="0" indent="0" algn="l">
              <a:lnSpc>
                <a:spcPct val="120000"/>
              </a:lnSpc>
              <a:spcBef>
                <a:spcPts val="300"/>
              </a:spcBef>
              <a:buNone/>
            </a:pPr>
            <a:r>
              <a:rPr lang="en-US" sz="2600" b="1" dirty="0"/>
              <a:t>Description:   View DBD and PSB Detail and XREF – DBD Detail Report Actions – View DBD statements</a:t>
            </a:r>
          </a:p>
          <a:p>
            <a:pPr marL="0" indent="0">
              <a:lnSpc>
                <a:spcPct val="120000"/>
              </a:lnSpc>
              <a:spcBef>
                <a:spcPts val="300"/>
              </a:spcBef>
              <a:spcAft>
                <a:spcPts val="300"/>
              </a:spcAft>
              <a:buNone/>
            </a:pPr>
            <a:r>
              <a:rPr lang="en-US" sz="2600" b="1" dirty="0"/>
              <a:t>Instructions:</a:t>
            </a:r>
            <a:r>
              <a:rPr lang="en-US" sz="2600" dirty="0"/>
              <a:t>  From the sub menu displayed, you can take three actions.</a:t>
            </a:r>
          </a:p>
          <a:p>
            <a:pPr marL="396875" indent="-284163">
              <a:lnSpc>
                <a:spcPct val="120000"/>
              </a:lnSpc>
              <a:spcBef>
                <a:spcPts val="0"/>
              </a:spcBef>
              <a:buAutoNum type="arabicPeriod"/>
            </a:pPr>
            <a:r>
              <a:rPr lang="en-US" sz="2600" dirty="0"/>
              <a:t>Select Option        (View DBD statements) and press Enter.</a:t>
            </a:r>
          </a:p>
          <a:p>
            <a:pPr marL="396875" indent="-284163">
              <a:lnSpc>
                <a:spcPct val="120000"/>
              </a:lnSpc>
              <a:spcBef>
                <a:spcPts val="0"/>
              </a:spcBef>
              <a:buAutoNum type="arabicPeriod"/>
            </a:pPr>
            <a:r>
              <a:rPr lang="en-US" sz="2600" dirty="0"/>
              <a:t>The DBD statements are generated from the selected DBD instance in the IMS </a:t>
            </a:r>
            <a:r>
              <a:rPr lang="en-US" altLang="ja-JP" sz="2600" dirty="0"/>
              <a:t>catalog</a:t>
            </a:r>
            <a:r>
              <a:rPr lang="en-US" sz="2600" dirty="0"/>
              <a:t>.</a:t>
            </a:r>
          </a:p>
          <a:p>
            <a:pPr marL="396875" indent="-284163">
              <a:lnSpc>
                <a:spcPct val="120000"/>
              </a:lnSpc>
              <a:spcBef>
                <a:spcPts val="0"/>
              </a:spcBef>
              <a:buAutoNum type="arabicPeriod"/>
            </a:pPr>
            <a:r>
              <a:rPr lang="en-US" sz="2600" dirty="0"/>
              <a:t>Press PF3 to go back to the report. The cursor is on the DBD that you selected before.</a:t>
            </a:r>
          </a:p>
          <a:p>
            <a:pPr marL="396875" indent="-284163">
              <a:lnSpc>
                <a:spcPct val="120000"/>
              </a:lnSpc>
              <a:spcBef>
                <a:spcPts val="0"/>
              </a:spcBef>
              <a:buAutoNum type="arabicPeriod"/>
            </a:pPr>
            <a:r>
              <a:rPr lang="en-US" sz="2600" dirty="0"/>
              <a:t>Press PF4 on the same DBD again.</a:t>
            </a:r>
          </a:p>
        </p:txBody>
      </p:sp>
      <p:sp>
        <p:nvSpPr>
          <p:cNvPr id="6" name="Rectangle 5">
            <a:extLst>
              <a:ext uri="{FF2B5EF4-FFF2-40B4-BE49-F238E27FC236}">
                <a16:creationId xmlns:a16="http://schemas.microsoft.com/office/drawing/2014/main" id="{288823B3-3CF1-631A-E5EF-C292DE24F7F3}"/>
              </a:ext>
            </a:extLst>
          </p:cNvPr>
          <p:cNvSpPr/>
          <p:nvPr/>
        </p:nvSpPr>
        <p:spPr>
          <a:xfrm>
            <a:off x="2413008" y="1501698"/>
            <a:ext cx="296318" cy="274292"/>
          </a:xfrm>
          <a:prstGeom prst="rect">
            <a:avLst/>
          </a:prstGeom>
          <a:solidFill>
            <a:schemeClr val="bg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1</a:t>
            </a:r>
            <a:endParaRPr lang="en-US" dirty="0">
              <a:solidFill>
                <a:schemeClr val="tx1"/>
              </a:solidFill>
            </a:endParaRPr>
          </a:p>
        </p:txBody>
      </p:sp>
      <p:sp>
        <p:nvSpPr>
          <p:cNvPr id="2" name="Slide Number Placeholder 1">
            <a:extLst>
              <a:ext uri="{FF2B5EF4-FFF2-40B4-BE49-F238E27FC236}">
                <a16:creationId xmlns:a16="http://schemas.microsoft.com/office/drawing/2014/main" id="{F3C9B83C-25E0-B292-E31F-77ADE49C452C}"/>
              </a:ext>
            </a:extLst>
          </p:cNvPr>
          <p:cNvSpPr>
            <a:spLocks noGrp="1"/>
          </p:cNvSpPr>
          <p:nvPr>
            <p:ph type="sldNum" sz="quarter" idx="12"/>
          </p:nvPr>
        </p:nvSpPr>
        <p:spPr/>
        <p:txBody>
          <a:bodyPr/>
          <a:lstStyle/>
          <a:p>
            <a:fld id="{1C788548-AC4B-4945-A4F1-BA86477A7FC8}" type="slidenum">
              <a:rPr lang="en-US" smtClean="0"/>
              <a:t>31</a:t>
            </a:fld>
            <a:endParaRPr lang="en-US"/>
          </a:p>
        </p:txBody>
      </p:sp>
      <p:pic>
        <p:nvPicPr>
          <p:cNvPr id="9" name="Picture 8">
            <a:extLst>
              <a:ext uri="{FF2B5EF4-FFF2-40B4-BE49-F238E27FC236}">
                <a16:creationId xmlns:a16="http://schemas.microsoft.com/office/drawing/2014/main" id="{03E38633-36B2-540B-FE32-45BE24DC51D5}"/>
              </a:ext>
            </a:extLst>
          </p:cNvPr>
          <p:cNvPicPr>
            <a:picLocks noChangeAspect="1"/>
          </p:cNvPicPr>
          <p:nvPr/>
        </p:nvPicPr>
        <p:blipFill>
          <a:blip r:embed="rId2"/>
          <a:stretch>
            <a:fillRect/>
          </a:stretch>
        </p:blipFill>
        <p:spPr>
          <a:xfrm>
            <a:off x="721432" y="3384560"/>
            <a:ext cx="5132024" cy="3135687"/>
          </a:xfrm>
          <a:prstGeom prst="rect">
            <a:avLst/>
          </a:prstGeom>
          <a:effectLst>
            <a:glow rad="63500">
              <a:schemeClr val="accent3">
                <a:satMod val="175000"/>
                <a:alpha val="40000"/>
              </a:schemeClr>
            </a:glow>
          </a:effectLst>
        </p:spPr>
      </p:pic>
      <p:pic>
        <p:nvPicPr>
          <p:cNvPr id="5" name="Picture 4">
            <a:extLst>
              <a:ext uri="{FF2B5EF4-FFF2-40B4-BE49-F238E27FC236}">
                <a16:creationId xmlns:a16="http://schemas.microsoft.com/office/drawing/2014/main" id="{058DC9A9-86FA-2BE8-0772-28C0E31CDADA}"/>
              </a:ext>
            </a:extLst>
          </p:cNvPr>
          <p:cNvPicPr>
            <a:picLocks noChangeAspect="1"/>
          </p:cNvPicPr>
          <p:nvPr/>
        </p:nvPicPr>
        <p:blipFill>
          <a:blip r:embed="rId3"/>
          <a:stretch>
            <a:fillRect/>
          </a:stretch>
        </p:blipFill>
        <p:spPr>
          <a:xfrm>
            <a:off x="5565062" y="2676059"/>
            <a:ext cx="6020259" cy="3684213"/>
          </a:xfrm>
          <a:prstGeom prst="rect">
            <a:avLst/>
          </a:prstGeom>
          <a:effectLst>
            <a:glow rad="63500">
              <a:schemeClr val="accent3">
                <a:satMod val="175000"/>
                <a:alpha val="40000"/>
              </a:schemeClr>
            </a:glow>
          </a:effectLst>
        </p:spPr>
      </p:pic>
      <p:cxnSp>
        <p:nvCxnSpPr>
          <p:cNvPr id="11" name="Straight Arrow Connector 10">
            <a:extLst>
              <a:ext uri="{FF2B5EF4-FFF2-40B4-BE49-F238E27FC236}">
                <a16:creationId xmlns:a16="http://schemas.microsoft.com/office/drawing/2014/main" id="{64A18A15-BCF9-898E-81B2-6601A76A9886}"/>
              </a:ext>
            </a:extLst>
          </p:cNvPr>
          <p:cNvCxnSpPr>
            <a:cxnSpLocks/>
          </p:cNvCxnSpPr>
          <p:nvPr/>
        </p:nvCxnSpPr>
        <p:spPr>
          <a:xfrm>
            <a:off x="1279866" y="4445890"/>
            <a:ext cx="354330"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5746742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6CA902-F73B-0B48-73D1-41B1B24EBCB1}"/>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969E8CD1-E460-59A7-2CE8-B95E0C32537E}"/>
              </a:ext>
            </a:extLst>
          </p:cNvPr>
          <p:cNvPicPr>
            <a:picLocks noChangeAspect="1"/>
          </p:cNvPicPr>
          <p:nvPr/>
        </p:nvPicPr>
        <p:blipFill>
          <a:blip r:embed="rId2"/>
          <a:stretch>
            <a:fillRect/>
          </a:stretch>
        </p:blipFill>
        <p:spPr>
          <a:xfrm>
            <a:off x="273389" y="4058112"/>
            <a:ext cx="4145096" cy="2548674"/>
          </a:xfrm>
          <a:prstGeom prst="rect">
            <a:avLst/>
          </a:prstGeom>
          <a:effectLst>
            <a:glow rad="63500">
              <a:schemeClr val="accent3">
                <a:satMod val="175000"/>
                <a:alpha val="40000"/>
              </a:schemeClr>
            </a:glow>
          </a:effectLst>
        </p:spPr>
      </p:pic>
      <p:sp>
        <p:nvSpPr>
          <p:cNvPr id="3" name="Subtitle 2">
            <a:extLst>
              <a:ext uri="{FF2B5EF4-FFF2-40B4-BE49-F238E27FC236}">
                <a16:creationId xmlns:a16="http://schemas.microsoft.com/office/drawing/2014/main" id="{6086FB84-B17C-7B42-3804-AAE302E83D04}"/>
              </a:ext>
            </a:extLst>
          </p:cNvPr>
          <p:cNvSpPr>
            <a:spLocks noGrp="1"/>
          </p:cNvSpPr>
          <p:nvPr>
            <p:ph type="subTitle" idx="4294967295"/>
          </p:nvPr>
        </p:nvSpPr>
        <p:spPr>
          <a:xfrm>
            <a:off x="606679" y="237488"/>
            <a:ext cx="11257661" cy="3026127"/>
          </a:xfrm>
          <a:prstGeom prst="rect">
            <a:avLst/>
          </a:prstGeom>
        </p:spPr>
        <p:txBody>
          <a:bodyPr>
            <a:normAutofit fontScale="70000" lnSpcReduction="20000"/>
          </a:bodyPr>
          <a:lstStyle/>
          <a:p>
            <a:pPr marL="0" indent="0" algn="l">
              <a:buNone/>
            </a:pPr>
            <a:r>
              <a:rPr lang="en-US" sz="3400" b="1" dirty="0">
                <a:solidFill>
                  <a:schemeClr val="accent1">
                    <a:lumMod val="75000"/>
                  </a:schemeClr>
                </a:solidFill>
              </a:rPr>
              <a:t>IMS Administration Tool ISPF LAB Exercise 3a</a:t>
            </a:r>
            <a:r>
              <a:rPr lang="en-US" sz="3100" b="1" dirty="0">
                <a:solidFill>
                  <a:schemeClr val="accent1">
                    <a:lumMod val="75000"/>
                  </a:schemeClr>
                </a:solidFill>
              </a:rPr>
              <a:t> </a:t>
            </a:r>
          </a:p>
          <a:p>
            <a:pPr marL="0" indent="0" algn="l">
              <a:lnSpc>
                <a:spcPct val="120000"/>
              </a:lnSpc>
              <a:spcBef>
                <a:spcPts val="300"/>
              </a:spcBef>
              <a:buNone/>
            </a:pPr>
            <a:r>
              <a:rPr lang="en-US" sz="2600" b="1" dirty="0"/>
              <a:t>Key Feature:    IMS Catalog Database Space Analysis</a:t>
            </a:r>
          </a:p>
          <a:p>
            <a:pPr marL="0" indent="0" algn="l">
              <a:lnSpc>
                <a:spcPct val="120000"/>
              </a:lnSpc>
              <a:spcBef>
                <a:spcPts val="300"/>
              </a:spcBef>
              <a:buNone/>
            </a:pPr>
            <a:r>
              <a:rPr lang="en-US" sz="2600" b="1" dirty="0"/>
              <a:t>Description:   View DBD and PSB Detail and XREF – DBD Detail Report Actions – XREF DBD from PSB</a:t>
            </a:r>
          </a:p>
          <a:p>
            <a:pPr marL="0" indent="0">
              <a:lnSpc>
                <a:spcPct val="120000"/>
              </a:lnSpc>
              <a:spcBef>
                <a:spcPts val="300"/>
              </a:spcBef>
              <a:spcAft>
                <a:spcPts val="300"/>
              </a:spcAft>
              <a:buNone/>
            </a:pPr>
            <a:r>
              <a:rPr lang="en-US" sz="2600" b="1" dirty="0"/>
              <a:t>Instructions:</a:t>
            </a:r>
            <a:r>
              <a:rPr lang="en-US" sz="2600" dirty="0"/>
              <a:t>  From the sub menu displayed, select Option        (XREF DBD from PSB) and press Enter.</a:t>
            </a:r>
          </a:p>
          <a:p>
            <a:pPr marL="396875" indent="-284163">
              <a:lnSpc>
                <a:spcPct val="120000"/>
              </a:lnSpc>
              <a:spcBef>
                <a:spcPts val="0"/>
              </a:spcBef>
              <a:buAutoNum type="arabicPeriod"/>
            </a:pPr>
            <a:r>
              <a:rPr lang="en-US" sz="2600" dirty="0"/>
              <a:t>Then, the "DBDs Referred to by PSBs (IMS Catalog)“ report is opened and the cursor is located to the DBD you selected.</a:t>
            </a:r>
          </a:p>
          <a:p>
            <a:pPr marL="396875" indent="-284163">
              <a:lnSpc>
                <a:spcPct val="120000"/>
              </a:lnSpc>
              <a:spcBef>
                <a:spcPts val="0"/>
              </a:spcBef>
              <a:buAutoNum type="arabicPeriod"/>
            </a:pPr>
            <a:r>
              <a:rPr lang="en-US" sz="2600" dirty="0"/>
              <a:t>Press PF11 to scroll right to see a list of PSBs that refer to the selected DBD.  Note: The indicator “(x)” displayed on the right of a PSB name means that the DBD is referred to by the PSB indirectly. </a:t>
            </a:r>
          </a:p>
          <a:p>
            <a:pPr marL="396875" indent="-284163">
              <a:lnSpc>
                <a:spcPct val="120000"/>
              </a:lnSpc>
              <a:spcBef>
                <a:spcPts val="0"/>
              </a:spcBef>
              <a:buAutoNum type="arabicPeriod"/>
            </a:pPr>
            <a:r>
              <a:rPr lang="en-US" sz="2600" dirty="0"/>
              <a:t>Press PF3 to go back to the report. The cursor is on the DBD that you selected before.</a:t>
            </a:r>
          </a:p>
          <a:p>
            <a:pPr marL="396875" indent="-284163">
              <a:lnSpc>
                <a:spcPct val="120000"/>
              </a:lnSpc>
              <a:spcBef>
                <a:spcPts val="0"/>
              </a:spcBef>
              <a:buAutoNum type="arabicPeriod"/>
            </a:pPr>
            <a:r>
              <a:rPr lang="en-US" sz="2600" dirty="0"/>
              <a:t>Press PF4 on the same DBD again.</a:t>
            </a:r>
          </a:p>
          <a:p>
            <a:pPr marL="396875" indent="-284163">
              <a:lnSpc>
                <a:spcPct val="120000"/>
              </a:lnSpc>
              <a:spcBef>
                <a:spcPts val="0"/>
              </a:spcBef>
              <a:buAutoNum type="arabicPeriod"/>
            </a:pPr>
            <a:endParaRPr lang="en-US" sz="2600" dirty="0"/>
          </a:p>
        </p:txBody>
      </p:sp>
      <p:sp>
        <p:nvSpPr>
          <p:cNvPr id="6" name="Rectangle 5">
            <a:extLst>
              <a:ext uri="{FF2B5EF4-FFF2-40B4-BE49-F238E27FC236}">
                <a16:creationId xmlns:a16="http://schemas.microsoft.com/office/drawing/2014/main" id="{27B871FE-3131-6056-CBBC-91536F42AC59}"/>
              </a:ext>
            </a:extLst>
          </p:cNvPr>
          <p:cNvSpPr/>
          <p:nvPr/>
        </p:nvSpPr>
        <p:spPr>
          <a:xfrm>
            <a:off x="6148390" y="1182520"/>
            <a:ext cx="296318" cy="274292"/>
          </a:xfrm>
          <a:prstGeom prst="rect">
            <a:avLst/>
          </a:prstGeom>
          <a:solidFill>
            <a:schemeClr val="bg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2</a:t>
            </a:r>
            <a:endParaRPr lang="en-US" dirty="0">
              <a:solidFill>
                <a:schemeClr val="tx1"/>
              </a:solidFill>
            </a:endParaRPr>
          </a:p>
        </p:txBody>
      </p:sp>
      <p:sp>
        <p:nvSpPr>
          <p:cNvPr id="2" name="Slide Number Placeholder 1">
            <a:extLst>
              <a:ext uri="{FF2B5EF4-FFF2-40B4-BE49-F238E27FC236}">
                <a16:creationId xmlns:a16="http://schemas.microsoft.com/office/drawing/2014/main" id="{17A70CD5-91EE-92EB-656B-E2609923FF42}"/>
              </a:ext>
            </a:extLst>
          </p:cNvPr>
          <p:cNvSpPr>
            <a:spLocks noGrp="1"/>
          </p:cNvSpPr>
          <p:nvPr>
            <p:ph type="sldNum" sz="quarter" idx="12"/>
          </p:nvPr>
        </p:nvSpPr>
        <p:spPr/>
        <p:txBody>
          <a:bodyPr/>
          <a:lstStyle/>
          <a:p>
            <a:fld id="{1C788548-AC4B-4945-A4F1-BA86477A7FC8}" type="slidenum">
              <a:rPr lang="en-US" smtClean="0"/>
              <a:t>32</a:t>
            </a:fld>
            <a:endParaRPr lang="en-US"/>
          </a:p>
        </p:txBody>
      </p:sp>
      <p:cxnSp>
        <p:nvCxnSpPr>
          <p:cNvPr id="11" name="Straight Arrow Connector 10">
            <a:extLst>
              <a:ext uri="{FF2B5EF4-FFF2-40B4-BE49-F238E27FC236}">
                <a16:creationId xmlns:a16="http://schemas.microsoft.com/office/drawing/2014/main" id="{0EEDE74A-FE60-18DE-F0DD-98D369DFB68A}"/>
              </a:ext>
            </a:extLst>
          </p:cNvPr>
          <p:cNvCxnSpPr>
            <a:cxnSpLocks/>
          </p:cNvCxnSpPr>
          <p:nvPr/>
        </p:nvCxnSpPr>
        <p:spPr>
          <a:xfrm>
            <a:off x="676020" y="4911714"/>
            <a:ext cx="354330"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pic>
        <p:nvPicPr>
          <p:cNvPr id="10" name="Picture 9">
            <a:extLst>
              <a:ext uri="{FF2B5EF4-FFF2-40B4-BE49-F238E27FC236}">
                <a16:creationId xmlns:a16="http://schemas.microsoft.com/office/drawing/2014/main" id="{CB5813AF-FED7-C1B2-B0E6-9945C1C5CFD9}"/>
              </a:ext>
            </a:extLst>
          </p:cNvPr>
          <p:cNvPicPr>
            <a:picLocks noChangeAspect="1"/>
          </p:cNvPicPr>
          <p:nvPr/>
        </p:nvPicPr>
        <p:blipFill>
          <a:blip r:embed="rId3"/>
          <a:stretch>
            <a:fillRect/>
          </a:stretch>
        </p:blipFill>
        <p:spPr>
          <a:xfrm>
            <a:off x="2424664" y="3346454"/>
            <a:ext cx="5141932" cy="3140640"/>
          </a:xfrm>
          <a:prstGeom prst="rect">
            <a:avLst/>
          </a:prstGeom>
          <a:effectLst>
            <a:glow rad="63500">
              <a:schemeClr val="accent3">
                <a:satMod val="175000"/>
                <a:alpha val="40000"/>
              </a:schemeClr>
            </a:glow>
          </a:effectLst>
        </p:spPr>
      </p:pic>
      <p:sp>
        <p:nvSpPr>
          <p:cNvPr id="15" name="Rectangle 14">
            <a:extLst>
              <a:ext uri="{FF2B5EF4-FFF2-40B4-BE49-F238E27FC236}">
                <a16:creationId xmlns:a16="http://schemas.microsoft.com/office/drawing/2014/main" id="{1C3D4740-1CA8-A1A9-A378-A786036FDC3A}"/>
              </a:ext>
            </a:extLst>
          </p:cNvPr>
          <p:cNvSpPr/>
          <p:nvPr/>
        </p:nvSpPr>
        <p:spPr>
          <a:xfrm>
            <a:off x="2511279" y="5024922"/>
            <a:ext cx="4225951" cy="211309"/>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F0965E31-9825-7D3F-A13D-7CF29E454EB1}"/>
              </a:ext>
            </a:extLst>
          </p:cNvPr>
          <p:cNvPicPr>
            <a:picLocks noChangeAspect="1"/>
          </p:cNvPicPr>
          <p:nvPr/>
        </p:nvPicPr>
        <p:blipFill>
          <a:blip r:embed="rId4"/>
          <a:stretch>
            <a:fillRect/>
          </a:stretch>
        </p:blipFill>
        <p:spPr>
          <a:xfrm>
            <a:off x="6798990" y="3156430"/>
            <a:ext cx="5122117" cy="3135687"/>
          </a:xfrm>
          <a:prstGeom prst="rect">
            <a:avLst/>
          </a:prstGeom>
          <a:effectLst>
            <a:glow rad="63500">
              <a:schemeClr val="accent3">
                <a:satMod val="175000"/>
                <a:alpha val="40000"/>
              </a:schemeClr>
            </a:glow>
          </a:effectLst>
        </p:spPr>
      </p:pic>
      <p:sp>
        <p:nvSpPr>
          <p:cNvPr id="14" name="Rectangle 13">
            <a:extLst>
              <a:ext uri="{FF2B5EF4-FFF2-40B4-BE49-F238E27FC236}">
                <a16:creationId xmlns:a16="http://schemas.microsoft.com/office/drawing/2014/main" id="{EFA8DFDB-28C1-4F11-6F81-C6D7C5373EB4}"/>
              </a:ext>
            </a:extLst>
          </p:cNvPr>
          <p:cNvSpPr/>
          <p:nvPr/>
        </p:nvSpPr>
        <p:spPr>
          <a:xfrm>
            <a:off x="8667939" y="5562630"/>
            <a:ext cx="2511896" cy="165303"/>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8736861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FE6467-C5D2-AB5C-1799-9D43FDE75331}"/>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9035111-226E-D802-4186-E86100F95ADD}"/>
              </a:ext>
            </a:extLst>
          </p:cNvPr>
          <p:cNvPicPr>
            <a:picLocks noChangeAspect="1"/>
          </p:cNvPicPr>
          <p:nvPr/>
        </p:nvPicPr>
        <p:blipFill>
          <a:blip r:embed="rId2"/>
          <a:stretch>
            <a:fillRect/>
          </a:stretch>
        </p:blipFill>
        <p:spPr>
          <a:xfrm>
            <a:off x="501770" y="3523897"/>
            <a:ext cx="4522339" cy="2787023"/>
          </a:xfrm>
          <a:prstGeom prst="rect">
            <a:avLst/>
          </a:prstGeom>
          <a:effectLst>
            <a:glow rad="63500">
              <a:schemeClr val="accent3">
                <a:satMod val="175000"/>
                <a:alpha val="40000"/>
              </a:schemeClr>
            </a:glow>
          </a:effectLst>
        </p:spPr>
      </p:pic>
      <p:sp>
        <p:nvSpPr>
          <p:cNvPr id="3" name="Subtitle 2">
            <a:extLst>
              <a:ext uri="{FF2B5EF4-FFF2-40B4-BE49-F238E27FC236}">
                <a16:creationId xmlns:a16="http://schemas.microsoft.com/office/drawing/2014/main" id="{D0AD1F4B-DA21-1C5A-24D1-ECD73413EB3D}"/>
              </a:ext>
            </a:extLst>
          </p:cNvPr>
          <p:cNvSpPr>
            <a:spLocks noGrp="1"/>
          </p:cNvSpPr>
          <p:nvPr>
            <p:ph type="subTitle" idx="4294967295"/>
          </p:nvPr>
        </p:nvSpPr>
        <p:spPr>
          <a:xfrm>
            <a:off x="606679" y="237488"/>
            <a:ext cx="11257661" cy="2904967"/>
          </a:xfrm>
          <a:prstGeom prst="rect">
            <a:avLst/>
          </a:prstGeom>
        </p:spPr>
        <p:txBody>
          <a:bodyPr>
            <a:normAutofit fontScale="70000" lnSpcReduction="20000"/>
          </a:bodyPr>
          <a:lstStyle/>
          <a:p>
            <a:pPr marL="0" indent="0" algn="l">
              <a:buNone/>
            </a:pPr>
            <a:r>
              <a:rPr lang="en-US" sz="3400" b="1" dirty="0">
                <a:solidFill>
                  <a:schemeClr val="accent1">
                    <a:lumMod val="75000"/>
                  </a:schemeClr>
                </a:solidFill>
              </a:rPr>
              <a:t>IMS Administration Tool ISPF LAB Exercise 3a</a:t>
            </a:r>
            <a:r>
              <a:rPr lang="en-US" sz="3100" b="1" dirty="0">
                <a:solidFill>
                  <a:schemeClr val="accent1">
                    <a:lumMod val="75000"/>
                  </a:schemeClr>
                </a:solidFill>
              </a:rPr>
              <a:t> </a:t>
            </a:r>
          </a:p>
          <a:p>
            <a:pPr marL="0" indent="0" algn="l">
              <a:lnSpc>
                <a:spcPct val="120000"/>
              </a:lnSpc>
              <a:spcBef>
                <a:spcPts val="300"/>
              </a:spcBef>
              <a:buNone/>
            </a:pPr>
            <a:r>
              <a:rPr lang="en-US" sz="2600" b="1" dirty="0"/>
              <a:t>Key Feature:    IMS Catalog Database Space Analysis</a:t>
            </a:r>
          </a:p>
          <a:p>
            <a:pPr marL="0" indent="0" algn="l">
              <a:lnSpc>
                <a:spcPct val="120000"/>
              </a:lnSpc>
              <a:spcBef>
                <a:spcPts val="300"/>
              </a:spcBef>
              <a:buNone/>
            </a:pPr>
            <a:r>
              <a:rPr lang="en-US" sz="2600" b="1" dirty="0"/>
              <a:t>Description:   View DBD and PSB Detail and XREF – DBD Detail Report Actions – Delete the instance</a:t>
            </a:r>
          </a:p>
          <a:p>
            <a:pPr marL="0" indent="0">
              <a:lnSpc>
                <a:spcPct val="120000"/>
              </a:lnSpc>
              <a:spcBef>
                <a:spcPts val="300"/>
              </a:spcBef>
              <a:spcAft>
                <a:spcPts val="300"/>
              </a:spcAft>
              <a:buNone/>
            </a:pPr>
            <a:r>
              <a:rPr lang="en-US" sz="2600" b="1" dirty="0"/>
              <a:t>Instructions:</a:t>
            </a:r>
            <a:r>
              <a:rPr lang="en-US" sz="2600" dirty="0"/>
              <a:t>  From the sub menu displayed, select Option        (Delete the instance) and press Enter.</a:t>
            </a:r>
          </a:p>
          <a:p>
            <a:pPr marL="396875" indent="-284163">
              <a:lnSpc>
                <a:spcPct val="120000"/>
              </a:lnSpc>
              <a:spcBef>
                <a:spcPts val="0"/>
              </a:spcBef>
              <a:buAutoNum type="arabicPeriod"/>
            </a:pPr>
            <a:r>
              <a:rPr lang="en-US" sz="2600" dirty="0"/>
              <a:t>Then, the “Delete Instance Confirmation” popup will be displayed and warn you that only an obsolete instance can be deleted.</a:t>
            </a:r>
          </a:p>
          <a:p>
            <a:pPr marL="396875" indent="-284163">
              <a:lnSpc>
                <a:spcPct val="120000"/>
              </a:lnSpc>
              <a:spcBef>
                <a:spcPts val="0"/>
              </a:spcBef>
              <a:buAutoNum type="arabicPeriod"/>
            </a:pPr>
            <a:r>
              <a:rPr lang="en-US" sz="2600" dirty="0"/>
              <a:t>Press Enter without changing the answer.  The answer must be “N”.</a:t>
            </a:r>
          </a:p>
          <a:p>
            <a:pPr marL="396875" indent="-284163">
              <a:lnSpc>
                <a:spcPct val="120000"/>
              </a:lnSpc>
              <a:spcBef>
                <a:spcPts val="0"/>
              </a:spcBef>
              <a:buAutoNum type="arabicPeriod"/>
            </a:pPr>
            <a:r>
              <a:rPr lang="en-US" sz="2600" dirty="0"/>
              <a:t>Then, you go back to the “DBD Detail Report”.</a:t>
            </a:r>
          </a:p>
          <a:p>
            <a:pPr marL="396875" indent="-284163">
              <a:lnSpc>
                <a:spcPct val="120000"/>
              </a:lnSpc>
              <a:spcBef>
                <a:spcPts val="0"/>
              </a:spcBef>
              <a:buAutoNum type="arabicPeriod"/>
            </a:pPr>
            <a:r>
              <a:rPr lang="en-US" sz="2600" dirty="0"/>
              <a:t>Press PF3 to go back to the “DBD/PSB Detail and XREF” panel.</a:t>
            </a:r>
          </a:p>
          <a:p>
            <a:pPr marL="396875" indent="-284163">
              <a:lnSpc>
                <a:spcPct val="120000"/>
              </a:lnSpc>
              <a:spcBef>
                <a:spcPts val="0"/>
              </a:spcBef>
              <a:buAutoNum type="arabicPeriod"/>
            </a:pPr>
            <a:endParaRPr lang="en-US" sz="2600" dirty="0"/>
          </a:p>
        </p:txBody>
      </p:sp>
      <p:sp>
        <p:nvSpPr>
          <p:cNvPr id="6" name="Rectangle 5">
            <a:extLst>
              <a:ext uri="{FF2B5EF4-FFF2-40B4-BE49-F238E27FC236}">
                <a16:creationId xmlns:a16="http://schemas.microsoft.com/office/drawing/2014/main" id="{0C87BF9E-AD87-AE33-2F6F-BE4D18AD6C08}"/>
              </a:ext>
            </a:extLst>
          </p:cNvPr>
          <p:cNvSpPr/>
          <p:nvPr/>
        </p:nvSpPr>
        <p:spPr>
          <a:xfrm>
            <a:off x="6139620" y="1191148"/>
            <a:ext cx="296318" cy="274292"/>
          </a:xfrm>
          <a:prstGeom prst="rect">
            <a:avLst/>
          </a:prstGeom>
          <a:solidFill>
            <a:schemeClr val="bg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3</a:t>
            </a:r>
            <a:endParaRPr lang="en-US" dirty="0">
              <a:solidFill>
                <a:schemeClr val="tx1"/>
              </a:solidFill>
            </a:endParaRPr>
          </a:p>
        </p:txBody>
      </p:sp>
      <p:sp>
        <p:nvSpPr>
          <p:cNvPr id="2" name="Slide Number Placeholder 1">
            <a:extLst>
              <a:ext uri="{FF2B5EF4-FFF2-40B4-BE49-F238E27FC236}">
                <a16:creationId xmlns:a16="http://schemas.microsoft.com/office/drawing/2014/main" id="{6786B08D-F2ED-9464-48AD-A29C539B4636}"/>
              </a:ext>
            </a:extLst>
          </p:cNvPr>
          <p:cNvSpPr>
            <a:spLocks noGrp="1"/>
          </p:cNvSpPr>
          <p:nvPr>
            <p:ph type="sldNum" sz="quarter" idx="12"/>
          </p:nvPr>
        </p:nvSpPr>
        <p:spPr/>
        <p:txBody>
          <a:bodyPr/>
          <a:lstStyle/>
          <a:p>
            <a:fld id="{1C788548-AC4B-4945-A4F1-BA86477A7FC8}" type="slidenum">
              <a:rPr lang="en-US" smtClean="0"/>
              <a:t>33</a:t>
            </a:fld>
            <a:endParaRPr lang="en-US" dirty="0"/>
          </a:p>
        </p:txBody>
      </p:sp>
      <p:cxnSp>
        <p:nvCxnSpPr>
          <p:cNvPr id="11" name="Straight Arrow Connector 10">
            <a:extLst>
              <a:ext uri="{FF2B5EF4-FFF2-40B4-BE49-F238E27FC236}">
                <a16:creationId xmlns:a16="http://schemas.microsoft.com/office/drawing/2014/main" id="{792E40BA-347E-1229-269E-00C7A47D68B4}"/>
              </a:ext>
            </a:extLst>
          </p:cNvPr>
          <p:cNvCxnSpPr>
            <a:cxnSpLocks/>
          </p:cNvCxnSpPr>
          <p:nvPr/>
        </p:nvCxnSpPr>
        <p:spPr>
          <a:xfrm>
            <a:off x="960690" y="4463144"/>
            <a:ext cx="354330"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ED83B7B5-97AB-1810-58FE-459208F400D0}"/>
              </a:ext>
            </a:extLst>
          </p:cNvPr>
          <p:cNvPicPr>
            <a:picLocks noChangeAspect="1"/>
          </p:cNvPicPr>
          <p:nvPr/>
        </p:nvPicPr>
        <p:blipFill>
          <a:blip r:embed="rId3"/>
          <a:stretch>
            <a:fillRect/>
          </a:stretch>
        </p:blipFill>
        <p:spPr>
          <a:xfrm>
            <a:off x="3098325" y="3204718"/>
            <a:ext cx="4723535" cy="2963069"/>
          </a:xfrm>
          <a:prstGeom prst="rect">
            <a:avLst/>
          </a:prstGeom>
          <a:effectLst>
            <a:glow rad="63500">
              <a:schemeClr val="accent3">
                <a:satMod val="175000"/>
                <a:alpha val="40000"/>
              </a:schemeClr>
            </a:glow>
          </a:effectLst>
        </p:spPr>
      </p:pic>
      <p:pic>
        <p:nvPicPr>
          <p:cNvPr id="16" name="Picture 15">
            <a:extLst>
              <a:ext uri="{FF2B5EF4-FFF2-40B4-BE49-F238E27FC236}">
                <a16:creationId xmlns:a16="http://schemas.microsoft.com/office/drawing/2014/main" id="{0CDC4D50-9344-61E7-5B86-C39EE328AB10}"/>
              </a:ext>
            </a:extLst>
          </p:cNvPr>
          <p:cNvPicPr>
            <a:picLocks noChangeAspect="1"/>
          </p:cNvPicPr>
          <p:nvPr/>
        </p:nvPicPr>
        <p:blipFill>
          <a:blip r:embed="rId4"/>
          <a:stretch>
            <a:fillRect/>
          </a:stretch>
        </p:blipFill>
        <p:spPr>
          <a:xfrm>
            <a:off x="6949841" y="2804719"/>
            <a:ext cx="4741826" cy="3040804"/>
          </a:xfrm>
          <a:prstGeom prst="rect">
            <a:avLst/>
          </a:prstGeom>
          <a:effectLst>
            <a:glow rad="63500">
              <a:schemeClr val="accent3">
                <a:satMod val="175000"/>
                <a:alpha val="40000"/>
              </a:schemeClr>
            </a:glow>
          </a:effectLst>
        </p:spPr>
      </p:pic>
    </p:spTree>
    <p:extLst>
      <p:ext uri="{BB962C8B-B14F-4D97-AF65-F5344CB8AC3E}">
        <p14:creationId xmlns:p14="http://schemas.microsoft.com/office/powerpoint/2010/main" val="235317757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5DD04D75-5580-4918-ACD6-01E26F36A2CB}"/>
              </a:ext>
            </a:extLst>
          </p:cNvPr>
          <p:cNvSpPr>
            <a:spLocks noGrp="1"/>
          </p:cNvSpPr>
          <p:nvPr>
            <p:ph type="subTitle" idx="4294967295"/>
          </p:nvPr>
        </p:nvSpPr>
        <p:spPr>
          <a:xfrm>
            <a:off x="606679" y="237490"/>
            <a:ext cx="11257661" cy="2704118"/>
          </a:xfrm>
          <a:prstGeom prst="rect">
            <a:avLst/>
          </a:prstGeom>
        </p:spPr>
        <p:txBody>
          <a:bodyPr>
            <a:normAutofit fontScale="70000" lnSpcReduction="20000"/>
          </a:bodyPr>
          <a:lstStyle/>
          <a:p>
            <a:pPr marL="0" indent="0" algn="l">
              <a:lnSpc>
                <a:spcPct val="120000"/>
              </a:lnSpc>
              <a:spcBef>
                <a:spcPts val="600"/>
              </a:spcBef>
              <a:buNone/>
            </a:pPr>
            <a:r>
              <a:rPr lang="en-US" sz="3000" b="1" dirty="0">
                <a:solidFill>
                  <a:schemeClr val="accent1">
                    <a:lumMod val="75000"/>
                  </a:schemeClr>
                </a:solidFill>
              </a:rPr>
              <a:t>IMS Administration Tool ISPF LAB Exercise 3a </a:t>
            </a:r>
          </a:p>
          <a:p>
            <a:pPr marL="0" indent="0" algn="l">
              <a:lnSpc>
                <a:spcPct val="120000"/>
              </a:lnSpc>
              <a:spcBef>
                <a:spcPts val="600"/>
              </a:spcBef>
              <a:buNone/>
            </a:pPr>
            <a:r>
              <a:rPr lang="en-US" sz="2600" b="1" dirty="0"/>
              <a:t>Key Feature:   IMS Catalog Database Space Analysis</a:t>
            </a:r>
          </a:p>
          <a:p>
            <a:pPr marL="0" indent="0">
              <a:lnSpc>
                <a:spcPct val="120000"/>
              </a:lnSpc>
              <a:spcBef>
                <a:spcPts val="600"/>
              </a:spcBef>
              <a:buNone/>
            </a:pPr>
            <a:r>
              <a:rPr lang="en-US" sz="2600" b="1" dirty="0"/>
              <a:t>Description:   View DBD and PSB Detail and XREF – PSB Detail Report</a:t>
            </a:r>
          </a:p>
          <a:p>
            <a:pPr marL="0" indent="0">
              <a:lnSpc>
                <a:spcPct val="120000"/>
              </a:lnSpc>
              <a:spcBef>
                <a:spcPts val="600"/>
              </a:spcBef>
              <a:buNone/>
            </a:pPr>
            <a:r>
              <a:rPr lang="en-US" sz="2600" b="1" dirty="0"/>
              <a:t>Instructions:</a:t>
            </a:r>
            <a:r>
              <a:rPr lang="en-US" sz="2600" dirty="0"/>
              <a:t>   By selecting Option        (PSB Detail Report), you can see the “PSB Detail Report”.  Actions that are similar to those supported for the “DBD Detail Report” are supported for the “PSB Detail Report”.  We skip those operation in this LAB.</a:t>
            </a:r>
          </a:p>
          <a:p>
            <a:pPr marL="0" indent="0">
              <a:lnSpc>
                <a:spcPct val="120000"/>
              </a:lnSpc>
              <a:spcBef>
                <a:spcPts val="600"/>
              </a:spcBef>
              <a:buNone/>
            </a:pPr>
            <a:r>
              <a:rPr lang="en-US" sz="2600" dirty="0"/>
              <a:t>After displaying the “PSB Detail Report”, press PF3 to go back to the “View DBD and PSB Detail and XREF” panel.</a:t>
            </a:r>
          </a:p>
        </p:txBody>
      </p:sp>
      <p:sp>
        <p:nvSpPr>
          <p:cNvPr id="6" name="Rectangle 5">
            <a:extLst>
              <a:ext uri="{FF2B5EF4-FFF2-40B4-BE49-F238E27FC236}">
                <a16:creationId xmlns:a16="http://schemas.microsoft.com/office/drawing/2014/main" id="{4648A1D2-D817-422B-8F78-34353D7D6409}"/>
              </a:ext>
            </a:extLst>
          </p:cNvPr>
          <p:cNvSpPr/>
          <p:nvPr/>
        </p:nvSpPr>
        <p:spPr>
          <a:xfrm>
            <a:off x="3898060" y="1353485"/>
            <a:ext cx="311630" cy="294160"/>
          </a:xfrm>
          <a:prstGeom prst="rect">
            <a:avLst/>
          </a:prstGeom>
          <a:solidFill>
            <a:schemeClr val="bg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3</a:t>
            </a:r>
            <a:endParaRPr lang="en-US" dirty="0">
              <a:solidFill>
                <a:schemeClr val="tx1"/>
              </a:solidFill>
            </a:endParaRPr>
          </a:p>
        </p:txBody>
      </p:sp>
      <p:cxnSp>
        <p:nvCxnSpPr>
          <p:cNvPr id="10" name="Straight Arrow Connector 9">
            <a:extLst>
              <a:ext uri="{FF2B5EF4-FFF2-40B4-BE49-F238E27FC236}">
                <a16:creationId xmlns:a16="http://schemas.microsoft.com/office/drawing/2014/main" id="{5885BEC6-F990-4B8C-B6F1-EEB4C7A1BE0F}"/>
              </a:ext>
            </a:extLst>
          </p:cNvPr>
          <p:cNvCxnSpPr>
            <a:cxnSpLocks/>
          </p:cNvCxnSpPr>
          <p:nvPr/>
        </p:nvCxnSpPr>
        <p:spPr>
          <a:xfrm>
            <a:off x="557890" y="5161918"/>
            <a:ext cx="354330"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2" name="Slide Number Placeholder 1">
            <a:extLst>
              <a:ext uri="{FF2B5EF4-FFF2-40B4-BE49-F238E27FC236}">
                <a16:creationId xmlns:a16="http://schemas.microsoft.com/office/drawing/2014/main" id="{19DCBE20-D721-2CF7-3DC5-99112009C6DF}"/>
              </a:ext>
            </a:extLst>
          </p:cNvPr>
          <p:cNvSpPr>
            <a:spLocks noGrp="1"/>
          </p:cNvSpPr>
          <p:nvPr>
            <p:ph type="sldNum" sz="quarter" idx="12"/>
          </p:nvPr>
        </p:nvSpPr>
        <p:spPr/>
        <p:txBody>
          <a:bodyPr/>
          <a:lstStyle/>
          <a:p>
            <a:fld id="{1C788548-AC4B-4945-A4F1-BA86477A7FC8}" type="slidenum">
              <a:rPr lang="en-US" smtClean="0"/>
              <a:t>34</a:t>
            </a:fld>
            <a:endParaRPr lang="en-US"/>
          </a:p>
        </p:txBody>
      </p:sp>
      <p:pic>
        <p:nvPicPr>
          <p:cNvPr id="7" name="Picture 6">
            <a:extLst>
              <a:ext uri="{FF2B5EF4-FFF2-40B4-BE49-F238E27FC236}">
                <a16:creationId xmlns:a16="http://schemas.microsoft.com/office/drawing/2014/main" id="{54CAE46D-1AA6-3C4F-9304-DE4A394AC40B}"/>
              </a:ext>
            </a:extLst>
          </p:cNvPr>
          <p:cNvPicPr>
            <a:picLocks noChangeAspect="1"/>
          </p:cNvPicPr>
          <p:nvPr/>
        </p:nvPicPr>
        <p:blipFill>
          <a:blip r:embed="rId2"/>
          <a:stretch>
            <a:fillRect/>
          </a:stretch>
        </p:blipFill>
        <p:spPr>
          <a:xfrm>
            <a:off x="920846" y="2941608"/>
            <a:ext cx="5132024" cy="3284297"/>
          </a:xfrm>
          <a:prstGeom prst="rect">
            <a:avLst/>
          </a:prstGeom>
          <a:effectLst>
            <a:glow rad="63500">
              <a:schemeClr val="accent3">
                <a:satMod val="175000"/>
                <a:alpha val="40000"/>
              </a:schemeClr>
            </a:glow>
          </a:effectLst>
        </p:spPr>
      </p:pic>
      <p:pic>
        <p:nvPicPr>
          <p:cNvPr id="11" name="Picture 10">
            <a:extLst>
              <a:ext uri="{FF2B5EF4-FFF2-40B4-BE49-F238E27FC236}">
                <a16:creationId xmlns:a16="http://schemas.microsoft.com/office/drawing/2014/main" id="{126BBABE-B22B-DEF9-AB06-5F4F5B29D5EA}"/>
              </a:ext>
            </a:extLst>
          </p:cNvPr>
          <p:cNvPicPr>
            <a:picLocks noChangeAspect="1"/>
          </p:cNvPicPr>
          <p:nvPr/>
        </p:nvPicPr>
        <p:blipFill>
          <a:blip r:embed="rId3"/>
          <a:stretch>
            <a:fillRect/>
          </a:stretch>
        </p:blipFill>
        <p:spPr>
          <a:xfrm>
            <a:off x="6163784" y="2941607"/>
            <a:ext cx="5344842" cy="3287156"/>
          </a:xfrm>
          <a:prstGeom prst="rect">
            <a:avLst/>
          </a:prstGeom>
          <a:effectLst>
            <a:glow rad="63500">
              <a:schemeClr val="accent3">
                <a:satMod val="175000"/>
                <a:alpha val="40000"/>
              </a:schemeClr>
            </a:glow>
          </a:effectLst>
        </p:spPr>
      </p:pic>
    </p:spTree>
    <p:extLst>
      <p:ext uri="{BB962C8B-B14F-4D97-AF65-F5344CB8AC3E}">
        <p14:creationId xmlns:p14="http://schemas.microsoft.com/office/powerpoint/2010/main" val="316587140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A61715-EC21-E914-3F73-EE29587A4B76}"/>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E4D2EFA0-C869-8CDA-E017-1A896C145CAD}"/>
              </a:ext>
            </a:extLst>
          </p:cNvPr>
          <p:cNvSpPr>
            <a:spLocks noGrp="1"/>
          </p:cNvSpPr>
          <p:nvPr>
            <p:ph type="subTitle" idx="4294967295"/>
          </p:nvPr>
        </p:nvSpPr>
        <p:spPr>
          <a:xfrm>
            <a:off x="606679" y="237490"/>
            <a:ext cx="11257661" cy="2859390"/>
          </a:xfrm>
          <a:prstGeom prst="rect">
            <a:avLst/>
          </a:prstGeom>
        </p:spPr>
        <p:txBody>
          <a:bodyPr>
            <a:normAutofit fontScale="70000" lnSpcReduction="20000"/>
          </a:bodyPr>
          <a:lstStyle/>
          <a:p>
            <a:pPr marL="0" indent="0" algn="l">
              <a:lnSpc>
                <a:spcPct val="120000"/>
              </a:lnSpc>
              <a:spcBef>
                <a:spcPts val="600"/>
              </a:spcBef>
              <a:buNone/>
            </a:pPr>
            <a:r>
              <a:rPr lang="en-US" sz="3000" b="1" dirty="0">
                <a:solidFill>
                  <a:schemeClr val="accent1">
                    <a:lumMod val="75000"/>
                  </a:schemeClr>
                </a:solidFill>
              </a:rPr>
              <a:t>IMS Administration Tool ISPF LAB Exercise 3a </a:t>
            </a:r>
          </a:p>
          <a:p>
            <a:pPr marL="0" indent="0" algn="l">
              <a:lnSpc>
                <a:spcPct val="120000"/>
              </a:lnSpc>
              <a:spcBef>
                <a:spcPts val="600"/>
              </a:spcBef>
              <a:buNone/>
            </a:pPr>
            <a:r>
              <a:rPr lang="en-US" sz="2600" b="1" dirty="0"/>
              <a:t>Key Feature:    IMS Catalog Database Space Analysis</a:t>
            </a:r>
          </a:p>
          <a:p>
            <a:pPr marL="0" indent="0">
              <a:lnSpc>
                <a:spcPct val="120000"/>
              </a:lnSpc>
              <a:spcBef>
                <a:spcPts val="600"/>
              </a:spcBef>
              <a:buNone/>
            </a:pPr>
            <a:r>
              <a:rPr lang="en-US" sz="2600" b="1" dirty="0"/>
              <a:t>Description:   View DBD and PSB Detail and XREF – “XREF DBD from PSB” and “XREF PSB to DBD”</a:t>
            </a:r>
          </a:p>
          <a:p>
            <a:pPr marL="0" indent="0">
              <a:lnSpc>
                <a:spcPct val="120000"/>
              </a:lnSpc>
              <a:spcBef>
                <a:spcPts val="600"/>
              </a:spcBef>
              <a:buNone/>
            </a:pPr>
            <a:r>
              <a:rPr lang="en-US" sz="2600" b="1" dirty="0"/>
              <a:t>Instructions:</a:t>
            </a:r>
            <a:r>
              <a:rPr lang="en-US" sz="2600" dirty="0"/>
              <a:t>   By selecting Option        (XREF DBD from PSB) or Option        (XREF PSB to DBD), you can see relationships between DBDs and PSBs in other ways.</a:t>
            </a:r>
          </a:p>
          <a:p>
            <a:pPr marL="457200" indent="-344488">
              <a:lnSpc>
                <a:spcPct val="120000"/>
              </a:lnSpc>
              <a:spcBef>
                <a:spcPts val="300"/>
              </a:spcBef>
              <a:buAutoNum type="arabicPeriod"/>
            </a:pPr>
            <a:r>
              <a:rPr lang="en-US" sz="2600" dirty="0"/>
              <a:t>Select Option         (XREF PSB to DBD). </a:t>
            </a:r>
          </a:p>
          <a:p>
            <a:pPr marL="457200" indent="-344488">
              <a:lnSpc>
                <a:spcPct val="120000"/>
              </a:lnSpc>
              <a:spcBef>
                <a:spcPts val="300"/>
              </a:spcBef>
              <a:buAutoNum type="arabicPeriod"/>
            </a:pPr>
            <a:r>
              <a:rPr lang="en-US" sz="2600" dirty="0"/>
              <a:t>Then the “PSBs Referring to DBDs (IMS Catalog)” report will be displayed.</a:t>
            </a:r>
          </a:p>
          <a:p>
            <a:pPr marL="457200" indent="-344488">
              <a:lnSpc>
                <a:spcPct val="120000"/>
              </a:lnSpc>
              <a:spcBef>
                <a:spcPts val="300"/>
              </a:spcBef>
              <a:buAutoNum type="arabicPeriod"/>
            </a:pPr>
            <a:r>
              <a:rPr lang="en-US" sz="2600" dirty="0"/>
              <a:t>Press PF3 to go back to the “DBD/PSB Detail and XREF” panel.</a:t>
            </a:r>
          </a:p>
          <a:p>
            <a:pPr marL="0" indent="0">
              <a:lnSpc>
                <a:spcPct val="120000"/>
              </a:lnSpc>
              <a:spcBef>
                <a:spcPts val="600"/>
              </a:spcBef>
              <a:buNone/>
            </a:pPr>
            <a:endParaRPr lang="en-US" sz="2600" dirty="0"/>
          </a:p>
        </p:txBody>
      </p:sp>
      <p:sp>
        <p:nvSpPr>
          <p:cNvPr id="6" name="Rectangle 5">
            <a:extLst>
              <a:ext uri="{FF2B5EF4-FFF2-40B4-BE49-F238E27FC236}">
                <a16:creationId xmlns:a16="http://schemas.microsoft.com/office/drawing/2014/main" id="{3D7C9995-29E6-2FC2-2971-2F48510D60D9}"/>
              </a:ext>
            </a:extLst>
          </p:cNvPr>
          <p:cNvSpPr/>
          <p:nvPr/>
        </p:nvSpPr>
        <p:spPr>
          <a:xfrm>
            <a:off x="3898060" y="1364827"/>
            <a:ext cx="311630" cy="294160"/>
          </a:xfrm>
          <a:prstGeom prst="rect">
            <a:avLst/>
          </a:prstGeom>
          <a:solidFill>
            <a:schemeClr val="bg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4</a:t>
            </a:r>
            <a:endParaRPr lang="en-US" dirty="0">
              <a:solidFill>
                <a:schemeClr val="tx1"/>
              </a:solidFill>
            </a:endParaRPr>
          </a:p>
        </p:txBody>
      </p:sp>
      <p:cxnSp>
        <p:nvCxnSpPr>
          <p:cNvPr id="10" name="Straight Arrow Connector 9">
            <a:extLst>
              <a:ext uri="{FF2B5EF4-FFF2-40B4-BE49-F238E27FC236}">
                <a16:creationId xmlns:a16="http://schemas.microsoft.com/office/drawing/2014/main" id="{DCFAA74E-F6FF-D52D-5A37-38CD7D60812A}"/>
              </a:ext>
            </a:extLst>
          </p:cNvPr>
          <p:cNvCxnSpPr>
            <a:cxnSpLocks/>
          </p:cNvCxnSpPr>
          <p:nvPr/>
        </p:nvCxnSpPr>
        <p:spPr>
          <a:xfrm>
            <a:off x="497508" y="5256807"/>
            <a:ext cx="354330"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2" name="Slide Number Placeholder 1">
            <a:extLst>
              <a:ext uri="{FF2B5EF4-FFF2-40B4-BE49-F238E27FC236}">
                <a16:creationId xmlns:a16="http://schemas.microsoft.com/office/drawing/2014/main" id="{BBC7344C-39FC-A68E-D03B-17DB71AE160F}"/>
              </a:ext>
            </a:extLst>
          </p:cNvPr>
          <p:cNvSpPr>
            <a:spLocks noGrp="1"/>
          </p:cNvSpPr>
          <p:nvPr>
            <p:ph type="sldNum" sz="quarter" idx="12"/>
          </p:nvPr>
        </p:nvSpPr>
        <p:spPr/>
        <p:txBody>
          <a:bodyPr/>
          <a:lstStyle/>
          <a:p>
            <a:fld id="{1C788548-AC4B-4945-A4F1-BA86477A7FC8}" type="slidenum">
              <a:rPr lang="en-US" smtClean="0"/>
              <a:t>35</a:t>
            </a:fld>
            <a:endParaRPr lang="en-US"/>
          </a:p>
        </p:txBody>
      </p:sp>
      <p:sp>
        <p:nvSpPr>
          <p:cNvPr id="4" name="Rectangle 3">
            <a:extLst>
              <a:ext uri="{FF2B5EF4-FFF2-40B4-BE49-F238E27FC236}">
                <a16:creationId xmlns:a16="http://schemas.microsoft.com/office/drawing/2014/main" id="{27BFAF10-A7AF-A0EE-FEBD-638AF390D1DA}"/>
              </a:ext>
            </a:extLst>
          </p:cNvPr>
          <p:cNvSpPr/>
          <p:nvPr/>
        </p:nvSpPr>
        <p:spPr>
          <a:xfrm>
            <a:off x="7213122" y="1362113"/>
            <a:ext cx="311630" cy="294160"/>
          </a:xfrm>
          <a:prstGeom prst="rect">
            <a:avLst/>
          </a:prstGeom>
          <a:solidFill>
            <a:schemeClr val="bg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5</a:t>
            </a:r>
            <a:endParaRPr lang="en-US" dirty="0">
              <a:solidFill>
                <a:schemeClr val="tx1"/>
              </a:solidFill>
            </a:endParaRPr>
          </a:p>
        </p:txBody>
      </p:sp>
      <p:sp>
        <p:nvSpPr>
          <p:cNvPr id="5" name="Rectangle 4">
            <a:extLst>
              <a:ext uri="{FF2B5EF4-FFF2-40B4-BE49-F238E27FC236}">
                <a16:creationId xmlns:a16="http://schemas.microsoft.com/office/drawing/2014/main" id="{FD89F3B7-C997-F071-C550-20A448457AA4}"/>
              </a:ext>
            </a:extLst>
          </p:cNvPr>
          <p:cNvSpPr/>
          <p:nvPr/>
        </p:nvSpPr>
        <p:spPr>
          <a:xfrm>
            <a:off x="2482973" y="1971718"/>
            <a:ext cx="311630" cy="294160"/>
          </a:xfrm>
          <a:prstGeom prst="rect">
            <a:avLst/>
          </a:prstGeom>
          <a:solidFill>
            <a:schemeClr val="bg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5</a:t>
            </a:r>
            <a:endParaRPr lang="en-US" dirty="0">
              <a:solidFill>
                <a:schemeClr val="tx1"/>
              </a:solidFill>
            </a:endParaRPr>
          </a:p>
        </p:txBody>
      </p:sp>
      <p:pic>
        <p:nvPicPr>
          <p:cNvPr id="9" name="Picture 8">
            <a:extLst>
              <a:ext uri="{FF2B5EF4-FFF2-40B4-BE49-F238E27FC236}">
                <a16:creationId xmlns:a16="http://schemas.microsoft.com/office/drawing/2014/main" id="{CC31DBE2-17E3-FA1E-88EB-63994E5800C5}"/>
              </a:ext>
            </a:extLst>
          </p:cNvPr>
          <p:cNvPicPr>
            <a:picLocks noChangeAspect="1"/>
          </p:cNvPicPr>
          <p:nvPr/>
        </p:nvPicPr>
        <p:blipFill>
          <a:blip r:embed="rId2"/>
          <a:stretch>
            <a:fillRect/>
          </a:stretch>
        </p:blipFill>
        <p:spPr>
          <a:xfrm>
            <a:off x="890014" y="3038417"/>
            <a:ext cx="5136978" cy="3314019"/>
          </a:xfrm>
          <a:prstGeom prst="rect">
            <a:avLst/>
          </a:prstGeom>
          <a:effectLst>
            <a:glow rad="63500">
              <a:schemeClr val="accent3">
                <a:satMod val="175000"/>
                <a:alpha val="40000"/>
              </a:schemeClr>
            </a:glow>
          </a:effectLst>
        </p:spPr>
      </p:pic>
      <p:pic>
        <p:nvPicPr>
          <p:cNvPr id="13" name="Picture 12">
            <a:extLst>
              <a:ext uri="{FF2B5EF4-FFF2-40B4-BE49-F238E27FC236}">
                <a16:creationId xmlns:a16="http://schemas.microsoft.com/office/drawing/2014/main" id="{D9FAB53D-FC65-E9F8-7C1E-3E3A06E12BEA}"/>
              </a:ext>
            </a:extLst>
          </p:cNvPr>
          <p:cNvPicPr>
            <a:picLocks noChangeAspect="1"/>
          </p:cNvPicPr>
          <p:nvPr/>
        </p:nvPicPr>
        <p:blipFill>
          <a:blip r:embed="rId3"/>
          <a:stretch>
            <a:fillRect/>
          </a:stretch>
        </p:blipFill>
        <p:spPr>
          <a:xfrm>
            <a:off x="6177305" y="3033308"/>
            <a:ext cx="5339698" cy="3292300"/>
          </a:xfrm>
          <a:prstGeom prst="rect">
            <a:avLst/>
          </a:prstGeom>
          <a:effectLst>
            <a:glow rad="63500">
              <a:schemeClr val="accent3">
                <a:satMod val="175000"/>
                <a:alpha val="40000"/>
              </a:schemeClr>
            </a:glow>
          </a:effectLst>
        </p:spPr>
      </p:pic>
    </p:spTree>
    <p:extLst>
      <p:ext uri="{BB962C8B-B14F-4D97-AF65-F5344CB8AC3E}">
        <p14:creationId xmlns:p14="http://schemas.microsoft.com/office/powerpoint/2010/main" val="48790196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76F485-5A40-5F4D-55FF-EA7CF1D46277}"/>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7E51872D-06A1-F098-CE23-4E3942BA8EFB}"/>
              </a:ext>
            </a:extLst>
          </p:cNvPr>
          <p:cNvSpPr>
            <a:spLocks noGrp="1"/>
          </p:cNvSpPr>
          <p:nvPr>
            <p:ph type="subTitle" idx="4294967295"/>
          </p:nvPr>
        </p:nvSpPr>
        <p:spPr>
          <a:xfrm>
            <a:off x="606679" y="237488"/>
            <a:ext cx="11257661" cy="5764007"/>
          </a:xfrm>
          <a:prstGeom prst="rect">
            <a:avLst/>
          </a:prstGeom>
        </p:spPr>
        <p:txBody>
          <a:bodyPr>
            <a:normAutofit fontScale="77500" lnSpcReduction="20000"/>
          </a:bodyPr>
          <a:lstStyle/>
          <a:p>
            <a:pPr marL="0" indent="0" algn="l">
              <a:lnSpc>
                <a:spcPct val="120000"/>
              </a:lnSpc>
              <a:spcBef>
                <a:spcPts val="600"/>
              </a:spcBef>
              <a:buNone/>
            </a:pPr>
            <a:r>
              <a:rPr lang="en-US" sz="3100" b="1" dirty="0">
                <a:solidFill>
                  <a:schemeClr val="accent1">
                    <a:lumMod val="75000"/>
                  </a:schemeClr>
                </a:solidFill>
              </a:rPr>
              <a:t>IMS Administration Tool ISPF LAB Exercise 3a </a:t>
            </a:r>
          </a:p>
          <a:p>
            <a:pPr marL="0" indent="0" algn="l">
              <a:lnSpc>
                <a:spcPct val="120000"/>
              </a:lnSpc>
              <a:spcBef>
                <a:spcPts val="600"/>
              </a:spcBef>
              <a:buNone/>
            </a:pPr>
            <a:r>
              <a:rPr lang="en-US" sz="2300" b="1" dirty="0"/>
              <a:t>Key Feature:   IMS Catalog Database Space Analysis</a:t>
            </a:r>
          </a:p>
          <a:p>
            <a:pPr marL="0" indent="0">
              <a:lnSpc>
                <a:spcPct val="120000"/>
              </a:lnSpc>
              <a:spcBef>
                <a:spcPts val="600"/>
              </a:spcBef>
              <a:buNone/>
            </a:pPr>
            <a:r>
              <a:rPr lang="en-US" sz="2300" b="1" dirty="0"/>
              <a:t>Description:  View DBD and PSB Detail and XREF – CSV Data Sets</a:t>
            </a:r>
          </a:p>
          <a:p>
            <a:pPr marL="0" indent="0">
              <a:lnSpc>
                <a:spcPct val="120000"/>
              </a:lnSpc>
              <a:spcBef>
                <a:spcPts val="600"/>
              </a:spcBef>
              <a:buNone/>
            </a:pPr>
            <a:r>
              <a:rPr lang="en-US" sz="2300" b="1" dirty="0"/>
              <a:t>Instructions:</a:t>
            </a:r>
            <a:r>
              <a:rPr lang="en-US" sz="2300" dirty="0"/>
              <a:t>  On the “DBD and PSB Detail and XREF” panel, press PF8 to scroll down.  Then, you will see three the following data set names:</a:t>
            </a:r>
          </a:p>
          <a:p>
            <a:pPr marL="344488">
              <a:lnSpc>
                <a:spcPct val="120000"/>
              </a:lnSpc>
              <a:spcBef>
                <a:spcPts val="0"/>
              </a:spcBef>
            </a:pPr>
            <a:r>
              <a:rPr lang="en-US" sz="2300" dirty="0"/>
              <a:t>“DBD Detail” CSV data set</a:t>
            </a:r>
          </a:p>
          <a:p>
            <a:pPr marL="344488">
              <a:lnSpc>
                <a:spcPct val="120000"/>
              </a:lnSpc>
              <a:spcBef>
                <a:spcPts val="0"/>
              </a:spcBef>
            </a:pPr>
            <a:r>
              <a:rPr lang="en-US" sz="2300" dirty="0"/>
              <a:t>“PSB Detail” CSV data set</a:t>
            </a:r>
          </a:p>
          <a:p>
            <a:pPr marL="344488">
              <a:lnSpc>
                <a:spcPct val="120000"/>
              </a:lnSpc>
              <a:spcBef>
                <a:spcPts val="0"/>
              </a:spcBef>
            </a:pPr>
            <a:r>
              <a:rPr lang="en-US" sz="2300" dirty="0"/>
              <a:t>“XREF PSB and DBD” CSV data set</a:t>
            </a:r>
          </a:p>
          <a:p>
            <a:pPr marL="0" indent="0">
              <a:lnSpc>
                <a:spcPct val="120000"/>
              </a:lnSpc>
              <a:spcBef>
                <a:spcPts val="600"/>
              </a:spcBef>
              <a:buNone/>
            </a:pPr>
            <a:r>
              <a:rPr lang="en-US" sz="2300" dirty="0"/>
              <a:t>These are CSV data sets that were used to</a:t>
            </a:r>
            <a:br>
              <a:rPr lang="en-US" sz="2300" dirty="0"/>
            </a:br>
            <a:r>
              <a:rPr lang="en-US" sz="2300" dirty="0"/>
              <a:t>generate reports that you just saw.</a:t>
            </a:r>
          </a:p>
          <a:p>
            <a:pPr marL="0" indent="0">
              <a:lnSpc>
                <a:spcPct val="120000"/>
              </a:lnSpc>
              <a:spcBef>
                <a:spcPts val="600"/>
              </a:spcBef>
              <a:buNone/>
            </a:pPr>
            <a:r>
              <a:rPr lang="en-US" sz="2300" dirty="0"/>
              <a:t>If you want to review the information outside</a:t>
            </a:r>
            <a:br>
              <a:rPr lang="en-US" sz="2300" dirty="0"/>
            </a:br>
            <a:r>
              <a:rPr lang="en-US" sz="2300" dirty="0"/>
              <a:t>the panel by using your own program, you can</a:t>
            </a:r>
            <a:br>
              <a:rPr lang="en-US" sz="2300" dirty="0"/>
            </a:br>
            <a:r>
              <a:rPr lang="en-US" sz="2300" dirty="0"/>
              <a:t>use these data sets.</a:t>
            </a:r>
          </a:p>
          <a:p>
            <a:pPr marL="0" indent="0">
              <a:lnSpc>
                <a:spcPct val="120000"/>
              </a:lnSpc>
              <a:spcBef>
                <a:spcPts val="600"/>
              </a:spcBef>
              <a:buNone/>
            </a:pPr>
            <a:r>
              <a:rPr lang="en-US" sz="2300" dirty="0"/>
              <a:t>Note that the reports you viewed so far and the</a:t>
            </a:r>
            <a:br>
              <a:rPr lang="en-US" sz="2300" dirty="0"/>
            </a:br>
            <a:r>
              <a:rPr lang="en-US" sz="2300" dirty="0"/>
              <a:t>information in these CSV data sets are based on</a:t>
            </a:r>
            <a:br>
              <a:rPr lang="en-US" sz="2300" dirty="0"/>
            </a:br>
            <a:r>
              <a:rPr lang="en-US" sz="2300" dirty="0"/>
              <a:t>the batch job result and reflect the DBDs and</a:t>
            </a:r>
            <a:br>
              <a:rPr lang="en-US" sz="2300" dirty="0"/>
            </a:br>
            <a:r>
              <a:rPr lang="en-US" sz="2300" dirty="0"/>
              <a:t>PSBs at the time the batch job was executed.</a:t>
            </a:r>
          </a:p>
          <a:p>
            <a:pPr marL="0" indent="0">
              <a:lnSpc>
                <a:spcPct val="120000"/>
              </a:lnSpc>
              <a:spcBef>
                <a:spcPts val="600"/>
              </a:spcBef>
              <a:buNone/>
            </a:pPr>
            <a:r>
              <a:rPr lang="en-US" sz="2300" dirty="0"/>
              <a:t>Press PF3 to go back to the previous panel.</a:t>
            </a:r>
          </a:p>
        </p:txBody>
      </p:sp>
      <p:sp>
        <p:nvSpPr>
          <p:cNvPr id="2" name="Slide Number Placeholder 1">
            <a:extLst>
              <a:ext uri="{FF2B5EF4-FFF2-40B4-BE49-F238E27FC236}">
                <a16:creationId xmlns:a16="http://schemas.microsoft.com/office/drawing/2014/main" id="{28C687F9-0A0A-9FA7-9D12-023EE4EA8F4B}"/>
              </a:ext>
            </a:extLst>
          </p:cNvPr>
          <p:cNvSpPr>
            <a:spLocks noGrp="1"/>
          </p:cNvSpPr>
          <p:nvPr>
            <p:ph type="sldNum" sz="quarter" idx="12"/>
          </p:nvPr>
        </p:nvSpPr>
        <p:spPr/>
        <p:txBody>
          <a:bodyPr/>
          <a:lstStyle/>
          <a:p>
            <a:fld id="{1C788548-AC4B-4945-A4F1-BA86477A7FC8}" type="slidenum">
              <a:rPr lang="en-US" smtClean="0"/>
              <a:t>36</a:t>
            </a:fld>
            <a:endParaRPr lang="en-US"/>
          </a:p>
        </p:txBody>
      </p:sp>
      <p:pic>
        <p:nvPicPr>
          <p:cNvPr id="8" name="Picture 7">
            <a:extLst>
              <a:ext uri="{FF2B5EF4-FFF2-40B4-BE49-F238E27FC236}">
                <a16:creationId xmlns:a16="http://schemas.microsoft.com/office/drawing/2014/main" id="{FBC9D4CB-7F6F-5121-30EF-98DD7C6A4E4B}"/>
              </a:ext>
            </a:extLst>
          </p:cNvPr>
          <p:cNvPicPr>
            <a:picLocks noChangeAspect="1"/>
          </p:cNvPicPr>
          <p:nvPr/>
        </p:nvPicPr>
        <p:blipFill>
          <a:blip r:embed="rId2"/>
          <a:stretch>
            <a:fillRect/>
          </a:stretch>
        </p:blipFill>
        <p:spPr>
          <a:xfrm>
            <a:off x="5333541" y="2131329"/>
            <a:ext cx="6020259" cy="3870166"/>
          </a:xfrm>
          <a:prstGeom prst="rect">
            <a:avLst/>
          </a:prstGeom>
          <a:effectLst>
            <a:glow rad="63500">
              <a:schemeClr val="accent3">
                <a:satMod val="175000"/>
                <a:alpha val="40000"/>
              </a:schemeClr>
            </a:glow>
          </a:effectLst>
        </p:spPr>
      </p:pic>
      <p:sp>
        <p:nvSpPr>
          <p:cNvPr id="14" name="Rectangle 13">
            <a:extLst>
              <a:ext uri="{FF2B5EF4-FFF2-40B4-BE49-F238E27FC236}">
                <a16:creationId xmlns:a16="http://schemas.microsoft.com/office/drawing/2014/main" id="{5F70BBC9-86ED-BCCD-6BB5-6E48F0C176AF}"/>
              </a:ext>
            </a:extLst>
          </p:cNvPr>
          <p:cNvSpPr/>
          <p:nvPr/>
        </p:nvSpPr>
        <p:spPr>
          <a:xfrm>
            <a:off x="7552817" y="5488288"/>
            <a:ext cx="1680393" cy="505773"/>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182449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D6B554-9943-1EFF-0C24-4FEC32E06B00}"/>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F25857BB-D6C6-0390-39E2-21F31EAA3992}"/>
              </a:ext>
            </a:extLst>
          </p:cNvPr>
          <p:cNvSpPr>
            <a:spLocks noGrp="1"/>
          </p:cNvSpPr>
          <p:nvPr>
            <p:ph type="subTitle" idx="4294967295"/>
          </p:nvPr>
        </p:nvSpPr>
        <p:spPr>
          <a:xfrm>
            <a:off x="606679" y="237487"/>
            <a:ext cx="11004455" cy="3276530"/>
          </a:xfrm>
          <a:prstGeom prst="rect">
            <a:avLst/>
          </a:prstGeom>
        </p:spPr>
        <p:txBody>
          <a:bodyPr>
            <a:normAutofit fontScale="70000" lnSpcReduction="20000"/>
          </a:bodyPr>
          <a:lstStyle/>
          <a:p>
            <a:pPr marL="0" indent="0" algn="l">
              <a:lnSpc>
                <a:spcPct val="120000"/>
              </a:lnSpc>
              <a:spcBef>
                <a:spcPts val="600"/>
              </a:spcBef>
              <a:buNone/>
            </a:pPr>
            <a:r>
              <a:rPr lang="en-US" sz="3100" b="1" dirty="0">
                <a:solidFill>
                  <a:schemeClr val="accent1">
                    <a:lumMod val="75000"/>
                  </a:schemeClr>
                </a:solidFill>
              </a:rPr>
              <a:t>IMS Administration Tool ISPF LAB Exercise 3a </a:t>
            </a:r>
          </a:p>
          <a:p>
            <a:pPr marL="0" indent="0" algn="l">
              <a:lnSpc>
                <a:spcPct val="120000"/>
              </a:lnSpc>
              <a:spcBef>
                <a:spcPts val="600"/>
              </a:spcBef>
              <a:buNone/>
            </a:pPr>
            <a:r>
              <a:rPr lang="en-US" sz="2300" b="1" dirty="0"/>
              <a:t>Key Feature:   IMS Catalog Database Space Analysis</a:t>
            </a:r>
          </a:p>
          <a:p>
            <a:pPr marL="0" indent="0">
              <a:lnSpc>
                <a:spcPct val="120000"/>
              </a:lnSpc>
              <a:spcBef>
                <a:spcPts val="600"/>
              </a:spcBef>
              <a:buNone/>
            </a:pPr>
            <a:r>
              <a:rPr lang="en-US" sz="2300" b="1" dirty="0"/>
              <a:t>Description:  IMS Catalog Space and DBD/PSB Analysis – DBD List</a:t>
            </a:r>
          </a:p>
          <a:p>
            <a:pPr marL="0" indent="0">
              <a:lnSpc>
                <a:spcPct val="120000"/>
              </a:lnSpc>
              <a:spcBef>
                <a:spcPts val="600"/>
              </a:spcBef>
              <a:buNone/>
            </a:pPr>
            <a:r>
              <a:rPr lang="en-US" sz="2300" b="1" dirty="0"/>
              <a:t>Instructions:</a:t>
            </a:r>
            <a:r>
              <a:rPr lang="en-US" sz="2300" dirty="0"/>
              <a:t>  On the “IMS Catalog Space and DBD/PSB Analysis” panel, select       (DBD List).</a:t>
            </a:r>
          </a:p>
          <a:p>
            <a:pPr marL="0" indent="0">
              <a:lnSpc>
                <a:spcPct val="120000"/>
              </a:lnSpc>
              <a:spcBef>
                <a:spcPts val="600"/>
              </a:spcBef>
              <a:buNone/>
            </a:pPr>
            <a:r>
              <a:rPr lang="en-US" sz="2300" dirty="0"/>
              <a:t>The DBD list displays DBD instances in the IMS catalog and members in the IMS directory. Differences between DBD List and DBD Detail report are:</a:t>
            </a:r>
          </a:p>
          <a:p>
            <a:pPr indent="-168275">
              <a:lnSpc>
                <a:spcPct val="120000"/>
              </a:lnSpc>
              <a:spcBef>
                <a:spcPts val="300"/>
              </a:spcBef>
            </a:pPr>
            <a:r>
              <a:rPr lang="en-US" sz="2300" dirty="0"/>
              <a:t>The DBD Detail report is generated by running a batch job.</a:t>
            </a:r>
          </a:p>
          <a:p>
            <a:pPr indent="-168275">
              <a:lnSpc>
                <a:spcPct val="120000"/>
              </a:lnSpc>
              <a:spcBef>
                <a:spcPts val="300"/>
              </a:spcBef>
            </a:pPr>
            <a:r>
              <a:rPr lang="en-US" sz="2300" dirty="0"/>
              <a:t>The DBD List provides filtered selection of DBDs and displays DBD information at that point in time for only those filtered DBDs.</a:t>
            </a:r>
          </a:p>
          <a:p>
            <a:pPr marL="0" indent="0">
              <a:lnSpc>
                <a:spcPct val="120000"/>
              </a:lnSpc>
              <a:spcBef>
                <a:spcPts val="600"/>
              </a:spcBef>
              <a:buNone/>
            </a:pPr>
            <a:r>
              <a:rPr lang="en-US" sz="2300" dirty="0"/>
              <a:t>Since the DBD List displays up to 100 instances, using a filter other than “*”, as shown below, is highly recommended.</a:t>
            </a:r>
          </a:p>
          <a:p>
            <a:pPr marL="0" indent="0">
              <a:lnSpc>
                <a:spcPct val="120000"/>
              </a:lnSpc>
              <a:spcBef>
                <a:spcPts val="600"/>
              </a:spcBef>
              <a:buNone/>
            </a:pPr>
            <a:r>
              <a:rPr lang="en-US" sz="2300" dirty="0"/>
              <a:t>Option       (PSB List) works in the same way.</a:t>
            </a:r>
          </a:p>
        </p:txBody>
      </p:sp>
      <p:sp>
        <p:nvSpPr>
          <p:cNvPr id="2" name="Slide Number Placeholder 1">
            <a:extLst>
              <a:ext uri="{FF2B5EF4-FFF2-40B4-BE49-F238E27FC236}">
                <a16:creationId xmlns:a16="http://schemas.microsoft.com/office/drawing/2014/main" id="{206A9BE0-DD46-D340-FD25-B50F4ACFDFE2}"/>
              </a:ext>
            </a:extLst>
          </p:cNvPr>
          <p:cNvSpPr>
            <a:spLocks noGrp="1"/>
          </p:cNvSpPr>
          <p:nvPr>
            <p:ph type="sldNum" sz="quarter" idx="12"/>
          </p:nvPr>
        </p:nvSpPr>
        <p:spPr/>
        <p:txBody>
          <a:bodyPr/>
          <a:lstStyle/>
          <a:p>
            <a:fld id="{1C788548-AC4B-4945-A4F1-BA86477A7FC8}" type="slidenum">
              <a:rPr lang="en-US" smtClean="0"/>
              <a:t>37</a:t>
            </a:fld>
            <a:endParaRPr lang="en-US" dirty="0"/>
          </a:p>
        </p:txBody>
      </p:sp>
      <p:sp>
        <p:nvSpPr>
          <p:cNvPr id="4" name="Rectangle 3">
            <a:extLst>
              <a:ext uri="{FF2B5EF4-FFF2-40B4-BE49-F238E27FC236}">
                <a16:creationId xmlns:a16="http://schemas.microsoft.com/office/drawing/2014/main" id="{28876C07-596E-85AB-134D-D0931EC71900}"/>
              </a:ext>
            </a:extLst>
          </p:cNvPr>
          <p:cNvSpPr/>
          <p:nvPr/>
        </p:nvSpPr>
        <p:spPr>
          <a:xfrm>
            <a:off x="7130544" y="1299142"/>
            <a:ext cx="237556" cy="265162"/>
          </a:xfrm>
          <a:prstGeom prst="rect">
            <a:avLst/>
          </a:prstGeom>
          <a:solidFill>
            <a:schemeClr val="bg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2</a:t>
            </a:r>
            <a:endParaRPr lang="en-US" dirty="0">
              <a:solidFill>
                <a:schemeClr val="tx1"/>
              </a:solidFill>
            </a:endParaRPr>
          </a:p>
        </p:txBody>
      </p:sp>
      <p:sp>
        <p:nvSpPr>
          <p:cNvPr id="5" name="Rectangle 4">
            <a:extLst>
              <a:ext uri="{FF2B5EF4-FFF2-40B4-BE49-F238E27FC236}">
                <a16:creationId xmlns:a16="http://schemas.microsoft.com/office/drawing/2014/main" id="{C6821106-CFB9-AED3-023F-4C0B04947561}"/>
              </a:ext>
            </a:extLst>
          </p:cNvPr>
          <p:cNvSpPr/>
          <p:nvPr/>
        </p:nvSpPr>
        <p:spPr>
          <a:xfrm>
            <a:off x="1305338" y="3096318"/>
            <a:ext cx="237556" cy="265162"/>
          </a:xfrm>
          <a:prstGeom prst="rect">
            <a:avLst/>
          </a:prstGeom>
          <a:solidFill>
            <a:schemeClr val="bg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3</a:t>
            </a:r>
            <a:endParaRPr lang="en-US" dirty="0">
              <a:solidFill>
                <a:schemeClr val="tx1"/>
              </a:solidFill>
            </a:endParaRPr>
          </a:p>
        </p:txBody>
      </p:sp>
      <p:pic>
        <p:nvPicPr>
          <p:cNvPr id="7" name="Picture 6">
            <a:extLst>
              <a:ext uri="{FF2B5EF4-FFF2-40B4-BE49-F238E27FC236}">
                <a16:creationId xmlns:a16="http://schemas.microsoft.com/office/drawing/2014/main" id="{C7A4F7D4-1AEA-297A-2394-A5432AF3809F}"/>
              </a:ext>
            </a:extLst>
          </p:cNvPr>
          <p:cNvPicPr>
            <a:picLocks noChangeAspect="1"/>
          </p:cNvPicPr>
          <p:nvPr/>
        </p:nvPicPr>
        <p:blipFill>
          <a:blip r:embed="rId2"/>
          <a:stretch>
            <a:fillRect/>
          </a:stretch>
        </p:blipFill>
        <p:spPr>
          <a:xfrm>
            <a:off x="838200" y="3490620"/>
            <a:ext cx="5028473" cy="3230855"/>
          </a:xfrm>
          <a:prstGeom prst="rect">
            <a:avLst/>
          </a:prstGeom>
          <a:effectLst>
            <a:glow rad="63500">
              <a:schemeClr val="accent3">
                <a:satMod val="175000"/>
                <a:alpha val="40000"/>
              </a:schemeClr>
            </a:glow>
          </a:effectLst>
        </p:spPr>
      </p:pic>
      <p:cxnSp>
        <p:nvCxnSpPr>
          <p:cNvPr id="9" name="Straight Arrow Connector 8">
            <a:extLst>
              <a:ext uri="{FF2B5EF4-FFF2-40B4-BE49-F238E27FC236}">
                <a16:creationId xmlns:a16="http://schemas.microsoft.com/office/drawing/2014/main" id="{7FDAA346-6F0A-632E-8AB6-D2242BA5FB0D}"/>
              </a:ext>
            </a:extLst>
          </p:cNvPr>
          <p:cNvCxnSpPr>
            <a:cxnSpLocks/>
          </p:cNvCxnSpPr>
          <p:nvPr/>
        </p:nvCxnSpPr>
        <p:spPr>
          <a:xfrm>
            <a:off x="419870" y="3686802"/>
            <a:ext cx="354330"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pic>
        <p:nvPicPr>
          <p:cNvPr id="11" name="Picture 10">
            <a:extLst>
              <a:ext uri="{FF2B5EF4-FFF2-40B4-BE49-F238E27FC236}">
                <a16:creationId xmlns:a16="http://schemas.microsoft.com/office/drawing/2014/main" id="{AF0FB04B-08D2-7BAB-5B4B-6F35F916ED1D}"/>
              </a:ext>
            </a:extLst>
          </p:cNvPr>
          <p:cNvPicPr>
            <a:picLocks noChangeAspect="1"/>
          </p:cNvPicPr>
          <p:nvPr/>
        </p:nvPicPr>
        <p:blipFill>
          <a:blip r:embed="rId3"/>
          <a:stretch>
            <a:fillRect/>
          </a:stretch>
        </p:blipFill>
        <p:spPr>
          <a:xfrm>
            <a:off x="4998718" y="3367380"/>
            <a:ext cx="6612416" cy="2744536"/>
          </a:xfrm>
          <a:prstGeom prst="rect">
            <a:avLst/>
          </a:prstGeom>
          <a:effectLst>
            <a:glow rad="63500">
              <a:schemeClr val="accent3">
                <a:satMod val="175000"/>
                <a:alpha val="40000"/>
              </a:schemeClr>
            </a:glow>
          </a:effectLst>
        </p:spPr>
      </p:pic>
    </p:spTree>
    <p:extLst>
      <p:ext uri="{BB962C8B-B14F-4D97-AF65-F5344CB8AC3E}">
        <p14:creationId xmlns:p14="http://schemas.microsoft.com/office/powerpoint/2010/main" val="101419219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47E08336-71AB-44BF-9E1A-7442CE355F86}"/>
              </a:ext>
            </a:extLst>
          </p:cNvPr>
          <p:cNvSpPr txBox="1"/>
          <p:nvPr/>
        </p:nvSpPr>
        <p:spPr>
          <a:xfrm>
            <a:off x="1439164" y="1145664"/>
            <a:ext cx="8765540" cy="3067635"/>
          </a:xfrm>
          <a:prstGeom prst="rect">
            <a:avLst/>
          </a:prstGeom>
          <a:solidFill>
            <a:schemeClr val="bg2"/>
          </a:solidFill>
          <a:ln w="57150">
            <a:solidFill>
              <a:srgbClr val="0070C0"/>
            </a:solidFill>
          </a:ln>
        </p:spPr>
        <p:txBody>
          <a:bodyPr wrap="square" rtlCol="0">
            <a:spAutoFit/>
          </a:bodyPr>
          <a:lstStyle/>
          <a:p>
            <a:pPr algn="ctr"/>
            <a:endParaRPr lang="en-US" sz="4267" dirty="0"/>
          </a:p>
          <a:p>
            <a:pPr algn="ctr"/>
            <a:r>
              <a:rPr lang="en-US" sz="5400" b="1" dirty="0"/>
              <a:t>EXPORT DBD/PSB Object</a:t>
            </a:r>
            <a:r>
              <a:rPr lang="en-US" sz="5400" b="1" u="sng" dirty="0"/>
              <a:t>s</a:t>
            </a:r>
            <a:r>
              <a:rPr lang="en-US" sz="5400" b="1" dirty="0"/>
              <a:t> </a:t>
            </a:r>
          </a:p>
          <a:p>
            <a:pPr algn="ctr"/>
            <a:r>
              <a:rPr lang="en-US" sz="5400" dirty="0">
                <a:solidFill>
                  <a:schemeClr val="accent1"/>
                </a:solidFill>
              </a:rPr>
              <a:t>Exercise 3b </a:t>
            </a:r>
          </a:p>
          <a:p>
            <a:pPr algn="ctr"/>
            <a:endParaRPr lang="en-US" sz="4267" dirty="0"/>
          </a:p>
        </p:txBody>
      </p:sp>
      <p:sp>
        <p:nvSpPr>
          <p:cNvPr id="2" name="TextBox 1">
            <a:extLst>
              <a:ext uri="{FF2B5EF4-FFF2-40B4-BE49-F238E27FC236}">
                <a16:creationId xmlns:a16="http://schemas.microsoft.com/office/drawing/2014/main" id="{55598F32-CCA7-473F-B00E-F40564D008A6}"/>
              </a:ext>
            </a:extLst>
          </p:cNvPr>
          <p:cNvSpPr txBox="1"/>
          <p:nvPr/>
        </p:nvSpPr>
        <p:spPr>
          <a:xfrm>
            <a:off x="1200150" y="5234940"/>
            <a:ext cx="10159833" cy="923330"/>
          </a:xfrm>
          <a:prstGeom prst="rect">
            <a:avLst/>
          </a:prstGeom>
          <a:noFill/>
          <a:ln>
            <a:solidFill>
              <a:schemeClr val="accent1"/>
            </a:solidFill>
          </a:ln>
        </p:spPr>
        <p:txBody>
          <a:bodyPr wrap="none" rtlCol="0">
            <a:spAutoFit/>
          </a:bodyPr>
          <a:lstStyle/>
          <a:p>
            <a:r>
              <a:rPr lang="en-US" dirty="0"/>
              <a:t>NOTE:  This function is not the same as the IMS “EXPORT” Command which is used to create a copy </a:t>
            </a:r>
          </a:p>
          <a:p>
            <a:r>
              <a:rPr lang="en-US" dirty="0"/>
              <a:t>             of a resource definition from the repository or the DRD data sets (RDDSs).  This Admin Tool EXPORT</a:t>
            </a:r>
          </a:p>
          <a:p>
            <a:r>
              <a:rPr lang="en-US" dirty="0"/>
              <a:t>             function allows you to manage multiple objects together vs. one single object at a time.</a:t>
            </a:r>
          </a:p>
        </p:txBody>
      </p:sp>
      <p:sp>
        <p:nvSpPr>
          <p:cNvPr id="4" name="Slide Number Placeholder 3">
            <a:extLst>
              <a:ext uri="{FF2B5EF4-FFF2-40B4-BE49-F238E27FC236}">
                <a16:creationId xmlns:a16="http://schemas.microsoft.com/office/drawing/2014/main" id="{0F06F5F2-9DCA-6A36-C29F-ACF6CF6C4CB7}"/>
              </a:ext>
            </a:extLst>
          </p:cNvPr>
          <p:cNvSpPr>
            <a:spLocks noGrp="1"/>
          </p:cNvSpPr>
          <p:nvPr>
            <p:ph type="sldNum" sz="quarter" idx="12"/>
          </p:nvPr>
        </p:nvSpPr>
        <p:spPr/>
        <p:txBody>
          <a:bodyPr/>
          <a:lstStyle/>
          <a:p>
            <a:fld id="{1C788548-AC4B-4945-A4F1-BA86477A7FC8}" type="slidenum">
              <a:rPr lang="en-US" smtClean="0"/>
              <a:t>38</a:t>
            </a:fld>
            <a:endParaRPr lang="en-US"/>
          </a:p>
        </p:txBody>
      </p:sp>
    </p:spTree>
    <p:extLst>
      <p:ext uri="{BB962C8B-B14F-4D97-AF65-F5344CB8AC3E}">
        <p14:creationId xmlns:p14="http://schemas.microsoft.com/office/powerpoint/2010/main" val="115921436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116">
        <p159:morph option="byObject"/>
      </p:transition>
    </mc:Choice>
    <mc:Fallback xmlns="">
      <p:transition spd="slow" advTm="116">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mph" presetSubtype="0" fill="hold" nodeType="clickEffect">
                                  <p:stCondLst>
                                    <p:cond delay="0"/>
                                  </p:stCondLst>
                                  <p:iterate type="lt">
                                    <p:tmPct val="4000"/>
                                  </p:iterate>
                                  <p:childTnLst>
                                    <p:set>
                                      <p:cBhvr override="childStyle">
                                        <p:cTn id="6" dur="500" fill="hold"/>
                                        <p:tgtEl>
                                          <p:spTgt spid="9">
                                            <p:txEl>
                                              <p:pRg st="1" end="1"/>
                                            </p:txEl>
                                          </p:spTgt>
                                        </p:tgtEl>
                                        <p:attrNameLst>
                                          <p:attrName>style.color</p:attrName>
                                        </p:attrNameLst>
                                      </p:cBhvr>
                                      <p:to>
                                        <p:clrVal>
                                          <a:srgbClr val="FFC000"/>
                                        </p:clrVal>
                                      </p:to>
                                    </p:set>
                                    <p:set>
                                      <p:cBhvr>
                                        <p:cTn id="7" dur="500" fill="hold"/>
                                        <p:tgtEl>
                                          <p:spTgt spid="9">
                                            <p:txEl>
                                              <p:pRg st="1" end="1"/>
                                            </p:txEl>
                                          </p:spTgt>
                                        </p:tgtEl>
                                        <p:attrNameLst>
                                          <p:attrName>fillcolor</p:attrName>
                                        </p:attrNameLst>
                                      </p:cBhvr>
                                      <p:to>
                                        <p:clrVal>
                                          <a:srgbClr val="FFC000"/>
                                        </p:clrVal>
                                      </p:to>
                                    </p:set>
                                    <p:set>
                                      <p:cBhvr>
                                        <p:cTn id="8" dur="500" fill="hold"/>
                                        <p:tgtEl>
                                          <p:spTgt spid="9">
                                            <p:txEl>
                                              <p:pRg st="1" end="1"/>
                                            </p:txEl>
                                          </p:spTgt>
                                        </p:tgtEl>
                                        <p:attrNameLst>
                                          <p:attrName>fill.type</p:attrName>
                                        </p:attrNameLst>
                                      </p:cBhvr>
                                      <p:to>
                                        <p:strVal val="solid"/>
                                      </p:to>
                                    </p:set>
                                  </p:childTnLst>
                                </p:cTn>
                              </p:par>
                            </p:childTnLst>
                          </p:cTn>
                        </p:par>
                      </p:childTnLst>
                    </p:cTn>
                  </p:par>
                  <p:par>
                    <p:cTn id="9" fill="hold">
                      <p:stCondLst>
                        <p:cond delay="indefinite"/>
                      </p:stCondLst>
                      <p:childTnLst>
                        <p:par>
                          <p:cTn id="10" fill="hold">
                            <p:stCondLst>
                              <p:cond delay="0"/>
                            </p:stCondLst>
                            <p:childTnLst>
                              <p:par>
                                <p:cTn id="11" presetID="16" presetClass="emph" presetSubtype="0" fill="hold" nodeType="clickEffect">
                                  <p:stCondLst>
                                    <p:cond delay="0"/>
                                  </p:stCondLst>
                                  <p:iterate type="lt">
                                    <p:tmPct val="4000"/>
                                  </p:iterate>
                                  <p:childTnLst>
                                    <p:set>
                                      <p:cBhvr override="childStyle">
                                        <p:cTn id="12" dur="500" fill="hold"/>
                                        <p:tgtEl>
                                          <p:spTgt spid="9">
                                            <p:txEl>
                                              <p:pRg st="2" end="2"/>
                                            </p:txEl>
                                          </p:spTgt>
                                        </p:tgtEl>
                                        <p:attrNameLst>
                                          <p:attrName>style.color</p:attrName>
                                        </p:attrNameLst>
                                      </p:cBhvr>
                                      <p:to>
                                        <p:clrVal>
                                          <a:srgbClr val="FFC000"/>
                                        </p:clrVal>
                                      </p:to>
                                    </p:set>
                                    <p:set>
                                      <p:cBhvr>
                                        <p:cTn id="13" dur="500" fill="hold"/>
                                        <p:tgtEl>
                                          <p:spTgt spid="9">
                                            <p:txEl>
                                              <p:pRg st="2" end="2"/>
                                            </p:txEl>
                                          </p:spTgt>
                                        </p:tgtEl>
                                        <p:attrNameLst>
                                          <p:attrName>fillcolor</p:attrName>
                                        </p:attrNameLst>
                                      </p:cBhvr>
                                      <p:to>
                                        <p:clrVal>
                                          <a:srgbClr val="FFC000"/>
                                        </p:clrVal>
                                      </p:to>
                                    </p:set>
                                    <p:set>
                                      <p:cBhvr>
                                        <p:cTn id="14" dur="500" fill="hold"/>
                                        <p:tgtEl>
                                          <p:spTgt spid="9">
                                            <p:txEl>
                                              <p:pRg st="2" end="2"/>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6BE2C5A-14AE-9DEE-A8F3-DAA681C26182}"/>
              </a:ext>
            </a:extLst>
          </p:cNvPr>
          <p:cNvPicPr>
            <a:picLocks noChangeAspect="1"/>
          </p:cNvPicPr>
          <p:nvPr/>
        </p:nvPicPr>
        <p:blipFill>
          <a:blip r:embed="rId2"/>
          <a:stretch>
            <a:fillRect/>
          </a:stretch>
        </p:blipFill>
        <p:spPr>
          <a:xfrm>
            <a:off x="1339464" y="3550052"/>
            <a:ext cx="5235766" cy="1236994"/>
          </a:xfrm>
          <a:prstGeom prst="rect">
            <a:avLst/>
          </a:prstGeom>
          <a:effectLst>
            <a:glow rad="63500">
              <a:schemeClr val="accent3">
                <a:satMod val="175000"/>
                <a:alpha val="40000"/>
              </a:schemeClr>
            </a:glow>
          </a:effectLst>
        </p:spPr>
      </p:pic>
      <p:sp>
        <p:nvSpPr>
          <p:cNvPr id="3" name="Subtitle 2">
            <a:extLst>
              <a:ext uri="{FF2B5EF4-FFF2-40B4-BE49-F238E27FC236}">
                <a16:creationId xmlns:a16="http://schemas.microsoft.com/office/drawing/2014/main" id="{5DD04D75-5580-4918-ACD6-01E26F36A2CB}"/>
              </a:ext>
            </a:extLst>
          </p:cNvPr>
          <p:cNvSpPr>
            <a:spLocks noGrp="1"/>
          </p:cNvSpPr>
          <p:nvPr>
            <p:ph type="subTitle" idx="4294967295"/>
          </p:nvPr>
        </p:nvSpPr>
        <p:spPr>
          <a:xfrm>
            <a:off x="503809" y="226059"/>
            <a:ext cx="11337671" cy="3367126"/>
          </a:xfrm>
          <a:prstGeom prst="rect">
            <a:avLst/>
          </a:prstGeom>
        </p:spPr>
        <p:txBody>
          <a:bodyPr vert="horz" lIns="91440" tIns="45720" rIns="91440" bIns="45720" rtlCol="0" anchor="t">
            <a:normAutofit fontScale="62500" lnSpcReduction="20000"/>
          </a:bodyPr>
          <a:lstStyle/>
          <a:p>
            <a:pPr marL="0" indent="0">
              <a:lnSpc>
                <a:spcPct val="120000"/>
              </a:lnSpc>
              <a:spcBef>
                <a:spcPts val="500"/>
              </a:spcBef>
              <a:buNone/>
            </a:pPr>
            <a:r>
              <a:rPr lang="en-US" sz="3400" b="1" dirty="0">
                <a:solidFill>
                  <a:schemeClr val="accent1">
                    <a:lumMod val="75000"/>
                  </a:schemeClr>
                </a:solidFill>
              </a:rPr>
              <a:t>IMS Administration Tool ISPF LAB Exercise 3b</a:t>
            </a:r>
            <a:r>
              <a:rPr lang="en-US" sz="3000" b="1" dirty="0">
                <a:solidFill>
                  <a:schemeClr val="accent1">
                    <a:lumMod val="75000"/>
                  </a:schemeClr>
                </a:solidFill>
              </a:rPr>
              <a:t> </a:t>
            </a:r>
          </a:p>
          <a:p>
            <a:pPr marL="0" indent="0">
              <a:lnSpc>
                <a:spcPct val="120000"/>
              </a:lnSpc>
              <a:spcBef>
                <a:spcPts val="500"/>
              </a:spcBef>
              <a:buNone/>
            </a:pPr>
            <a:r>
              <a:rPr lang="en-US" sz="2600" b="1" dirty="0"/>
              <a:t>Key Feature:   IMS Catalog and Directory Management – Export </a:t>
            </a:r>
            <a:r>
              <a:rPr lang="en-US" sz="2600" b="1" u="sng" dirty="0"/>
              <a:t>Multiple</a:t>
            </a:r>
            <a:r>
              <a:rPr lang="en-US" sz="2600" b="1" dirty="0"/>
              <a:t> DBD/PSB Objects</a:t>
            </a:r>
          </a:p>
          <a:p>
            <a:pPr marL="0" indent="0">
              <a:lnSpc>
                <a:spcPct val="120000"/>
              </a:lnSpc>
              <a:spcBef>
                <a:spcPts val="500"/>
              </a:spcBef>
              <a:buNone/>
            </a:pPr>
            <a:r>
              <a:rPr lang="en-US" sz="2600" b="1" dirty="0"/>
              <a:t>Description:</a:t>
            </a:r>
            <a:r>
              <a:rPr lang="en-US" sz="2600" dirty="0"/>
              <a:t>   </a:t>
            </a:r>
            <a:r>
              <a:rPr lang="en-US" sz="2600" b="1" dirty="0"/>
              <a:t>Export multiple DBD and/or PSB Objects vs. a single object</a:t>
            </a:r>
            <a:endParaRPr lang="en-US" sz="2600" dirty="0"/>
          </a:p>
          <a:p>
            <a:pPr marL="0" indent="0">
              <a:lnSpc>
                <a:spcPct val="120000"/>
              </a:lnSpc>
              <a:spcBef>
                <a:spcPts val="500"/>
              </a:spcBef>
              <a:buNone/>
            </a:pPr>
            <a:r>
              <a:rPr lang="en-US" sz="2600" b="1" dirty="0"/>
              <a:t>Note:</a:t>
            </a:r>
            <a:r>
              <a:rPr lang="en-US" sz="2600" dirty="0"/>
              <a:t>  This function is not the same as the IMS “EXPORT” Command which is used to create a copy of a resource definition from the repository or the DRD data sets (RDDSs).</a:t>
            </a:r>
            <a:r>
              <a:rPr lang="en-US" sz="2600" dirty="0">
                <a:latin typeface="+mj-lt"/>
              </a:rPr>
              <a:t> </a:t>
            </a:r>
          </a:p>
          <a:p>
            <a:pPr marL="0" indent="0">
              <a:lnSpc>
                <a:spcPct val="120000"/>
              </a:lnSpc>
              <a:spcBef>
                <a:spcPts val="500"/>
              </a:spcBef>
              <a:buNone/>
            </a:pPr>
            <a:r>
              <a:rPr lang="en-US" sz="2600" b="1" dirty="0"/>
              <a:t>Instructions:</a:t>
            </a:r>
            <a:r>
              <a:rPr lang="en-US" sz="2600" dirty="0"/>
              <a:t>   From the “</a:t>
            </a:r>
            <a:r>
              <a:rPr lang="en-US" sz="2600" b="1" dirty="0"/>
              <a:t>IMS Catalog and Directory Management</a:t>
            </a:r>
            <a:r>
              <a:rPr lang="en-US" sz="2600" dirty="0"/>
              <a:t>” menu, </a:t>
            </a:r>
          </a:p>
          <a:p>
            <a:pPr marL="396875" indent="-284163">
              <a:lnSpc>
                <a:spcPct val="120000"/>
              </a:lnSpc>
              <a:spcBef>
                <a:spcPts val="0"/>
              </a:spcBef>
              <a:buAutoNum type="arabicPeriod"/>
            </a:pPr>
            <a:r>
              <a:rPr lang="en-US" sz="2600" dirty="0"/>
              <a:t>Select Option        (Export Objects) and Press Enter.</a:t>
            </a:r>
          </a:p>
          <a:p>
            <a:pPr marL="396875" indent="-284163">
              <a:lnSpc>
                <a:spcPct val="120000"/>
              </a:lnSpc>
              <a:spcBef>
                <a:spcPts val="0"/>
              </a:spcBef>
              <a:buAutoNum type="arabicPeriod"/>
            </a:pPr>
            <a:r>
              <a:rPr lang="en-US" sz="2600" dirty="0"/>
              <a:t>Then, when you are presented with a list of IMSIDs, Select “</a:t>
            </a:r>
            <a:r>
              <a:rPr lang="en-US" sz="2600" dirty="0">
                <a:highlight>
                  <a:srgbClr val="FFFF00"/>
                </a:highlight>
              </a:rPr>
              <a:t>IVP1</a:t>
            </a:r>
            <a:r>
              <a:rPr lang="en-US" sz="2600" dirty="0"/>
              <a:t>”, and press Enter. </a:t>
            </a:r>
          </a:p>
          <a:p>
            <a:pPr marL="396875" indent="-284163">
              <a:lnSpc>
                <a:spcPct val="120000"/>
              </a:lnSpc>
              <a:spcBef>
                <a:spcPts val="0"/>
              </a:spcBef>
              <a:buAutoNum type="arabicPeriod"/>
            </a:pPr>
            <a:r>
              <a:rPr lang="en-US" sz="2600" dirty="0"/>
              <a:t>Next, supply the Export Objects Information (as indicated below) and press Enter. </a:t>
            </a:r>
          </a:p>
          <a:p>
            <a:pPr marL="396875" indent="-284163">
              <a:lnSpc>
                <a:spcPct val="120000"/>
              </a:lnSpc>
              <a:spcBef>
                <a:spcPts val="0"/>
              </a:spcBef>
              <a:buAutoNum type="arabicPeriod"/>
            </a:pPr>
            <a:r>
              <a:rPr lang="en-US" sz="2600" dirty="0"/>
              <a:t>Then, if you are presented with an “Export Data Set Allocation” panel, specify “Y” to have the data sets allocated.</a:t>
            </a:r>
            <a:br>
              <a:rPr lang="en-US" sz="2600" dirty="0"/>
            </a:br>
            <a:r>
              <a:rPr lang="en-US" sz="2600" dirty="0"/>
              <a:t>Also, if you are prompted to overwrite a data set, specify “Y”.</a:t>
            </a:r>
            <a:r>
              <a:rPr lang="en-US" sz="2600" dirty="0">
                <a:latin typeface="+mj-lt"/>
              </a:rPr>
              <a:t>				</a:t>
            </a:r>
          </a:p>
        </p:txBody>
      </p:sp>
      <p:cxnSp>
        <p:nvCxnSpPr>
          <p:cNvPr id="7" name="Straight Arrow Connector 6">
            <a:extLst>
              <a:ext uri="{FF2B5EF4-FFF2-40B4-BE49-F238E27FC236}">
                <a16:creationId xmlns:a16="http://schemas.microsoft.com/office/drawing/2014/main" id="{3BD62DBA-A119-4885-877C-4F36817C284D}"/>
              </a:ext>
            </a:extLst>
          </p:cNvPr>
          <p:cNvCxnSpPr>
            <a:cxnSpLocks/>
          </p:cNvCxnSpPr>
          <p:nvPr/>
        </p:nvCxnSpPr>
        <p:spPr>
          <a:xfrm>
            <a:off x="878105" y="3740844"/>
            <a:ext cx="414528"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138A2137-0309-4BCD-9EBC-8414B2406D8A}"/>
              </a:ext>
            </a:extLst>
          </p:cNvPr>
          <p:cNvSpPr/>
          <p:nvPr/>
        </p:nvSpPr>
        <p:spPr>
          <a:xfrm>
            <a:off x="2173674" y="2085513"/>
            <a:ext cx="224469" cy="191861"/>
          </a:xfrm>
          <a:prstGeom prst="rect">
            <a:avLst/>
          </a:prstGeom>
          <a:solidFill>
            <a:schemeClr val="bg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2</a:t>
            </a:r>
            <a:endParaRPr lang="en-US" dirty="0">
              <a:solidFill>
                <a:schemeClr val="tx1"/>
              </a:solidFill>
            </a:endParaRPr>
          </a:p>
        </p:txBody>
      </p:sp>
      <p:sp>
        <p:nvSpPr>
          <p:cNvPr id="2" name="Slide Number Placeholder 1">
            <a:extLst>
              <a:ext uri="{FF2B5EF4-FFF2-40B4-BE49-F238E27FC236}">
                <a16:creationId xmlns:a16="http://schemas.microsoft.com/office/drawing/2014/main" id="{63FC96D9-67A5-14F5-C147-84B6C07E8459}"/>
              </a:ext>
            </a:extLst>
          </p:cNvPr>
          <p:cNvSpPr>
            <a:spLocks noGrp="1"/>
          </p:cNvSpPr>
          <p:nvPr>
            <p:ph type="sldNum" sz="quarter" idx="12"/>
          </p:nvPr>
        </p:nvSpPr>
        <p:spPr/>
        <p:txBody>
          <a:bodyPr/>
          <a:lstStyle/>
          <a:p>
            <a:fld id="{1C788548-AC4B-4945-A4F1-BA86477A7FC8}" type="slidenum">
              <a:rPr lang="en-US" smtClean="0"/>
              <a:t>39</a:t>
            </a:fld>
            <a:endParaRPr lang="en-US"/>
          </a:p>
        </p:txBody>
      </p:sp>
      <p:pic>
        <p:nvPicPr>
          <p:cNvPr id="11" name="Picture 10">
            <a:extLst>
              <a:ext uri="{FF2B5EF4-FFF2-40B4-BE49-F238E27FC236}">
                <a16:creationId xmlns:a16="http://schemas.microsoft.com/office/drawing/2014/main" id="{FA3597CA-374A-F395-FC9A-4B8C0D61A97A}"/>
              </a:ext>
            </a:extLst>
          </p:cNvPr>
          <p:cNvPicPr>
            <a:picLocks noChangeAspect="1"/>
          </p:cNvPicPr>
          <p:nvPr/>
        </p:nvPicPr>
        <p:blipFill>
          <a:blip r:embed="rId3"/>
          <a:stretch>
            <a:fillRect/>
          </a:stretch>
        </p:blipFill>
        <p:spPr>
          <a:xfrm>
            <a:off x="3394117" y="3740844"/>
            <a:ext cx="4235597" cy="2703572"/>
          </a:xfrm>
          <a:prstGeom prst="rect">
            <a:avLst/>
          </a:prstGeom>
          <a:effectLst>
            <a:glow rad="63500">
              <a:schemeClr val="accent3">
                <a:satMod val="175000"/>
                <a:alpha val="40000"/>
              </a:schemeClr>
            </a:glow>
          </a:effectLst>
        </p:spPr>
      </p:pic>
      <p:cxnSp>
        <p:nvCxnSpPr>
          <p:cNvPr id="6" name="Straight Arrow Connector 5">
            <a:extLst>
              <a:ext uri="{FF2B5EF4-FFF2-40B4-BE49-F238E27FC236}">
                <a16:creationId xmlns:a16="http://schemas.microsoft.com/office/drawing/2014/main" id="{92C96412-B8C2-C812-C7AB-E8A76835A0BD}"/>
              </a:ext>
            </a:extLst>
          </p:cNvPr>
          <p:cNvCxnSpPr>
            <a:cxnSpLocks/>
          </p:cNvCxnSpPr>
          <p:nvPr/>
        </p:nvCxnSpPr>
        <p:spPr>
          <a:xfrm>
            <a:off x="4007410" y="5223926"/>
            <a:ext cx="414528"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pic>
        <p:nvPicPr>
          <p:cNvPr id="13" name="Picture 12">
            <a:extLst>
              <a:ext uri="{FF2B5EF4-FFF2-40B4-BE49-F238E27FC236}">
                <a16:creationId xmlns:a16="http://schemas.microsoft.com/office/drawing/2014/main" id="{D675431E-56C6-E334-42B4-AA32AF1A2B61}"/>
              </a:ext>
            </a:extLst>
          </p:cNvPr>
          <p:cNvPicPr>
            <a:picLocks noChangeAspect="1"/>
          </p:cNvPicPr>
          <p:nvPr/>
        </p:nvPicPr>
        <p:blipFill>
          <a:blip r:embed="rId4"/>
          <a:stretch>
            <a:fillRect/>
          </a:stretch>
        </p:blipFill>
        <p:spPr>
          <a:xfrm>
            <a:off x="6444588" y="3221683"/>
            <a:ext cx="4939402" cy="3186557"/>
          </a:xfrm>
          <a:prstGeom prst="rect">
            <a:avLst/>
          </a:prstGeom>
          <a:effectLst>
            <a:glow rad="63500">
              <a:schemeClr val="accent3">
                <a:satMod val="175000"/>
                <a:alpha val="40000"/>
              </a:schemeClr>
            </a:glow>
          </a:effectLst>
        </p:spPr>
      </p:pic>
    </p:spTree>
    <p:extLst>
      <p:ext uri="{BB962C8B-B14F-4D97-AF65-F5344CB8AC3E}">
        <p14:creationId xmlns:p14="http://schemas.microsoft.com/office/powerpoint/2010/main" val="112166152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5DD04D75-5580-4918-ACD6-01E26F36A2CB}"/>
              </a:ext>
            </a:extLst>
          </p:cNvPr>
          <p:cNvSpPr>
            <a:spLocks noGrp="1"/>
          </p:cNvSpPr>
          <p:nvPr>
            <p:ph type="subTitle" idx="4294967295"/>
          </p:nvPr>
        </p:nvSpPr>
        <p:spPr>
          <a:xfrm>
            <a:off x="503809" y="226060"/>
            <a:ext cx="10937621" cy="6209246"/>
          </a:xfrm>
          <a:prstGeom prst="rect">
            <a:avLst/>
          </a:prstGeom>
        </p:spPr>
        <p:txBody>
          <a:bodyPr vert="horz" lIns="91440" tIns="45720" rIns="91440" bIns="45720" rtlCol="0" anchor="t">
            <a:normAutofit fontScale="62500" lnSpcReduction="20000"/>
          </a:bodyPr>
          <a:lstStyle/>
          <a:p>
            <a:pPr marL="0" indent="0">
              <a:lnSpc>
                <a:spcPct val="120000"/>
              </a:lnSpc>
              <a:spcBef>
                <a:spcPts val="600"/>
              </a:spcBef>
              <a:buNone/>
            </a:pPr>
            <a:r>
              <a:rPr lang="en-US" sz="3800" b="1" dirty="0">
                <a:solidFill>
                  <a:schemeClr val="accent1">
                    <a:lumMod val="75000"/>
                  </a:schemeClr>
                </a:solidFill>
              </a:rPr>
              <a:t>IMS Administration Tool ISPF LAB Exercise 3b </a:t>
            </a:r>
          </a:p>
          <a:p>
            <a:pPr marL="0" indent="0">
              <a:lnSpc>
                <a:spcPct val="120000"/>
              </a:lnSpc>
              <a:spcBef>
                <a:spcPts val="600"/>
              </a:spcBef>
              <a:buNone/>
            </a:pPr>
            <a:r>
              <a:rPr lang="en-US" sz="2600" b="1" dirty="0"/>
              <a:t>Key Feature:   IMS Catalog and Directory Management – Export Multiple DBD/PSB Objects (cont’d)</a:t>
            </a:r>
          </a:p>
          <a:p>
            <a:pPr marL="0" indent="0">
              <a:lnSpc>
                <a:spcPct val="120000"/>
              </a:lnSpc>
              <a:spcBef>
                <a:spcPts val="600"/>
              </a:spcBef>
              <a:buNone/>
            </a:pPr>
            <a:r>
              <a:rPr lang="en-US" sz="2600" b="1" dirty="0"/>
              <a:t>Description:</a:t>
            </a:r>
            <a:r>
              <a:rPr lang="en-US" sz="2600" dirty="0"/>
              <a:t>   </a:t>
            </a:r>
            <a:r>
              <a:rPr lang="en-US" sz="2600" b="1" dirty="0"/>
              <a:t>Export multiple DBD and/or PSB Objects</a:t>
            </a:r>
          </a:p>
          <a:p>
            <a:pPr marL="0" indent="0">
              <a:lnSpc>
                <a:spcPct val="120000"/>
              </a:lnSpc>
              <a:spcBef>
                <a:spcPts val="600"/>
              </a:spcBef>
              <a:buNone/>
            </a:pPr>
            <a:r>
              <a:rPr lang="en-US" sz="2600" b="1" dirty="0"/>
              <a:t>Instructions:</a:t>
            </a:r>
            <a:r>
              <a:rPr lang="en-US" sz="2600" dirty="0"/>
              <a:t>  </a:t>
            </a:r>
            <a:r>
              <a:rPr lang="en-US" sz="2900" dirty="0"/>
              <a:t> You should now see the generated JCL.</a:t>
            </a:r>
          </a:p>
          <a:p>
            <a:pPr marL="396875" indent="-284163">
              <a:lnSpc>
                <a:spcPct val="120000"/>
              </a:lnSpc>
              <a:spcBef>
                <a:spcPts val="300"/>
              </a:spcBef>
              <a:buAutoNum type="arabicPeriod"/>
            </a:pPr>
            <a:r>
              <a:rPr lang="en-US" sz="2900" dirty="0"/>
              <a:t>Type “SAVE” on the command line to save the JCL, then Press F3.</a:t>
            </a:r>
          </a:p>
          <a:p>
            <a:pPr marL="396875" indent="-284163">
              <a:lnSpc>
                <a:spcPct val="120000"/>
              </a:lnSpc>
              <a:spcBef>
                <a:spcPts val="300"/>
              </a:spcBef>
              <a:buAutoNum type="arabicPeriod"/>
            </a:pPr>
            <a:r>
              <a:rPr lang="en-US" sz="2900" dirty="0"/>
              <a:t>You will be asked if you want to Submit the JCL, so specify “Y” and press Enter.</a:t>
            </a:r>
          </a:p>
          <a:p>
            <a:pPr marL="396875" indent="-284163">
              <a:lnSpc>
                <a:spcPct val="120000"/>
              </a:lnSpc>
              <a:spcBef>
                <a:spcPts val="300"/>
              </a:spcBef>
              <a:buAutoNum type="arabicPeriod"/>
            </a:pPr>
            <a:r>
              <a:rPr lang="en-US" sz="2900" dirty="0"/>
              <a:t>You will be returned to the “Export Object” panel with a message at the bottom indicating that your job has been submitted.</a:t>
            </a:r>
          </a:p>
          <a:p>
            <a:pPr marL="396875" indent="-284163">
              <a:lnSpc>
                <a:spcPct val="120000"/>
              </a:lnSpc>
              <a:spcBef>
                <a:spcPts val="300"/>
              </a:spcBef>
              <a:buAutoNum type="arabicPeriod"/>
            </a:pPr>
            <a:r>
              <a:rPr lang="en-US" sz="2900" dirty="0"/>
              <a:t>After you get the notification that your job has</a:t>
            </a:r>
            <a:br>
              <a:rPr lang="en-US" sz="2900" dirty="0"/>
            </a:br>
            <a:r>
              <a:rPr lang="en-US" sz="2900" dirty="0"/>
              <a:t>completed, you can view your job in SDSF.</a:t>
            </a:r>
            <a:br>
              <a:rPr lang="en-US" sz="2900" dirty="0"/>
            </a:br>
            <a:r>
              <a:rPr lang="en-US" sz="2900" dirty="0"/>
              <a:t>Enter the following command:</a:t>
            </a:r>
          </a:p>
          <a:p>
            <a:pPr marL="569912" lvl="1" indent="0">
              <a:lnSpc>
                <a:spcPct val="120000"/>
              </a:lnSpc>
              <a:spcBef>
                <a:spcPts val="300"/>
              </a:spcBef>
              <a:buNone/>
            </a:pPr>
            <a:r>
              <a:rPr lang="en-US" sz="2900" dirty="0"/>
              <a:t>START S.O;PREFIX EXPORT*</a:t>
            </a:r>
          </a:p>
          <a:p>
            <a:pPr marL="396875" lvl="1" indent="0">
              <a:lnSpc>
                <a:spcPct val="120000"/>
              </a:lnSpc>
              <a:spcBef>
                <a:spcPts val="300"/>
              </a:spcBef>
              <a:buNone/>
            </a:pPr>
            <a:r>
              <a:rPr lang="en-US" sz="2900" dirty="0"/>
              <a:t>You can switch logical screens by entering PF9.</a:t>
            </a:r>
          </a:p>
          <a:p>
            <a:pPr marL="396875" lvl="1" indent="-284163">
              <a:lnSpc>
                <a:spcPct val="120000"/>
              </a:lnSpc>
              <a:spcBef>
                <a:spcPts val="300"/>
              </a:spcBef>
              <a:buFont typeface="+mj-lt"/>
              <a:buAutoNum type="arabicPeriod" startAt="5"/>
            </a:pPr>
            <a:r>
              <a:rPr lang="en-US" sz="2900" dirty="0"/>
              <a:t>Enter the following command to see the exported</a:t>
            </a:r>
            <a:br>
              <a:rPr lang="en-US" sz="2900" dirty="0"/>
            </a:br>
            <a:r>
              <a:rPr lang="en-US" sz="2900" dirty="0"/>
              <a:t>DBDs and PSBs by using ISPF Data Set List Utility</a:t>
            </a:r>
            <a:br>
              <a:rPr lang="en-US" sz="2900" dirty="0"/>
            </a:br>
            <a:r>
              <a:rPr lang="en-US" sz="2900" dirty="0"/>
              <a:t>panel:</a:t>
            </a:r>
          </a:p>
          <a:p>
            <a:pPr marL="569912" lvl="2" indent="0">
              <a:lnSpc>
                <a:spcPct val="120000"/>
              </a:lnSpc>
              <a:spcBef>
                <a:spcPts val="300"/>
              </a:spcBef>
              <a:buNone/>
            </a:pPr>
            <a:r>
              <a:rPr lang="en-US" sz="2900" dirty="0"/>
              <a:t>START 3.4</a:t>
            </a:r>
            <a:endParaRPr lang="en-US" sz="2500" dirty="0"/>
          </a:p>
          <a:p>
            <a:pPr marL="396875" lvl="2" indent="0">
              <a:lnSpc>
                <a:spcPct val="120000"/>
              </a:lnSpc>
              <a:spcBef>
                <a:spcPts val="300"/>
              </a:spcBef>
              <a:buNone/>
            </a:pPr>
            <a:r>
              <a:rPr lang="en-US" sz="2900" dirty="0"/>
              <a:t>Output data sets are </a:t>
            </a:r>
            <a:r>
              <a:rPr lang="en-US" sz="2900" dirty="0">
                <a:latin typeface="Consolas" panose="020B0609020204030204" pitchFamily="49" charset="0"/>
              </a:rPr>
              <a:t>DMID01.IVP1.EXPORT.*</a:t>
            </a:r>
            <a:r>
              <a:rPr lang="en-US" sz="2900" dirty="0"/>
              <a:t>.</a:t>
            </a:r>
          </a:p>
          <a:p>
            <a:pPr marL="396875" lvl="2" indent="0">
              <a:lnSpc>
                <a:spcPct val="120000"/>
              </a:lnSpc>
              <a:spcBef>
                <a:spcPts val="300"/>
              </a:spcBef>
              <a:buNone/>
            </a:pPr>
            <a:r>
              <a:rPr lang="en-US" sz="2900" dirty="0"/>
              <a:t>You can switch logical screens by entering PF9.</a:t>
            </a:r>
            <a:endParaRPr lang="en-US" sz="2600" dirty="0"/>
          </a:p>
          <a:p>
            <a:pPr marL="396875" lvl="1" indent="-284163">
              <a:lnSpc>
                <a:spcPct val="120000"/>
              </a:lnSpc>
              <a:spcBef>
                <a:spcPts val="600"/>
              </a:spcBef>
              <a:buFont typeface="+mj-lt"/>
              <a:buAutoNum type="arabicPeriod" startAt="5"/>
            </a:pPr>
            <a:endParaRPr lang="en-US" sz="2300" dirty="0"/>
          </a:p>
        </p:txBody>
      </p:sp>
      <p:sp>
        <p:nvSpPr>
          <p:cNvPr id="2" name="Slide Number Placeholder 1">
            <a:extLst>
              <a:ext uri="{FF2B5EF4-FFF2-40B4-BE49-F238E27FC236}">
                <a16:creationId xmlns:a16="http://schemas.microsoft.com/office/drawing/2014/main" id="{372ED569-2FBE-2486-8F70-61979CE70BBA}"/>
              </a:ext>
            </a:extLst>
          </p:cNvPr>
          <p:cNvSpPr>
            <a:spLocks noGrp="1"/>
          </p:cNvSpPr>
          <p:nvPr>
            <p:ph type="sldNum" sz="quarter" idx="12"/>
          </p:nvPr>
        </p:nvSpPr>
        <p:spPr/>
        <p:txBody>
          <a:bodyPr/>
          <a:lstStyle/>
          <a:p>
            <a:fld id="{1C788548-AC4B-4945-A4F1-BA86477A7FC8}" type="slidenum">
              <a:rPr lang="en-US" smtClean="0"/>
              <a:t>40</a:t>
            </a:fld>
            <a:endParaRPr lang="en-US"/>
          </a:p>
        </p:txBody>
      </p:sp>
      <p:pic>
        <p:nvPicPr>
          <p:cNvPr id="6" name="Picture 5">
            <a:extLst>
              <a:ext uri="{FF2B5EF4-FFF2-40B4-BE49-F238E27FC236}">
                <a16:creationId xmlns:a16="http://schemas.microsoft.com/office/drawing/2014/main" id="{44203FCE-C701-23A7-01AA-149B71C46DAA}"/>
              </a:ext>
            </a:extLst>
          </p:cNvPr>
          <p:cNvPicPr>
            <a:picLocks noChangeAspect="1"/>
          </p:cNvPicPr>
          <p:nvPr/>
        </p:nvPicPr>
        <p:blipFill>
          <a:blip r:embed="rId2"/>
          <a:stretch>
            <a:fillRect/>
          </a:stretch>
        </p:blipFill>
        <p:spPr>
          <a:xfrm>
            <a:off x="5746513" y="2754006"/>
            <a:ext cx="5023615" cy="3240572"/>
          </a:xfrm>
          <a:prstGeom prst="rect">
            <a:avLst/>
          </a:prstGeom>
          <a:effectLst>
            <a:glow rad="63500">
              <a:schemeClr val="accent3">
                <a:satMod val="175000"/>
                <a:alpha val="40000"/>
              </a:schemeClr>
            </a:glow>
          </a:effectLst>
        </p:spPr>
      </p:pic>
      <p:pic>
        <p:nvPicPr>
          <p:cNvPr id="8" name="Picture 7">
            <a:extLst>
              <a:ext uri="{FF2B5EF4-FFF2-40B4-BE49-F238E27FC236}">
                <a16:creationId xmlns:a16="http://schemas.microsoft.com/office/drawing/2014/main" id="{619DA53C-B35A-B2B2-5256-7F0682F7B2B3}"/>
              </a:ext>
            </a:extLst>
          </p:cNvPr>
          <p:cNvPicPr>
            <a:picLocks noChangeAspect="1"/>
          </p:cNvPicPr>
          <p:nvPr/>
        </p:nvPicPr>
        <p:blipFill>
          <a:blip r:embed="rId3"/>
          <a:stretch>
            <a:fillRect/>
          </a:stretch>
        </p:blipFill>
        <p:spPr>
          <a:xfrm>
            <a:off x="8125449" y="4211126"/>
            <a:ext cx="3750325" cy="1371982"/>
          </a:xfrm>
          <a:prstGeom prst="rect">
            <a:avLst/>
          </a:prstGeom>
          <a:effectLst>
            <a:glow rad="63500">
              <a:schemeClr val="accent3">
                <a:satMod val="175000"/>
                <a:alpha val="40000"/>
              </a:schemeClr>
            </a:glow>
          </a:effectLst>
        </p:spPr>
      </p:pic>
    </p:spTree>
    <p:extLst>
      <p:ext uri="{BB962C8B-B14F-4D97-AF65-F5344CB8AC3E}">
        <p14:creationId xmlns:p14="http://schemas.microsoft.com/office/powerpoint/2010/main" val="115011247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47E08336-71AB-44BF-9E1A-7442CE355F86}"/>
              </a:ext>
            </a:extLst>
          </p:cNvPr>
          <p:cNvSpPr txBox="1"/>
          <p:nvPr/>
        </p:nvSpPr>
        <p:spPr>
          <a:xfrm>
            <a:off x="1439164" y="1145664"/>
            <a:ext cx="8765540" cy="3067635"/>
          </a:xfrm>
          <a:prstGeom prst="rect">
            <a:avLst/>
          </a:prstGeom>
          <a:solidFill>
            <a:schemeClr val="bg2"/>
          </a:solidFill>
          <a:ln w="57150">
            <a:solidFill>
              <a:srgbClr val="0070C0"/>
            </a:solidFill>
          </a:ln>
        </p:spPr>
        <p:txBody>
          <a:bodyPr wrap="square" rtlCol="0">
            <a:spAutoFit/>
          </a:bodyPr>
          <a:lstStyle/>
          <a:p>
            <a:pPr algn="ctr"/>
            <a:endParaRPr lang="en-US" sz="4267" dirty="0"/>
          </a:p>
          <a:p>
            <a:pPr algn="ctr"/>
            <a:r>
              <a:rPr lang="en-US" sz="5400" b="1" dirty="0"/>
              <a:t>IMPORT DBD/PSB Object</a:t>
            </a:r>
            <a:r>
              <a:rPr lang="en-US" sz="5400" b="1" u="sng" dirty="0"/>
              <a:t>s</a:t>
            </a:r>
            <a:r>
              <a:rPr lang="en-US" sz="5400" b="1" dirty="0"/>
              <a:t> </a:t>
            </a:r>
          </a:p>
          <a:p>
            <a:pPr algn="ctr"/>
            <a:r>
              <a:rPr lang="en-US" sz="5400" dirty="0">
                <a:solidFill>
                  <a:schemeClr val="accent1"/>
                </a:solidFill>
              </a:rPr>
              <a:t>Exercise 3c </a:t>
            </a:r>
          </a:p>
          <a:p>
            <a:pPr algn="ctr"/>
            <a:endParaRPr lang="en-US" sz="4267" dirty="0"/>
          </a:p>
        </p:txBody>
      </p:sp>
      <p:sp>
        <p:nvSpPr>
          <p:cNvPr id="4" name="TextBox 3">
            <a:extLst>
              <a:ext uri="{FF2B5EF4-FFF2-40B4-BE49-F238E27FC236}">
                <a16:creationId xmlns:a16="http://schemas.microsoft.com/office/drawing/2014/main" id="{BC647E0F-544D-49C2-A63C-919FBD53BD8F}"/>
              </a:ext>
            </a:extLst>
          </p:cNvPr>
          <p:cNvSpPr txBox="1"/>
          <p:nvPr/>
        </p:nvSpPr>
        <p:spPr>
          <a:xfrm>
            <a:off x="1200150" y="5234940"/>
            <a:ext cx="9586855" cy="923330"/>
          </a:xfrm>
          <a:prstGeom prst="rect">
            <a:avLst/>
          </a:prstGeom>
          <a:noFill/>
          <a:ln>
            <a:solidFill>
              <a:schemeClr val="accent1"/>
            </a:solidFill>
          </a:ln>
        </p:spPr>
        <p:txBody>
          <a:bodyPr wrap="none" rtlCol="0">
            <a:spAutoFit/>
          </a:bodyPr>
          <a:lstStyle/>
          <a:p>
            <a:r>
              <a:rPr lang="en-US" dirty="0"/>
              <a:t>NOTE:  This function is not the same as the IMS “IMPORT” Command which is used to update </a:t>
            </a:r>
          </a:p>
          <a:p>
            <a:r>
              <a:rPr lang="en-US" dirty="0"/>
              <a:t>             the IMS Catalog “ACTIVE” data sets.  This Admin Tool IMPORT function allows you to manage </a:t>
            </a:r>
          </a:p>
          <a:p>
            <a:r>
              <a:rPr lang="en-US" dirty="0"/>
              <a:t>             multiple objects together vs. one single object at a time.</a:t>
            </a:r>
          </a:p>
        </p:txBody>
      </p:sp>
      <p:sp>
        <p:nvSpPr>
          <p:cNvPr id="3" name="Slide Number Placeholder 2">
            <a:extLst>
              <a:ext uri="{FF2B5EF4-FFF2-40B4-BE49-F238E27FC236}">
                <a16:creationId xmlns:a16="http://schemas.microsoft.com/office/drawing/2014/main" id="{0BDBD243-E131-860B-7185-C05F91C2574A}"/>
              </a:ext>
            </a:extLst>
          </p:cNvPr>
          <p:cNvSpPr>
            <a:spLocks noGrp="1"/>
          </p:cNvSpPr>
          <p:nvPr>
            <p:ph type="sldNum" sz="quarter" idx="12"/>
          </p:nvPr>
        </p:nvSpPr>
        <p:spPr/>
        <p:txBody>
          <a:bodyPr/>
          <a:lstStyle/>
          <a:p>
            <a:fld id="{1C788548-AC4B-4945-A4F1-BA86477A7FC8}" type="slidenum">
              <a:rPr lang="en-US" smtClean="0"/>
              <a:t>41</a:t>
            </a:fld>
            <a:endParaRPr lang="en-US"/>
          </a:p>
        </p:txBody>
      </p:sp>
    </p:spTree>
    <p:extLst>
      <p:ext uri="{BB962C8B-B14F-4D97-AF65-F5344CB8AC3E}">
        <p14:creationId xmlns:p14="http://schemas.microsoft.com/office/powerpoint/2010/main" val="109013380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116">
        <p159:morph option="byObject"/>
      </p:transition>
    </mc:Choice>
    <mc:Fallback xmlns="">
      <p:transition spd="slow" advTm="116">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mph" presetSubtype="0" fill="hold" nodeType="clickEffect">
                                  <p:stCondLst>
                                    <p:cond delay="0"/>
                                  </p:stCondLst>
                                  <p:iterate type="lt">
                                    <p:tmPct val="4000"/>
                                  </p:iterate>
                                  <p:childTnLst>
                                    <p:set>
                                      <p:cBhvr override="childStyle">
                                        <p:cTn id="6" dur="500" fill="hold"/>
                                        <p:tgtEl>
                                          <p:spTgt spid="9">
                                            <p:txEl>
                                              <p:pRg st="1" end="1"/>
                                            </p:txEl>
                                          </p:spTgt>
                                        </p:tgtEl>
                                        <p:attrNameLst>
                                          <p:attrName>style.color</p:attrName>
                                        </p:attrNameLst>
                                      </p:cBhvr>
                                      <p:to>
                                        <p:clrVal>
                                          <a:srgbClr val="FFC000"/>
                                        </p:clrVal>
                                      </p:to>
                                    </p:set>
                                    <p:set>
                                      <p:cBhvr>
                                        <p:cTn id="7" dur="500" fill="hold"/>
                                        <p:tgtEl>
                                          <p:spTgt spid="9">
                                            <p:txEl>
                                              <p:pRg st="1" end="1"/>
                                            </p:txEl>
                                          </p:spTgt>
                                        </p:tgtEl>
                                        <p:attrNameLst>
                                          <p:attrName>fillcolor</p:attrName>
                                        </p:attrNameLst>
                                      </p:cBhvr>
                                      <p:to>
                                        <p:clrVal>
                                          <a:srgbClr val="FFC000"/>
                                        </p:clrVal>
                                      </p:to>
                                    </p:set>
                                    <p:set>
                                      <p:cBhvr>
                                        <p:cTn id="8" dur="500" fill="hold"/>
                                        <p:tgtEl>
                                          <p:spTgt spid="9">
                                            <p:txEl>
                                              <p:pRg st="1" end="1"/>
                                            </p:txEl>
                                          </p:spTgt>
                                        </p:tgtEl>
                                        <p:attrNameLst>
                                          <p:attrName>fill.type</p:attrName>
                                        </p:attrNameLst>
                                      </p:cBhvr>
                                      <p:to>
                                        <p:strVal val="solid"/>
                                      </p:to>
                                    </p:set>
                                  </p:childTnLst>
                                </p:cTn>
                              </p:par>
                            </p:childTnLst>
                          </p:cTn>
                        </p:par>
                      </p:childTnLst>
                    </p:cTn>
                  </p:par>
                  <p:par>
                    <p:cTn id="9" fill="hold">
                      <p:stCondLst>
                        <p:cond delay="indefinite"/>
                      </p:stCondLst>
                      <p:childTnLst>
                        <p:par>
                          <p:cTn id="10" fill="hold">
                            <p:stCondLst>
                              <p:cond delay="0"/>
                            </p:stCondLst>
                            <p:childTnLst>
                              <p:par>
                                <p:cTn id="11" presetID="16" presetClass="emph" presetSubtype="0" fill="hold" nodeType="clickEffect">
                                  <p:stCondLst>
                                    <p:cond delay="0"/>
                                  </p:stCondLst>
                                  <p:iterate type="lt">
                                    <p:tmPct val="4000"/>
                                  </p:iterate>
                                  <p:childTnLst>
                                    <p:set>
                                      <p:cBhvr override="childStyle">
                                        <p:cTn id="12" dur="500" fill="hold"/>
                                        <p:tgtEl>
                                          <p:spTgt spid="9">
                                            <p:txEl>
                                              <p:pRg st="2" end="2"/>
                                            </p:txEl>
                                          </p:spTgt>
                                        </p:tgtEl>
                                        <p:attrNameLst>
                                          <p:attrName>style.color</p:attrName>
                                        </p:attrNameLst>
                                      </p:cBhvr>
                                      <p:to>
                                        <p:clrVal>
                                          <a:srgbClr val="FFC000"/>
                                        </p:clrVal>
                                      </p:to>
                                    </p:set>
                                    <p:set>
                                      <p:cBhvr>
                                        <p:cTn id="13" dur="500" fill="hold"/>
                                        <p:tgtEl>
                                          <p:spTgt spid="9">
                                            <p:txEl>
                                              <p:pRg st="2" end="2"/>
                                            </p:txEl>
                                          </p:spTgt>
                                        </p:tgtEl>
                                        <p:attrNameLst>
                                          <p:attrName>fillcolor</p:attrName>
                                        </p:attrNameLst>
                                      </p:cBhvr>
                                      <p:to>
                                        <p:clrVal>
                                          <a:srgbClr val="FFC000"/>
                                        </p:clrVal>
                                      </p:to>
                                    </p:set>
                                    <p:set>
                                      <p:cBhvr>
                                        <p:cTn id="14" dur="500" fill="hold"/>
                                        <p:tgtEl>
                                          <p:spTgt spid="9">
                                            <p:txEl>
                                              <p:pRg st="2" end="2"/>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E354965B-98DD-C247-CD9F-F41C03E897D6}"/>
              </a:ext>
            </a:extLst>
          </p:cNvPr>
          <p:cNvPicPr>
            <a:picLocks noChangeAspect="1"/>
          </p:cNvPicPr>
          <p:nvPr/>
        </p:nvPicPr>
        <p:blipFill>
          <a:blip r:embed="rId2"/>
          <a:stretch>
            <a:fillRect/>
          </a:stretch>
        </p:blipFill>
        <p:spPr>
          <a:xfrm>
            <a:off x="1296781" y="3029598"/>
            <a:ext cx="6118952" cy="1470675"/>
          </a:xfrm>
          <a:prstGeom prst="rect">
            <a:avLst/>
          </a:prstGeom>
          <a:effectLst>
            <a:glow rad="63500">
              <a:schemeClr val="accent3">
                <a:satMod val="175000"/>
                <a:alpha val="40000"/>
              </a:schemeClr>
            </a:glow>
          </a:effectLst>
        </p:spPr>
      </p:pic>
      <p:sp>
        <p:nvSpPr>
          <p:cNvPr id="3" name="Subtitle 2">
            <a:extLst>
              <a:ext uri="{FF2B5EF4-FFF2-40B4-BE49-F238E27FC236}">
                <a16:creationId xmlns:a16="http://schemas.microsoft.com/office/drawing/2014/main" id="{5DD04D75-5580-4918-ACD6-01E26F36A2CB}"/>
              </a:ext>
            </a:extLst>
          </p:cNvPr>
          <p:cNvSpPr>
            <a:spLocks noGrp="1"/>
          </p:cNvSpPr>
          <p:nvPr>
            <p:ph type="subTitle" idx="4294967295"/>
          </p:nvPr>
        </p:nvSpPr>
        <p:spPr>
          <a:xfrm>
            <a:off x="750498" y="203199"/>
            <a:ext cx="10921112" cy="2676939"/>
          </a:xfrm>
          <a:prstGeom prst="rect">
            <a:avLst/>
          </a:prstGeom>
        </p:spPr>
        <p:txBody>
          <a:bodyPr vert="horz" lIns="91440" tIns="45720" rIns="91440" bIns="45720" rtlCol="0" anchor="t">
            <a:normAutofit fontScale="70000" lnSpcReduction="20000"/>
          </a:bodyPr>
          <a:lstStyle/>
          <a:p>
            <a:pPr marL="0" indent="0">
              <a:lnSpc>
                <a:spcPct val="120000"/>
              </a:lnSpc>
              <a:spcBef>
                <a:spcPts val="600"/>
              </a:spcBef>
              <a:buNone/>
            </a:pPr>
            <a:r>
              <a:rPr lang="en-US" sz="3000" b="1" dirty="0">
                <a:solidFill>
                  <a:schemeClr val="accent1">
                    <a:lumMod val="75000"/>
                  </a:schemeClr>
                </a:solidFill>
                <a:latin typeface="Calibri" panose="020F0502020204030204" pitchFamily="34" charset="0"/>
                <a:ea typeface="Calibri" panose="020F0502020204030204" pitchFamily="34" charset="0"/>
                <a:cs typeface="Calibri" panose="020F0502020204030204" pitchFamily="34" charset="0"/>
              </a:rPr>
              <a:t>IMS Administration Tool ISPF LAB Exercise 3c </a:t>
            </a:r>
          </a:p>
          <a:p>
            <a:pPr marL="0" indent="0">
              <a:lnSpc>
                <a:spcPct val="120000"/>
              </a:lnSpc>
              <a:spcBef>
                <a:spcPts val="600"/>
              </a:spcBef>
              <a:buNone/>
            </a:pPr>
            <a:r>
              <a:rPr lang="en-US" sz="2600" b="1" dirty="0">
                <a:latin typeface="Calibri" panose="020F0502020204030204" pitchFamily="34" charset="0"/>
                <a:ea typeface="Calibri" panose="020F0502020204030204" pitchFamily="34" charset="0"/>
                <a:cs typeface="Calibri" panose="020F0502020204030204" pitchFamily="34" charset="0"/>
              </a:rPr>
              <a:t>Key Feature:   IMS Catalog and Directory Management – Import </a:t>
            </a:r>
            <a:r>
              <a:rPr lang="en-US" sz="2600" b="1" u="sng" dirty="0">
                <a:latin typeface="Calibri" panose="020F0502020204030204" pitchFamily="34" charset="0"/>
                <a:ea typeface="Calibri" panose="020F0502020204030204" pitchFamily="34" charset="0"/>
                <a:cs typeface="Calibri" panose="020F0502020204030204" pitchFamily="34" charset="0"/>
              </a:rPr>
              <a:t>Multiple </a:t>
            </a:r>
            <a:r>
              <a:rPr lang="en-US" sz="2600" b="1" dirty="0">
                <a:latin typeface="Calibri" panose="020F0502020204030204" pitchFamily="34" charset="0"/>
                <a:ea typeface="Calibri" panose="020F0502020204030204" pitchFamily="34" charset="0"/>
                <a:cs typeface="Calibri" panose="020F0502020204030204" pitchFamily="34" charset="0"/>
              </a:rPr>
              <a:t>Objects</a:t>
            </a:r>
          </a:p>
          <a:p>
            <a:pPr marL="0" indent="0">
              <a:lnSpc>
                <a:spcPct val="120000"/>
              </a:lnSpc>
              <a:spcBef>
                <a:spcPts val="600"/>
              </a:spcBef>
              <a:buNone/>
            </a:pPr>
            <a:r>
              <a:rPr lang="en-US" sz="2600" b="1" dirty="0">
                <a:latin typeface="Calibri" panose="020F0502020204030204" pitchFamily="34" charset="0"/>
                <a:ea typeface="Calibri" panose="020F0502020204030204" pitchFamily="34" charset="0"/>
                <a:cs typeface="Calibri" panose="020F0502020204030204" pitchFamily="34" charset="0"/>
              </a:rPr>
              <a:t>Description:</a:t>
            </a:r>
            <a:r>
              <a:rPr lang="en-US" sz="2600" dirty="0">
                <a:latin typeface="Calibri" panose="020F0502020204030204" pitchFamily="34" charset="0"/>
                <a:ea typeface="Calibri" panose="020F0502020204030204" pitchFamily="34" charset="0"/>
                <a:cs typeface="Calibri" panose="020F0502020204030204" pitchFamily="34" charset="0"/>
              </a:rPr>
              <a:t>   </a:t>
            </a:r>
            <a:r>
              <a:rPr lang="en-US" sz="2600" b="1" dirty="0">
                <a:latin typeface="Calibri" panose="020F0502020204030204" pitchFamily="34" charset="0"/>
                <a:ea typeface="Calibri" panose="020F0502020204030204" pitchFamily="34" charset="0"/>
                <a:cs typeface="Calibri" panose="020F0502020204030204" pitchFamily="34" charset="0"/>
              </a:rPr>
              <a:t>Import DBD and/or PSB objects (update COPYBOOKs) </a:t>
            </a:r>
          </a:p>
          <a:p>
            <a:pPr marL="0" indent="0">
              <a:lnSpc>
                <a:spcPct val="120000"/>
              </a:lnSpc>
              <a:spcBef>
                <a:spcPts val="600"/>
              </a:spcBef>
              <a:buNone/>
            </a:pPr>
            <a:r>
              <a:rPr lang="en-US" sz="2600" b="1" dirty="0">
                <a:latin typeface="Calibri" panose="020F0502020204030204" pitchFamily="34" charset="0"/>
                <a:ea typeface="Calibri" panose="020F0502020204030204" pitchFamily="34" charset="0"/>
                <a:cs typeface="Calibri" panose="020F0502020204030204" pitchFamily="34" charset="0"/>
              </a:rPr>
              <a:t>Instructions:  </a:t>
            </a:r>
            <a:r>
              <a:rPr lang="en-US" sz="2600" dirty="0">
                <a:latin typeface="Calibri" panose="020F0502020204030204" pitchFamily="34" charset="0"/>
                <a:ea typeface="Calibri" panose="020F0502020204030204" pitchFamily="34" charset="0"/>
                <a:cs typeface="Calibri" panose="020F0502020204030204" pitchFamily="34" charset="0"/>
              </a:rPr>
              <a:t> You will use the DBD and PSB objects data set that you just created in the previous exercise. This is a demonstration of the “Import Objects” panel flow.  You will not actually import those objects.</a:t>
            </a:r>
          </a:p>
          <a:p>
            <a:pPr marL="282575" indent="-223838">
              <a:lnSpc>
                <a:spcPct val="120000"/>
              </a:lnSpc>
              <a:spcBef>
                <a:spcPts val="200"/>
              </a:spcBef>
              <a:buAutoNum type="arabicPeriod"/>
            </a:pPr>
            <a:r>
              <a:rPr lang="en-US" sz="2600" dirty="0">
                <a:latin typeface="Calibri" panose="020F0502020204030204" pitchFamily="34" charset="0"/>
                <a:ea typeface="Calibri" panose="020F0502020204030204" pitchFamily="34" charset="0"/>
                <a:cs typeface="Calibri" panose="020F0502020204030204" pitchFamily="34" charset="0"/>
              </a:rPr>
              <a:t>From the “</a:t>
            </a:r>
            <a:r>
              <a:rPr lang="en-US" sz="2600" b="1" dirty="0">
                <a:latin typeface="Calibri" panose="020F0502020204030204" pitchFamily="34" charset="0"/>
                <a:ea typeface="Calibri" panose="020F0502020204030204" pitchFamily="34" charset="0"/>
                <a:cs typeface="Calibri" panose="020F0502020204030204" pitchFamily="34" charset="0"/>
              </a:rPr>
              <a:t>IMS Catalog and Directory Management</a:t>
            </a:r>
            <a:r>
              <a:rPr lang="en-US" sz="2600" dirty="0">
                <a:latin typeface="Calibri" panose="020F0502020204030204" pitchFamily="34" charset="0"/>
                <a:ea typeface="Calibri" panose="020F0502020204030204" pitchFamily="34" charset="0"/>
                <a:cs typeface="Calibri" panose="020F0502020204030204" pitchFamily="34" charset="0"/>
              </a:rPr>
              <a:t>” menu, select Option      (Import Objects) and press Enter.</a:t>
            </a:r>
          </a:p>
          <a:p>
            <a:pPr marL="282575" indent="-223838">
              <a:lnSpc>
                <a:spcPct val="120000"/>
              </a:lnSpc>
              <a:spcBef>
                <a:spcPts val="200"/>
              </a:spcBef>
              <a:buAutoNum type="arabicPeriod"/>
            </a:pPr>
            <a:r>
              <a:rPr lang="en-US" sz="2600" dirty="0">
                <a:latin typeface="Calibri" panose="020F0502020204030204" pitchFamily="34" charset="0"/>
                <a:ea typeface="Calibri" panose="020F0502020204030204" pitchFamily="34" charset="0"/>
                <a:cs typeface="Calibri" panose="020F0502020204030204" pitchFamily="34" charset="0"/>
              </a:rPr>
              <a:t>Select       (Import Objects) and Press Enter.</a:t>
            </a:r>
          </a:p>
          <a:p>
            <a:pPr marL="282575" indent="-223838">
              <a:lnSpc>
                <a:spcPct val="120000"/>
              </a:lnSpc>
              <a:spcBef>
                <a:spcPts val="200"/>
              </a:spcBef>
              <a:buAutoNum type="arabicPeriod"/>
            </a:pPr>
            <a:r>
              <a:rPr lang="en-US" sz="2600" dirty="0">
                <a:latin typeface="Calibri" panose="020F0502020204030204" pitchFamily="34" charset="0"/>
                <a:ea typeface="Calibri" panose="020F0502020204030204" pitchFamily="34" charset="0"/>
                <a:cs typeface="Calibri" panose="020F0502020204030204" pitchFamily="34" charset="0"/>
              </a:rPr>
              <a:t>If you are presented with a list of IMSIDs, Select “</a:t>
            </a:r>
            <a:r>
              <a:rPr lang="en-US" sz="2600" dirty="0">
                <a:highlight>
                  <a:srgbClr val="FFFF00"/>
                </a:highlight>
                <a:latin typeface="Calibri" panose="020F0502020204030204" pitchFamily="34" charset="0"/>
                <a:ea typeface="Calibri" panose="020F0502020204030204" pitchFamily="34" charset="0"/>
                <a:cs typeface="Calibri" panose="020F0502020204030204" pitchFamily="34" charset="0"/>
              </a:rPr>
              <a:t>IVP1</a:t>
            </a:r>
            <a:r>
              <a:rPr lang="en-US" sz="2600" dirty="0">
                <a:latin typeface="Calibri" panose="020F0502020204030204" pitchFamily="34" charset="0"/>
                <a:ea typeface="Calibri" panose="020F0502020204030204" pitchFamily="34" charset="0"/>
                <a:cs typeface="Calibri" panose="020F0502020204030204" pitchFamily="34" charset="0"/>
              </a:rPr>
              <a:t>”, and Press Enter.</a:t>
            </a:r>
          </a:p>
        </p:txBody>
      </p:sp>
      <p:sp>
        <p:nvSpPr>
          <p:cNvPr id="6" name="Rectangle 5">
            <a:extLst>
              <a:ext uri="{FF2B5EF4-FFF2-40B4-BE49-F238E27FC236}">
                <a16:creationId xmlns:a16="http://schemas.microsoft.com/office/drawing/2014/main" id="{3EC21D30-DB46-454D-84AE-1DEF700085A7}"/>
              </a:ext>
            </a:extLst>
          </p:cNvPr>
          <p:cNvSpPr/>
          <p:nvPr/>
        </p:nvSpPr>
        <p:spPr>
          <a:xfrm>
            <a:off x="8193105" y="1952262"/>
            <a:ext cx="220563" cy="205740"/>
          </a:xfrm>
          <a:prstGeom prst="rect">
            <a:avLst/>
          </a:prstGeom>
          <a:solidFill>
            <a:schemeClr val="bg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3</a:t>
            </a:r>
            <a:endParaRPr lang="en-US" dirty="0">
              <a:solidFill>
                <a:schemeClr val="tx1"/>
              </a:solidFill>
            </a:endParaRPr>
          </a:p>
        </p:txBody>
      </p:sp>
      <p:cxnSp>
        <p:nvCxnSpPr>
          <p:cNvPr id="7" name="Straight Arrow Connector 6">
            <a:extLst>
              <a:ext uri="{FF2B5EF4-FFF2-40B4-BE49-F238E27FC236}">
                <a16:creationId xmlns:a16="http://schemas.microsoft.com/office/drawing/2014/main" id="{6F367A36-7D6F-C755-80B1-E9218071ABC9}"/>
              </a:ext>
            </a:extLst>
          </p:cNvPr>
          <p:cNvCxnSpPr>
            <a:cxnSpLocks/>
          </p:cNvCxnSpPr>
          <p:nvPr/>
        </p:nvCxnSpPr>
        <p:spPr>
          <a:xfrm>
            <a:off x="847753" y="3271143"/>
            <a:ext cx="414528"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7855BE9F-6BCD-9541-FE19-8C5C2ECABFB3}"/>
              </a:ext>
            </a:extLst>
          </p:cNvPr>
          <p:cNvCxnSpPr>
            <a:cxnSpLocks/>
          </p:cNvCxnSpPr>
          <p:nvPr/>
        </p:nvCxnSpPr>
        <p:spPr>
          <a:xfrm>
            <a:off x="4789184" y="4809208"/>
            <a:ext cx="414528"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5" name="Slide Number Placeholder 4">
            <a:extLst>
              <a:ext uri="{FF2B5EF4-FFF2-40B4-BE49-F238E27FC236}">
                <a16:creationId xmlns:a16="http://schemas.microsoft.com/office/drawing/2014/main" id="{642B5A70-A403-9F28-47A6-6161671A7B49}"/>
              </a:ext>
            </a:extLst>
          </p:cNvPr>
          <p:cNvSpPr>
            <a:spLocks noGrp="1"/>
          </p:cNvSpPr>
          <p:nvPr>
            <p:ph type="sldNum" sz="quarter" idx="12"/>
          </p:nvPr>
        </p:nvSpPr>
        <p:spPr/>
        <p:txBody>
          <a:bodyPr/>
          <a:lstStyle/>
          <a:p>
            <a:fld id="{1C788548-AC4B-4945-A4F1-BA86477A7FC8}" type="slidenum">
              <a:rPr lang="en-US" smtClean="0"/>
              <a:t>42</a:t>
            </a:fld>
            <a:endParaRPr lang="en-US"/>
          </a:p>
        </p:txBody>
      </p:sp>
      <p:pic>
        <p:nvPicPr>
          <p:cNvPr id="14" name="Picture 13">
            <a:extLst>
              <a:ext uri="{FF2B5EF4-FFF2-40B4-BE49-F238E27FC236}">
                <a16:creationId xmlns:a16="http://schemas.microsoft.com/office/drawing/2014/main" id="{C1C73650-BB56-39A1-9665-D3565EA68FDD}"/>
              </a:ext>
            </a:extLst>
          </p:cNvPr>
          <p:cNvPicPr>
            <a:picLocks noChangeAspect="1"/>
          </p:cNvPicPr>
          <p:nvPr/>
        </p:nvPicPr>
        <p:blipFill>
          <a:blip r:embed="rId3"/>
          <a:stretch>
            <a:fillRect/>
          </a:stretch>
        </p:blipFill>
        <p:spPr>
          <a:xfrm>
            <a:off x="5240754" y="4566734"/>
            <a:ext cx="6113046" cy="1789616"/>
          </a:xfrm>
          <a:prstGeom prst="rect">
            <a:avLst/>
          </a:prstGeom>
          <a:effectLst>
            <a:glow rad="63500">
              <a:schemeClr val="accent3">
                <a:satMod val="175000"/>
                <a:alpha val="40000"/>
              </a:schemeClr>
            </a:glow>
          </a:effectLst>
        </p:spPr>
      </p:pic>
      <p:sp>
        <p:nvSpPr>
          <p:cNvPr id="13" name="Rectangle 12">
            <a:extLst>
              <a:ext uri="{FF2B5EF4-FFF2-40B4-BE49-F238E27FC236}">
                <a16:creationId xmlns:a16="http://schemas.microsoft.com/office/drawing/2014/main" id="{F025A965-E8A9-D4DB-382B-27C5A8ACF879}"/>
              </a:ext>
            </a:extLst>
          </p:cNvPr>
          <p:cNvSpPr/>
          <p:nvPr/>
        </p:nvSpPr>
        <p:spPr>
          <a:xfrm>
            <a:off x="1979209" y="2264208"/>
            <a:ext cx="220563" cy="205740"/>
          </a:xfrm>
          <a:prstGeom prst="rect">
            <a:avLst/>
          </a:prstGeom>
          <a:solidFill>
            <a:schemeClr val="bg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1</a:t>
            </a:r>
            <a:endParaRPr lang="en-US" dirty="0">
              <a:solidFill>
                <a:schemeClr val="tx1"/>
              </a:solidFill>
            </a:endParaRPr>
          </a:p>
        </p:txBody>
      </p:sp>
    </p:spTree>
    <p:extLst>
      <p:ext uri="{BB962C8B-B14F-4D97-AF65-F5344CB8AC3E}">
        <p14:creationId xmlns:p14="http://schemas.microsoft.com/office/powerpoint/2010/main" val="45771331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ED9784-0584-667F-9644-656507891F44}"/>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40AFC16C-3ACF-116F-2DAF-DCAF0BE14819}"/>
              </a:ext>
            </a:extLst>
          </p:cNvPr>
          <p:cNvPicPr>
            <a:picLocks noChangeAspect="1"/>
          </p:cNvPicPr>
          <p:nvPr/>
        </p:nvPicPr>
        <p:blipFill>
          <a:blip r:embed="rId2"/>
          <a:stretch>
            <a:fillRect/>
          </a:stretch>
        </p:blipFill>
        <p:spPr>
          <a:xfrm>
            <a:off x="838200" y="3300745"/>
            <a:ext cx="5028473" cy="3119111"/>
          </a:xfrm>
          <a:prstGeom prst="rect">
            <a:avLst/>
          </a:prstGeom>
          <a:effectLst>
            <a:glow rad="63500">
              <a:schemeClr val="accent3">
                <a:satMod val="175000"/>
                <a:alpha val="40000"/>
              </a:schemeClr>
            </a:glow>
          </a:effectLst>
        </p:spPr>
      </p:pic>
      <p:sp>
        <p:nvSpPr>
          <p:cNvPr id="3" name="Subtitle 2">
            <a:extLst>
              <a:ext uri="{FF2B5EF4-FFF2-40B4-BE49-F238E27FC236}">
                <a16:creationId xmlns:a16="http://schemas.microsoft.com/office/drawing/2014/main" id="{5FCCB835-3BDE-D332-3690-66EB240335ED}"/>
              </a:ext>
            </a:extLst>
          </p:cNvPr>
          <p:cNvSpPr>
            <a:spLocks noGrp="1"/>
          </p:cNvSpPr>
          <p:nvPr>
            <p:ph type="subTitle" idx="4294967295"/>
          </p:nvPr>
        </p:nvSpPr>
        <p:spPr>
          <a:xfrm>
            <a:off x="750498" y="203199"/>
            <a:ext cx="10489721" cy="3040303"/>
          </a:xfrm>
          <a:prstGeom prst="rect">
            <a:avLst/>
          </a:prstGeom>
        </p:spPr>
        <p:txBody>
          <a:bodyPr vert="horz" lIns="91440" tIns="45720" rIns="91440" bIns="45720" rtlCol="0" anchor="t">
            <a:normAutofit fontScale="70000" lnSpcReduction="20000"/>
          </a:bodyPr>
          <a:lstStyle/>
          <a:p>
            <a:pPr marL="0" indent="0">
              <a:lnSpc>
                <a:spcPct val="120000"/>
              </a:lnSpc>
              <a:spcBef>
                <a:spcPts val="600"/>
              </a:spcBef>
              <a:buNone/>
            </a:pPr>
            <a:r>
              <a:rPr lang="en-US" sz="3400" b="1" dirty="0">
                <a:solidFill>
                  <a:schemeClr val="accent1">
                    <a:lumMod val="75000"/>
                  </a:schemeClr>
                </a:solidFill>
                <a:latin typeface="Calibri" panose="020F0502020204030204" pitchFamily="34" charset="0"/>
                <a:ea typeface="Calibri" panose="020F0502020204030204" pitchFamily="34" charset="0"/>
                <a:cs typeface="Calibri" panose="020F0502020204030204" pitchFamily="34" charset="0"/>
              </a:rPr>
              <a:t>IMS Administration Tool ISPF LAB Exercise 3c </a:t>
            </a:r>
          </a:p>
          <a:p>
            <a:pPr marL="0" indent="0">
              <a:lnSpc>
                <a:spcPct val="120000"/>
              </a:lnSpc>
              <a:spcBef>
                <a:spcPts val="600"/>
              </a:spcBef>
              <a:buNone/>
            </a:pPr>
            <a:r>
              <a:rPr lang="en-US" sz="2600" b="1" dirty="0">
                <a:latin typeface="Calibri" panose="020F0502020204030204" pitchFamily="34" charset="0"/>
                <a:ea typeface="Calibri" panose="020F0502020204030204" pitchFamily="34" charset="0"/>
                <a:cs typeface="Calibri" panose="020F0502020204030204" pitchFamily="34" charset="0"/>
              </a:rPr>
              <a:t>Key Feature:   IMS Catalog and Directory Management – Import </a:t>
            </a:r>
            <a:r>
              <a:rPr lang="en-US" sz="2600" b="1" u="sng" dirty="0">
                <a:latin typeface="Calibri" panose="020F0502020204030204" pitchFamily="34" charset="0"/>
                <a:ea typeface="Calibri" panose="020F0502020204030204" pitchFamily="34" charset="0"/>
                <a:cs typeface="Calibri" panose="020F0502020204030204" pitchFamily="34" charset="0"/>
              </a:rPr>
              <a:t>Multiple </a:t>
            </a:r>
            <a:r>
              <a:rPr lang="en-US" sz="2600" b="1" dirty="0">
                <a:latin typeface="Calibri" panose="020F0502020204030204" pitchFamily="34" charset="0"/>
                <a:ea typeface="Calibri" panose="020F0502020204030204" pitchFamily="34" charset="0"/>
                <a:cs typeface="Calibri" panose="020F0502020204030204" pitchFamily="34" charset="0"/>
              </a:rPr>
              <a:t>Objects</a:t>
            </a:r>
          </a:p>
          <a:p>
            <a:pPr marL="0" indent="0">
              <a:lnSpc>
                <a:spcPct val="120000"/>
              </a:lnSpc>
              <a:spcBef>
                <a:spcPts val="600"/>
              </a:spcBef>
              <a:buNone/>
            </a:pPr>
            <a:r>
              <a:rPr lang="en-US" sz="2600" b="1" dirty="0">
                <a:latin typeface="Calibri" panose="020F0502020204030204" pitchFamily="34" charset="0"/>
                <a:ea typeface="Calibri" panose="020F0502020204030204" pitchFamily="34" charset="0"/>
                <a:cs typeface="Calibri" panose="020F0502020204030204" pitchFamily="34" charset="0"/>
              </a:rPr>
              <a:t>Description:</a:t>
            </a:r>
            <a:r>
              <a:rPr lang="en-US" sz="2600" dirty="0">
                <a:latin typeface="Calibri" panose="020F0502020204030204" pitchFamily="34" charset="0"/>
                <a:ea typeface="Calibri" panose="020F0502020204030204" pitchFamily="34" charset="0"/>
                <a:cs typeface="Calibri" panose="020F0502020204030204" pitchFamily="34" charset="0"/>
              </a:rPr>
              <a:t>   </a:t>
            </a:r>
            <a:r>
              <a:rPr lang="en-US" sz="2600" b="1" dirty="0">
                <a:latin typeface="Calibri" panose="020F0502020204030204" pitchFamily="34" charset="0"/>
                <a:ea typeface="Calibri" panose="020F0502020204030204" pitchFamily="34" charset="0"/>
                <a:cs typeface="Calibri" panose="020F0502020204030204" pitchFamily="34" charset="0"/>
              </a:rPr>
              <a:t>Import DBD and/or PSB objects (update COPYBOOKs) </a:t>
            </a:r>
          </a:p>
          <a:p>
            <a:pPr marL="0" indent="0">
              <a:lnSpc>
                <a:spcPct val="120000"/>
              </a:lnSpc>
              <a:spcBef>
                <a:spcPts val="600"/>
              </a:spcBef>
              <a:buNone/>
            </a:pPr>
            <a:r>
              <a:rPr lang="en-US" sz="2600" b="1" dirty="0">
                <a:latin typeface="Calibri" panose="020F0502020204030204" pitchFamily="34" charset="0"/>
                <a:ea typeface="Calibri" panose="020F0502020204030204" pitchFamily="34" charset="0"/>
                <a:cs typeface="Calibri" panose="020F0502020204030204" pitchFamily="34" charset="0"/>
              </a:rPr>
              <a:t>Instructions:</a:t>
            </a:r>
            <a:r>
              <a:rPr lang="en-US" sz="2600" dirty="0">
                <a:latin typeface="Calibri" panose="020F0502020204030204" pitchFamily="34" charset="0"/>
                <a:ea typeface="Calibri" panose="020F0502020204030204" pitchFamily="34" charset="0"/>
                <a:cs typeface="Calibri" panose="020F0502020204030204" pitchFamily="34" charset="0"/>
              </a:rPr>
              <a:t>   On the “Import Objects” displayed, </a:t>
            </a:r>
          </a:p>
          <a:p>
            <a:pPr marL="341313" indent="-282575">
              <a:lnSpc>
                <a:spcPct val="120000"/>
              </a:lnSpc>
              <a:spcBef>
                <a:spcPts val="200"/>
              </a:spcBef>
              <a:buAutoNum type="arabicPeriod"/>
            </a:pPr>
            <a:r>
              <a:rPr lang="en-US" sz="2600" dirty="0">
                <a:latin typeface="Calibri" panose="020F0502020204030204" pitchFamily="34" charset="0"/>
                <a:ea typeface="Calibri" panose="020F0502020204030204" pitchFamily="34" charset="0"/>
                <a:cs typeface="Calibri" panose="020F0502020204030204" pitchFamily="34" charset="0"/>
              </a:rPr>
              <a:t>Supply the Import Objects Information as indicated in the left-hand screen shot below.</a:t>
            </a:r>
          </a:p>
          <a:p>
            <a:pPr marL="341313" indent="-282575">
              <a:lnSpc>
                <a:spcPct val="120000"/>
              </a:lnSpc>
              <a:spcBef>
                <a:spcPts val="200"/>
              </a:spcBef>
              <a:buAutoNum type="arabicPeriod"/>
            </a:pPr>
            <a:r>
              <a:rPr lang="en-US" sz="2600" dirty="0">
                <a:latin typeface="Calibri" panose="020F0502020204030204" pitchFamily="34" charset="0"/>
                <a:ea typeface="Calibri" panose="020F0502020204030204" pitchFamily="34" charset="0"/>
                <a:cs typeface="Calibri" panose="020F0502020204030204" pitchFamily="34" charset="0"/>
              </a:rPr>
              <a:t>Scroll down a page.</a:t>
            </a:r>
          </a:p>
          <a:p>
            <a:pPr marL="341313" indent="-282575">
              <a:lnSpc>
                <a:spcPct val="120000"/>
              </a:lnSpc>
              <a:spcBef>
                <a:spcPts val="200"/>
              </a:spcBef>
              <a:buAutoNum type="arabicPeriod"/>
            </a:pPr>
            <a:r>
              <a:rPr lang="en-US" sz="2600" dirty="0">
                <a:latin typeface="Calibri" panose="020F0502020204030204" pitchFamily="34" charset="0"/>
                <a:ea typeface="Calibri" panose="020F0502020204030204" pitchFamily="34" charset="0"/>
                <a:cs typeface="Calibri" panose="020F0502020204030204" pitchFamily="34" charset="0"/>
              </a:rPr>
              <a:t>Supply the job card information as indicated in the right-hand screen shot below.</a:t>
            </a:r>
          </a:p>
          <a:p>
            <a:pPr marL="341313" indent="-282575">
              <a:lnSpc>
                <a:spcPct val="120000"/>
              </a:lnSpc>
              <a:spcBef>
                <a:spcPts val="200"/>
              </a:spcBef>
              <a:buAutoNum type="arabicPeriod"/>
            </a:pPr>
            <a:r>
              <a:rPr lang="en-US" sz="2600" dirty="0">
                <a:latin typeface="Calibri" panose="020F0502020204030204" pitchFamily="34" charset="0"/>
                <a:ea typeface="Calibri" panose="020F0502020204030204" pitchFamily="34" charset="0"/>
                <a:cs typeface="Calibri" panose="020F0502020204030204" pitchFamily="34" charset="0"/>
              </a:rPr>
              <a:t>Press Enter.</a:t>
            </a:r>
          </a:p>
          <a:p>
            <a:pPr marL="58738" indent="0">
              <a:lnSpc>
                <a:spcPct val="120000"/>
              </a:lnSpc>
              <a:spcBef>
                <a:spcPts val="200"/>
              </a:spcBef>
              <a:buNone/>
            </a:pPr>
            <a:r>
              <a:rPr lang="en-US" sz="2600" dirty="0">
                <a:latin typeface="Calibri" panose="020F0502020204030204" pitchFamily="34" charset="0"/>
                <a:ea typeface="Calibri" panose="020F0502020204030204" pitchFamily="34" charset="0"/>
                <a:cs typeface="Calibri" panose="020F0502020204030204" pitchFamily="34" charset="0"/>
              </a:rPr>
              <a:t>If you are presented with panels to allocate/override your import data sets, say “Y’ and Press Enter.   </a:t>
            </a:r>
          </a:p>
        </p:txBody>
      </p:sp>
      <p:sp>
        <p:nvSpPr>
          <p:cNvPr id="5" name="Slide Number Placeholder 4">
            <a:extLst>
              <a:ext uri="{FF2B5EF4-FFF2-40B4-BE49-F238E27FC236}">
                <a16:creationId xmlns:a16="http://schemas.microsoft.com/office/drawing/2014/main" id="{AE933DED-7A2C-B12D-AA26-3C5B84814CE4}"/>
              </a:ext>
            </a:extLst>
          </p:cNvPr>
          <p:cNvSpPr>
            <a:spLocks noGrp="1"/>
          </p:cNvSpPr>
          <p:nvPr>
            <p:ph type="sldNum" sz="quarter" idx="12"/>
          </p:nvPr>
        </p:nvSpPr>
        <p:spPr/>
        <p:txBody>
          <a:bodyPr/>
          <a:lstStyle/>
          <a:p>
            <a:fld id="{1C788548-AC4B-4945-A4F1-BA86477A7FC8}" type="slidenum">
              <a:rPr lang="en-US" smtClean="0"/>
              <a:t>43</a:t>
            </a:fld>
            <a:endParaRPr lang="en-US"/>
          </a:p>
        </p:txBody>
      </p:sp>
      <p:sp>
        <p:nvSpPr>
          <p:cNvPr id="2" name="Rectangle 1">
            <a:extLst>
              <a:ext uri="{FF2B5EF4-FFF2-40B4-BE49-F238E27FC236}">
                <a16:creationId xmlns:a16="http://schemas.microsoft.com/office/drawing/2014/main" id="{022BF861-C0B7-3073-7EAF-A06CCC87E9EB}"/>
              </a:ext>
            </a:extLst>
          </p:cNvPr>
          <p:cNvSpPr/>
          <p:nvPr/>
        </p:nvSpPr>
        <p:spPr>
          <a:xfrm>
            <a:off x="2803584" y="5391513"/>
            <a:ext cx="152008" cy="141833"/>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EB86BEB9-29B1-BA53-5CD5-C0B49DEE0F00}"/>
              </a:ext>
            </a:extLst>
          </p:cNvPr>
          <p:cNvSpPr/>
          <p:nvPr/>
        </p:nvSpPr>
        <p:spPr>
          <a:xfrm>
            <a:off x="2194235" y="4424866"/>
            <a:ext cx="120751" cy="113577"/>
          </a:xfrm>
          <a:prstGeom prst="rect">
            <a:avLst/>
          </a:prstGeom>
          <a:noFill/>
          <a:ln w="127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CA7CE0DD-56FE-2380-70ED-76246D76126F}"/>
              </a:ext>
            </a:extLst>
          </p:cNvPr>
          <p:cNvSpPr/>
          <p:nvPr/>
        </p:nvSpPr>
        <p:spPr>
          <a:xfrm>
            <a:off x="2192297" y="4573893"/>
            <a:ext cx="235196" cy="113577"/>
          </a:xfrm>
          <a:prstGeom prst="rect">
            <a:avLst/>
          </a:prstGeom>
          <a:noFill/>
          <a:ln w="127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79E41AD-51FB-B8EE-07A7-AC30E5EAFB2B}"/>
              </a:ext>
            </a:extLst>
          </p:cNvPr>
          <p:cNvSpPr/>
          <p:nvPr/>
        </p:nvSpPr>
        <p:spPr>
          <a:xfrm>
            <a:off x="3592714" y="4571551"/>
            <a:ext cx="284846" cy="113577"/>
          </a:xfrm>
          <a:prstGeom prst="rect">
            <a:avLst/>
          </a:prstGeom>
          <a:noFill/>
          <a:ln w="127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3B901D1B-8788-EAD1-D541-85304B7FEFA8}"/>
              </a:ext>
            </a:extLst>
          </p:cNvPr>
          <p:cNvPicPr>
            <a:picLocks noChangeAspect="1"/>
          </p:cNvPicPr>
          <p:nvPr/>
        </p:nvPicPr>
        <p:blipFill>
          <a:blip r:embed="rId3"/>
          <a:stretch>
            <a:fillRect/>
          </a:stretch>
        </p:blipFill>
        <p:spPr>
          <a:xfrm>
            <a:off x="6000799" y="3300745"/>
            <a:ext cx="5033331" cy="3123969"/>
          </a:xfrm>
          <a:prstGeom prst="rect">
            <a:avLst/>
          </a:prstGeom>
          <a:effectLst>
            <a:glow rad="63500">
              <a:schemeClr val="accent3">
                <a:satMod val="175000"/>
                <a:alpha val="40000"/>
              </a:schemeClr>
            </a:glow>
          </a:effectLst>
        </p:spPr>
      </p:pic>
      <p:sp>
        <p:nvSpPr>
          <p:cNvPr id="19" name="Rectangle 18">
            <a:extLst>
              <a:ext uri="{FF2B5EF4-FFF2-40B4-BE49-F238E27FC236}">
                <a16:creationId xmlns:a16="http://schemas.microsoft.com/office/drawing/2014/main" id="{FD8C8F68-0AFE-22DF-B98B-141069D16FC4}"/>
              </a:ext>
            </a:extLst>
          </p:cNvPr>
          <p:cNvSpPr/>
          <p:nvPr/>
        </p:nvSpPr>
        <p:spPr>
          <a:xfrm>
            <a:off x="6541566" y="5831460"/>
            <a:ext cx="4336343" cy="146650"/>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2585437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5DD04D75-5580-4918-ACD6-01E26F36A2CB}"/>
              </a:ext>
            </a:extLst>
          </p:cNvPr>
          <p:cNvSpPr>
            <a:spLocks noGrp="1"/>
          </p:cNvSpPr>
          <p:nvPr>
            <p:ph type="subTitle" idx="4294967295"/>
          </p:nvPr>
        </p:nvSpPr>
        <p:spPr>
          <a:xfrm>
            <a:off x="503809" y="226060"/>
            <a:ext cx="10937621" cy="2517140"/>
          </a:xfrm>
          <a:prstGeom prst="rect">
            <a:avLst/>
          </a:prstGeom>
        </p:spPr>
        <p:txBody>
          <a:bodyPr vert="horz" lIns="91440" tIns="45720" rIns="91440" bIns="45720" rtlCol="0" anchor="t">
            <a:normAutofit fontScale="85000" lnSpcReduction="10000"/>
          </a:bodyPr>
          <a:lstStyle/>
          <a:p>
            <a:pPr marL="0" indent="0">
              <a:buNone/>
            </a:pPr>
            <a:r>
              <a:rPr lang="en-US" sz="3000" b="1">
                <a:solidFill>
                  <a:schemeClr val="accent1">
                    <a:lumMod val="75000"/>
                  </a:schemeClr>
                </a:solidFill>
              </a:rPr>
              <a:t>IMS Administration Tool ISPF LAB Exercise 3c </a:t>
            </a:r>
          </a:p>
          <a:p>
            <a:pPr marL="0" indent="0">
              <a:buNone/>
            </a:pPr>
            <a:r>
              <a:rPr lang="en-US" sz="2600" b="1"/>
              <a:t>Key Feature:   IMS Catalog and Directory Management – Import </a:t>
            </a:r>
            <a:r>
              <a:rPr lang="en-US" sz="2600" b="1" u="sng"/>
              <a:t>Multiple</a:t>
            </a:r>
            <a:r>
              <a:rPr lang="en-US" sz="2600" b="1"/>
              <a:t> Objects (cont’d)</a:t>
            </a:r>
          </a:p>
          <a:p>
            <a:pPr marL="0" indent="0">
              <a:buNone/>
            </a:pPr>
            <a:r>
              <a:rPr lang="en-US" sz="2600" b="1"/>
              <a:t>Description:</a:t>
            </a:r>
            <a:r>
              <a:rPr lang="en-US" sz="2600"/>
              <a:t>  Import multiple DBD and/or PSB Objects to the “Active” Directory Data Sets.</a:t>
            </a:r>
            <a:r>
              <a:rPr lang="en-US" sz="2600">
                <a:latin typeface="+mj-lt"/>
              </a:rPr>
              <a:t>  </a:t>
            </a:r>
          </a:p>
          <a:p>
            <a:pPr marL="0" indent="0">
              <a:buNone/>
            </a:pPr>
            <a:r>
              <a:rPr lang="en-US" sz="2600" b="1"/>
              <a:t>Instructions:</a:t>
            </a:r>
            <a:r>
              <a:rPr lang="en-US" sz="2600"/>
              <a:t>  You should now see the generated JCL.  Type “SAVE” on the command line to  save the JCL, then Press F3.  </a:t>
            </a:r>
            <a:r>
              <a:rPr lang="en-US" sz="2600" b="1" u="sng">
                <a:solidFill>
                  <a:srgbClr val="C00000"/>
                </a:solidFill>
              </a:rPr>
              <a:t>You will be asked if you want to Submit the JCL, but for the purposes of this exercise, specify “</a:t>
            </a:r>
            <a:r>
              <a:rPr lang="en-US" sz="2600" b="1" u="sng">
                <a:solidFill>
                  <a:srgbClr val="C00000"/>
                </a:solidFill>
                <a:highlight>
                  <a:srgbClr val="FFFF00"/>
                </a:highlight>
              </a:rPr>
              <a:t>N</a:t>
            </a:r>
            <a:r>
              <a:rPr lang="en-US" sz="2600" b="1" u="sng">
                <a:solidFill>
                  <a:srgbClr val="C00000"/>
                </a:solidFill>
              </a:rPr>
              <a:t>”.</a:t>
            </a:r>
            <a:r>
              <a:rPr lang="en-US" sz="2600" b="1"/>
              <a:t>  </a:t>
            </a:r>
            <a:endParaRPr lang="en-US" sz="2400" dirty="0">
              <a:cs typeface="Calibri"/>
            </a:endParaRPr>
          </a:p>
        </p:txBody>
      </p:sp>
      <p:sp>
        <p:nvSpPr>
          <p:cNvPr id="2" name="Slide Number Placeholder 1">
            <a:extLst>
              <a:ext uri="{FF2B5EF4-FFF2-40B4-BE49-F238E27FC236}">
                <a16:creationId xmlns:a16="http://schemas.microsoft.com/office/drawing/2014/main" id="{439E81F9-A131-293F-B722-921636916C3D}"/>
              </a:ext>
            </a:extLst>
          </p:cNvPr>
          <p:cNvSpPr>
            <a:spLocks noGrp="1"/>
          </p:cNvSpPr>
          <p:nvPr>
            <p:ph type="sldNum" sz="quarter" idx="12"/>
          </p:nvPr>
        </p:nvSpPr>
        <p:spPr/>
        <p:txBody>
          <a:bodyPr/>
          <a:lstStyle/>
          <a:p>
            <a:fld id="{1C788548-AC4B-4945-A4F1-BA86477A7FC8}" type="slidenum">
              <a:rPr lang="en-US" smtClean="0"/>
              <a:t>44</a:t>
            </a:fld>
            <a:endParaRPr lang="en-US"/>
          </a:p>
        </p:txBody>
      </p:sp>
      <p:pic>
        <p:nvPicPr>
          <p:cNvPr id="7" name="Picture 6">
            <a:extLst>
              <a:ext uri="{FF2B5EF4-FFF2-40B4-BE49-F238E27FC236}">
                <a16:creationId xmlns:a16="http://schemas.microsoft.com/office/drawing/2014/main" id="{2E8AF5BB-27C4-86B3-584C-DFC0BB2BF396}"/>
              </a:ext>
            </a:extLst>
          </p:cNvPr>
          <p:cNvPicPr>
            <a:picLocks noChangeAspect="1"/>
          </p:cNvPicPr>
          <p:nvPr/>
        </p:nvPicPr>
        <p:blipFill>
          <a:blip r:embed="rId2"/>
          <a:stretch>
            <a:fillRect/>
          </a:stretch>
        </p:blipFill>
        <p:spPr>
          <a:xfrm>
            <a:off x="741902" y="2743200"/>
            <a:ext cx="5230717" cy="3216184"/>
          </a:xfrm>
          <a:prstGeom prst="rect">
            <a:avLst/>
          </a:prstGeom>
          <a:effectLst>
            <a:glow rad="63500">
              <a:schemeClr val="accent3">
                <a:satMod val="175000"/>
                <a:alpha val="40000"/>
              </a:schemeClr>
            </a:glow>
          </a:effectLst>
        </p:spPr>
      </p:pic>
      <p:pic>
        <p:nvPicPr>
          <p:cNvPr id="9" name="Picture 8">
            <a:extLst>
              <a:ext uri="{FF2B5EF4-FFF2-40B4-BE49-F238E27FC236}">
                <a16:creationId xmlns:a16="http://schemas.microsoft.com/office/drawing/2014/main" id="{BD506DD2-1535-D6E8-2F49-A65B46EC53A0}"/>
              </a:ext>
            </a:extLst>
          </p:cNvPr>
          <p:cNvPicPr>
            <a:picLocks noChangeAspect="1"/>
          </p:cNvPicPr>
          <p:nvPr/>
        </p:nvPicPr>
        <p:blipFill>
          <a:blip r:embed="rId3"/>
          <a:stretch>
            <a:fillRect/>
          </a:stretch>
        </p:blipFill>
        <p:spPr>
          <a:xfrm>
            <a:off x="6091666" y="2743200"/>
            <a:ext cx="5230717" cy="3180842"/>
          </a:xfrm>
          <a:prstGeom prst="rect">
            <a:avLst/>
          </a:prstGeom>
          <a:effectLst>
            <a:glow rad="63500">
              <a:schemeClr val="accent3">
                <a:satMod val="175000"/>
                <a:alpha val="40000"/>
              </a:schemeClr>
            </a:glow>
          </a:effectLst>
        </p:spPr>
      </p:pic>
    </p:spTree>
    <p:extLst>
      <p:ext uri="{BB962C8B-B14F-4D97-AF65-F5344CB8AC3E}">
        <p14:creationId xmlns:p14="http://schemas.microsoft.com/office/powerpoint/2010/main" val="139907685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a:extLst>
              <a:ext uri="{FF2B5EF4-FFF2-40B4-BE49-F238E27FC236}">
                <a16:creationId xmlns:a16="http://schemas.microsoft.com/office/drawing/2014/main" id="{67F1EF74-583C-4685-827A-DC7986FB144B}"/>
              </a:ext>
            </a:extLst>
          </p:cNvPr>
          <p:cNvSpPr txBox="1">
            <a:spLocks/>
          </p:cNvSpPr>
          <p:nvPr/>
        </p:nvSpPr>
        <p:spPr>
          <a:xfrm>
            <a:off x="433674" y="361477"/>
            <a:ext cx="11648598" cy="448844"/>
          </a:xfrm>
          <a:prstGeom prst="rect">
            <a:avLst/>
          </a:prstGeom>
        </p:spPr>
        <p:txBody>
          <a:bodyPr lIns="91440" tIns="45720" rIns="91440" bIns="4572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b="1" dirty="0">
                <a:solidFill>
                  <a:schemeClr val="accent1">
                    <a:lumMod val="75000"/>
                  </a:schemeClr>
                </a:solidFill>
              </a:rPr>
              <a:t>IMS Administration Tool ISPF LAB Exercise 3c </a:t>
            </a:r>
            <a:endParaRPr lang="en-US" sz="2400" dirty="0">
              <a:latin typeface="+mj-lt"/>
              <a:sym typeface="Wingdings" panose="05000000000000000000" pitchFamily="2" charset="2"/>
            </a:endParaRPr>
          </a:p>
        </p:txBody>
      </p:sp>
      <p:sp>
        <p:nvSpPr>
          <p:cNvPr id="2" name="Rectangle 1">
            <a:extLst>
              <a:ext uri="{FF2B5EF4-FFF2-40B4-BE49-F238E27FC236}">
                <a16:creationId xmlns:a16="http://schemas.microsoft.com/office/drawing/2014/main" id="{C540BA45-4390-477E-80D5-90795D9C11B5}"/>
              </a:ext>
            </a:extLst>
          </p:cNvPr>
          <p:cNvSpPr/>
          <p:nvPr/>
        </p:nvSpPr>
        <p:spPr>
          <a:xfrm>
            <a:off x="533440" y="1123280"/>
            <a:ext cx="10900277" cy="2939266"/>
          </a:xfrm>
          <a:prstGeom prst="rect">
            <a:avLst/>
          </a:prstGeom>
          <a:ln>
            <a:solidFill>
              <a:schemeClr val="accent1"/>
            </a:solidFill>
          </a:ln>
        </p:spPr>
        <p:txBody>
          <a:bodyPr wrap="square">
            <a:spAutoFit/>
          </a:bodyPr>
          <a:lstStyle/>
          <a:p>
            <a:r>
              <a:rPr lang="en-US" b="1" dirty="0">
                <a:latin typeface="Calibri (Body)"/>
              </a:rPr>
              <a:t>Populating your IMS Catalog “ACTIVE” Directory:</a:t>
            </a:r>
          </a:p>
          <a:p>
            <a:r>
              <a:rPr lang="en-US" b="1" dirty="0">
                <a:latin typeface="Calibri (Body)"/>
              </a:rPr>
              <a:t>Description:</a:t>
            </a:r>
            <a:r>
              <a:rPr lang="en-US" dirty="0">
                <a:latin typeface="Calibri (Body)"/>
              </a:rPr>
              <a:t>   Normally after exporting/importing multiple DBD and/or PSB Objects, you would then need to manually update the “Active” directory data sets also since IMS Administration Tool will only populate the changes to the “Staging” Directory data sets.  In order to populate the active Directory data sets, you must either run a SPOC job, issue an IMPORT IMS command, or use IBM IMS High Performance System Generation tool to do this function to do this function. The following </a:t>
            </a:r>
            <a:r>
              <a:rPr lang="en-US" dirty="0">
                <a:latin typeface="Consolas" panose="020B0609020204030204" pitchFamily="49" charset="0"/>
              </a:rPr>
              <a:t>IMPORT</a:t>
            </a:r>
            <a:r>
              <a:rPr lang="en-US" dirty="0">
                <a:latin typeface="Calibri (Body)"/>
              </a:rPr>
              <a:t> command statement shows parameters that are needed:</a:t>
            </a:r>
          </a:p>
          <a:p>
            <a:pPr lvl="1">
              <a:spcBef>
                <a:spcPts val="600"/>
              </a:spcBef>
            </a:pPr>
            <a:r>
              <a:rPr lang="en-US" b="1" dirty="0">
                <a:latin typeface="Calibri (Body)"/>
              </a:rPr>
              <a:t>IMPORT DEFN </a:t>
            </a:r>
            <a:r>
              <a:rPr lang="en-US" b="1" dirty="0">
                <a:highlight>
                  <a:srgbClr val="FFFF00"/>
                </a:highlight>
                <a:latin typeface="Calibri (Body)"/>
              </a:rPr>
              <a:t>NAME(</a:t>
            </a:r>
            <a:r>
              <a:rPr lang="en-US" i="1" dirty="0" err="1">
                <a:highlight>
                  <a:srgbClr val="FFFF00"/>
                </a:highlight>
                <a:latin typeface="Calibri (Body)"/>
              </a:rPr>
              <a:t>dbdname</a:t>
            </a:r>
            <a:r>
              <a:rPr lang="en-US" i="1" dirty="0">
                <a:highlight>
                  <a:srgbClr val="FFFF00"/>
                </a:highlight>
                <a:latin typeface="Calibri (Body)"/>
              </a:rPr>
              <a:t> or </a:t>
            </a:r>
            <a:r>
              <a:rPr lang="en-US" i="1" dirty="0" err="1">
                <a:highlight>
                  <a:srgbClr val="FFFF00"/>
                </a:highlight>
                <a:latin typeface="Calibri (Body)"/>
              </a:rPr>
              <a:t>psbname</a:t>
            </a:r>
            <a:r>
              <a:rPr lang="en-US" b="1" dirty="0">
                <a:highlight>
                  <a:srgbClr val="FFFF00"/>
                </a:highlight>
                <a:latin typeface="Calibri (Body)"/>
              </a:rPr>
              <a:t>)</a:t>
            </a:r>
            <a:r>
              <a:rPr lang="en-US" b="1" dirty="0">
                <a:latin typeface="Calibri (Body)"/>
              </a:rPr>
              <a:t> SOURCE(CATALOG)</a:t>
            </a:r>
            <a:r>
              <a:rPr lang="en-US" dirty="0">
                <a:latin typeface="Calibri (Body)"/>
              </a:rPr>
              <a:t>  </a:t>
            </a:r>
          </a:p>
          <a:p>
            <a:endParaRPr lang="en-US" b="1" dirty="0">
              <a:latin typeface="Calibri (Body)"/>
            </a:endParaRPr>
          </a:p>
          <a:p>
            <a:r>
              <a:rPr lang="en-US" b="1" dirty="0">
                <a:latin typeface="Calibri (Body)"/>
              </a:rPr>
              <a:t>Instructions:</a:t>
            </a:r>
            <a:r>
              <a:rPr lang="en-US" dirty="0">
                <a:latin typeface="Calibri (Body)"/>
              </a:rPr>
              <a:t>   </a:t>
            </a:r>
            <a:r>
              <a:rPr lang="en-US" b="1" u="sng" dirty="0">
                <a:latin typeface="Calibri (Body)"/>
              </a:rPr>
              <a:t>Do not perform the IMS IMPORT command on this DEMO system</a:t>
            </a:r>
            <a:r>
              <a:rPr lang="en-US" dirty="0">
                <a:latin typeface="Calibri (Body)"/>
              </a:rPr>
              <a:t>!  You have not executed the resource change earlier to the staging libraries (as instructed).</a:t>
            </a:r>
          </a:p>
        </p:txBody>
      </p:sp>
      <p:sp>
        <p:nvSpPr>
          <p:cNvPr id="5" name="TextBox 4">
            <a:extLst>
              <a:ext uri="{FF2B5EF4-FFF2-40B4-BE49-F238E27FC236}">
                <a16:creationId xmlns:a16="http://schemas.microsoft.com/office/drawing/2014/main" id="{EC8429E0-BE75-465E-ADA6-92D5F0596F35}"/>
              </a:ext>
            </a:extLst>
          </p:cNvPr>
          <p:cNvSpPr txBox="1"/>
          <p:nvPr/>
        </p:nvSpPr>
        <p:spPr>
          <a:xfrm>
            <a:off x="533440" y="4533981"/>
            <a:ext cx="10900277" cy="923330"/>
          </a:xfrm>
          <a:prstGeom prst="rect">
            <a:avLst/>
          </a:prstGeom>
          <a:noFill/>
          <a:ln>
            <a:solidFill>
              <a:schemeClr val="accent1"/>
            </a:solidFill>
          </a:ln>
        </p:spPr>
        <p:txBody>
          <a:bodyPr wrap="square" rtlCol="0">
            <a:spAutoFit/>
          </a:bodyPr>
          <a:lstStyle/>
          <a:p>
            <a:r>
              <a:rPr lang="en-US" b="1" dirty="0">
                <a:latin typeface="Calibri (Body)"/>
              </a:rPr>
              <a:t>Note:</a:t>
            </a:r>
            <a:r>
              <a:rPr lang="en-US" dirty="0">
                <a:latin typeface="Calibri (Body)"/>
              </a:rPr>
              <a:t> When using the NAME keyword on the IMS IMPORT command, so you can restrict the population to specific objects vs. populating “every object from the staging” to the active, you must have the following IMSV15 PTF/APAR applied to your  IMSV15 RESLIB:  APAR PI83433 / PTF UI65332</a:t>
            </a:r>
          </a:p>
        </p:txBody>
      </p:sp>
      <p:sp>
        <p:nvSpPr>
          <p:cNvPr id="3" name="Slide Number Placeholder 2">
            <a:extLst>
              <a:ext uri="{FF2B5EF4-FFF2-40B4-BE49-F238E27FC236}">
                <a16:creationId xmlns:a16="http://schemas.microsoft.com/office/drawing/2014/main" id="{CBE1552C-961D-2620-AFA5-43A759D7A276}"/>
              </a:ext>
            </a:extLst>
          </p:cNvPr>
          <p:cNvSpPr>
            <a:spLocks noGrp="1"/>
          </p:cNvSpPr>
          <p:nvPr>
            <p:ph type="sldNum" sz="quarter" idx="12"/>
          </p:nvPr>
        </p:nvSpPr>
        <p:spPr/>
        <p:txBody>
          <a:bodyPr/>
          <a:lstStyle/>
          <a:p>
            <a:fld id="{1C788548-AC4B-4945-A4F1-BA86477A7FC8}" type="slidenum">
              <a:rPr lang="en-US" smtClean="0"/>
              <a:t>45</a:t>
            </a:fld>
            <a:endParaRPr lang="en-US"/>
          </a:p>
        </p:txBody>
      </p:sp>
    </p:spTree>
    <p:extLst>
      <p:ext uri="{BB962C8B-B14F-4D97-AF65-F5344CB8AC3E}">
        <p14:creationId xmlns:p14="http://schemas.microsoft.com/office/powerpoint/2010/main" val="312412622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47E08336-71AB-44BF-9E1A-7442CE355F86}"/>
              </a:ext>
            </a:extLst>
          </p:cNvPr>
          <p:cNvSpPr txBox="1"/>
          <p:nvPr/>
        </p:nvSpPr>
        <p:spPr>
          <a:xfrm>
            <a:off x="1895856" y="1109088"/>
            <a:ext cx="8247888" cy="3898631"/>
          </a:xfrm>
          <a:prstGeom prst="rect">
            <a:avLst/>
          </a:prstGeom>
          <a:solidFill>
            <a:schemeClr val="bg2"/>
          </a:solidFill>
          <a:ln w="57150">
            <a:solidFill>
              <a:srgbClr val="0070C0"/>
            </a:solidFill>
          </a:ln>
        </p:spPr>
        <p:txBody>
          <a:bodyPr wrap="square" rtlCol="0">
            <a:spAutoFit/>
          </a:bodyPr>
          <a:lstStyle/>
          <a:p>
            <a:pPr algn="ctr"/>
            <a:endParaRPr lang="en-US" sz="4267" dirty="0"/>
          </a:p>
          <a:p>
            <a:pPr algn="ctr"/>
            <a:r>
              <a:rPr lang="en-US" sz="5400" b="1" dirty="0"/>
              <a:t>JCL Generation	</a:t>
            </a:r>
          </a:p>
          <a:p>
            <a:pPr algn="ctr"/>
            <a:r>
              <a:rPr lang="en-US" sz="5400" b="1" dirty="0"/>
              <a:t>“Running IMS Utilities”</a:t>
            </a:r>
          </a:p>
          <a:p>
            <a:pPr algn="ctr"/>
            <a:r>
              <a:rPr lang="en-US" sz="5400" dirty="0">
                <a:solidFill>
                  <a:schemeClr val="accent1"/>
                </a:solidFill>
              </a:rPr>
              <a:t>Exercise 4 </a:t>
            </a:r>
          </a:p>
          <a:p>
            <a:pPr algn="ctr"/>
            <a:endParaRPr lang="en-US" sz="4267" dirty="0"/>
          </a:p>
        </p:txBody>
      </p:sp>
      <p:sp>
        <p:nvSpPr>
          <p:cNvPr id="2" name="Slide Number Placeholder 1">
            <a:extLst>
              <a:ext uri="{FF2B5EF4-FFF2-40B4-BE49-F238E27FC236}">
                <a16:creationId xmlns:a16="http://schemas.microsoft.com/office/drawing/2014/main" id="{80FD8A9E-5184-828C-538B-0DE5AD0F6AEC}"/>
              </a:ext>
            </a:extLst>
          </p:cNvPr>
          <p:cNvSpPr>
            <a:spLocks noGrp="1"/>
          </p:cNvSpPr>
          <p:nvPr>
            <p:ph type="sldNum" sz="quarter" idx="12"/>
          </p:nvPr>
        </p:nvSpPr>
        <p:spPr/>
        <p:txBody>
          <a:bodyPr/>
          <a:lstStyle/>
          <a:p>
            <a:fld id="{1C788548-AC4B-4945-A4F1-BA86477A7FC8}" type="slidenum">
              <a:rPr lang="en-US" smtClean="0"/>
              <a:t>46</a:t>
            </a:fld>
            <a:endParaRPr lang="en-US"/>
          </a:p>
        </p:txBody>
      </p:sp>
    </p:spTree>
    <p:extLst>
      <p:ext uri="{BB962C8B-B14F-4D97-AF65-F5344CB8AC3E}">
        <p14:creationId xmlns:p14="http://schemas.microsoft.com/office/powerpoint/2010/main" val="295537530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116">
        <p159:morph option="byObject"/>
      </p:transition>
    </mc:Choice>
    <mc:Fallback xmlns="">
      <p:transition spd="slow" advTm="116">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mph" presetSubtype="0" fill="hold" nodeType="clickEffect">
                                  <p:stCondLst>
                                    <p:cond delay="0"/>
                                  </p:stCondLst>
                                  <p:iterate type="lt">
                                    <p:tmPct val="4000"/>
                                  </p:iterate>
                                  <p:childTnLst>
                                    <p:set>
                                      <p:cBhvr override="childStyle">
                                        <p:cTn id="6" dur="500" fill="hold"/>
                                        <p:tgtEl>
                                          <p:spTgt spid="9">
                                            <p:txEl>
                                              <p:pRg st="1" end="1"/>
                                            </p:txEl>
                                          </p:spTgt>
                                        </p:tgtEl>
                                        <p:attrNameLst>
                                          <p:attrName>style.color</p:attrName>
                                        </p:attrNameLst>
                                      </p:cBhvr>
                                      <p:to>
                                        <p:clrVal>
                                          <a:srgbClr val="FFC000"/>
                                        </p:clrVal>
                                      </p:to>
                                    </p:set>
                                    <p:set>
                                      <p:cBhvr>
                                        <p:cTn id="7" dur="500" fill="hold"/>
                                        <p:tgtEl>
                                          <p:spTgt spid="9">
                                            <p:txEl>
                                              <p:pRg st="1" end="1"/>
                                            </p:txEl>
                                          </p:spTgt>
                                        </p:tgtEl>
                                        <p:attrNameLst>
                                          <p:attrName>fillcolor</p:attrName>
                                        </p:attrNameLst>
                                      </p:cBhvr>
                                      <p:to>
                                        <p:clrVal>
                                          <a:srgbClr val="FFC000"/>
                                        </p:clrVal>
                                      </p:to>
                                    </p:set>
                                    <p:set>
                                      <p:cBhvr>
                                        <p:cTn id="8" dur="500" fill="hold"/>
                                        <p:tgtEl>
                                          <p:spTgt spid="9">
                                            <p:txEl>
                                              <p:pRg st="1" end="1"/>
                                            </p:txEl>
                                          </p:spTgt>
                                        </p:tgtEl>
                                        <p:attrNameLst>
                                          <p:attrName>fill.type</p:attrName>
                                        </p:attrNameLst>
                                      </p:cBhvr>
                                      <p:to>
                                        <p:strVal val="solid"/>
                                      </p:to>
                                    </p:set>
                                  </p:childTnLst>
                                </p:cTn>
                              </p:par>
                            </p:childTnLst>
                          </p:cTn>
                        </p:par>
                      </p:childTnLst>
                    </p:cTn>
                  </p:par>
                  <p:par>
                    <p:cTn id="9" fill="hold">
                      <p:stCondLst>
                        <p:cond delay="indefinite"/>
                      </p:stCondLst>
                      <p:childTnLst>
                        <p:par>
                          <p:cTn id="10" fill="hold">
                            <p:stCondLst>
                              <p:cond delay="0"/>
                            </p:stCondLst>
                            <p:childTnLst>
                              <p:par>
                                <p:cTn id="11" presetID="16" presetClass="emph" presetSubtype="0" fill="hold" nodeType="clickEffect">
                                  <p:stCondLst>
                                    <p:cond delay="0"/>
                                  </p:stCondLst>
                                  <p:iterate type="lt">
                                    <p:tmPct val="4000"/>
                                  </p:iterate>
                                  <p:childTnLst>
                                    <p:set>
                                      <p:cBhvr override="childStyle">
                                        <p:cTn id="12" dur="500" fill="hold"/>
                                        <p:tgtEl>
                                          <p:spTgt spid="9">
                                            <p:txEl>
                                              <p:pRg st="2" end="2"/>
                                            </p:txEl>
                                          </p:spTgt>
                                        </p:tgtEl>
                                        <p:attrNameLst>
                                          <p:attrName>style.color</p:attrName>
                                        </p:attrNameLst>
                                      </p:cBhvr>
                                      <p:to>
                                        <p:clrVal>
                                          <a:srgbClr val="FFC000"/>
                                        </p:clrVal>
                                      </p:to>
                                    </p:set>
                                    <p:set>
                                      <p:cBhvr>
                                        <p:cTn id="13" dur="500" fill="hold"/>
                                        <p:tgtEl>
                                          <p:spTgt spid="9">
                                            <p:txEl>
                                              <p:pRg st="2" end="2"/>
                                            </p:txEl>
                                          </p:spTgt>
                                        </p:tgtEl>
                                        <p:attrNameLst>
                                          <p:attrName>fillcolor</p:attrName>
                                        </p:attrNameLst>
                                      </p:cBhvr>
                                      <p:to>
                                        <p:clrVal>
                                          <a:srgbClr val="FFC000"/>
                                        </p:clrVal>
                                      </p:to>
                                    </p:set>
                                    <p:set>
                                      <p:cBhvr>
                                        <p:cTn id="14" dur="500" fill="hold"/>
                                        <p:tgtEl>
                                          <p:spTgt spid="9">
                                            <p:txEl>
                                              <p:pRg st="2" end="2"/>
                                            </p:txEl>
                                          </p:spTgt>
                                        </p:tgtEl>
                                        <p:attrNameLst>
                                          <p:attrName>fill.type</p:attrName>
                                        </p:attrNameLst>
                                      </p:cBhvr>
                                      <p:to>
                                        <p:strVal val="solid"/>
                                      </p:to>
                                    </p:set>
                                  </p:childTnLst>
                                </p:cTn>
                              </p:par>
                            </p:childTnLst>
                          </p:cTn>
                        </p:par>
                      </p:childTnLst>
                    </p:cTn>
                  </p:par>
                  <p:par>
                    <p:cTn id="15" fill="hold">
                      <p:stCondLst>
                        <p:cond delay="indefinite"/>
                      </p:stCondLst>
                      <p:childTnLst>
                        <p:par>
                          <p:cTn id="16" fill="hold">
                            <p:stCondLst>
                              <p:cond delay="0"/>
                            </p:stCondLst>
                            <p:childTnLst>
                              <p:par>
                                <p:cTn id="17" presetID="16" presetClass="emph" presetSubtype="0" fill="hold" nodeType="clickEffect">
                                  <p:stCondLst>
                                    <p:cond delay="0"/>
                                  </p:stCondLst>
                                  <p:iterate type="lt">
                                    <p:tmPct val="4000"/>
                                  </p:iterate>
                                  <p:childTnLst>
                                    <p:set>
                                      <p:cBhvr override="childStyle">
                                        <p:cTn id="18" dur="500" fill="hold"/>
                                        <p:tgtEl>
                                          <p:spTgt spid="9">
                                            <p:txEl>
                                              <p:pRg st="3" end="3"/>
                                            </p:txEl>
                                          </p:spTgt>
                                        </p:tgtEl>
                                        <p:attrNameLst>
                                          <p:attrName>style.color</p:attrName>
                                        </p:attrNameLst>
                                      </p:cBhvr>
                                      <p:to>
                                        <p:clrVal>
                                          <a:srgbClr val="FFC000"/>
                                        </p:clrVal>
                                      </p:to>
                                    </p:set>
                                    <p:set>
                                      <p:cBhvr>
                                        <p:cTn id="19" dur="500" fill="hold"/>
                                        <p:tgtEl>
                                          <p:spTgt spid="9">
                                            <p:txEl>
                                              <p:pRg st="3" end="3"/>
                                            </p:txEl>
                                          </p:spTgt>
                                        </p:tgtEl>
                                        <p:attrNameLst>
                                          <p:attrName>fillcolor</p:attrName>
                                        </p:attrNameLst>
                                      </p:cBhvr>
                                      <p:to>
                                        <p:clrVal>
                                          <a:srgbClr val="FFC000"/>
                                        </p:clrVal>
                                      </p:to>
                                    </p:set>
                                    <p:set>
                                      <p:cBhvr>
                                        <p:cTn id="20" dur="500" fill="hold"/>
                                        <p:tgtEl>
                                          <p:spTgt spid="9">
                                            <p:txEl>
                                              <p:pRg st="3" end="3"/>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5DD04D75-5580-4918-ACD6-01E26F36A2CB}"/>
              </a:ext>
            </a:extLst>
          </p:cNvPr>
          <p:cNvSpPr>
            <a:spLocks noGrp="1"/>
          </p:cNvSpPr>
          <p:nvPr>
            <p:ph type="subTitle" idx="4294967295"/>
          </p:nvPr>
        </p:nvSpPr>
        <p:spPr>
          <a:xfrm>
            <a:off x="835743" y="203198"/>
            <a:ext cx="10771042" cy="2603061"/>
          </a:xfrm>
          <a:prstGeom prst="rect">
            <a:avLst/>
          </a:prstGeom>
        </p:spPr>
        <p:txBody>
          <a:bodyPr>
            <a:normAutofit/>
          </a:bodyPr>
          <a:lstStyle/>
          <a:p>
            <a:pPr marL="0" indent="0" algn="l">
              <a:buNone/>
            </a:pPr>
            <a:r>
              <a:rPr lang="en-US" sz="2400" b="1" dirty="0">
                <a:solidFill>
                  <a:schemeClr val="accent1">
                    <a:lumMod val="75000"/>
                  </a:schemeClr>
                </a:solidFill>
              </a:rPr>
              <a:t>IMS Administration Tool ISPF LAB Exercise 4 </a:t>
            </a:r>
          </a:p>
          <a:p>
            <a:pPr marL="0" indent="0">
              <a:lnSpc>
                <a:spcPts val="1800"/>
              </a:lnSpc>
              <a:buNone/>
            </a:pPr>
            <a:r>
              <a:rPr lang="en-US" sz="1800" b="1" dirty="0"/>
              <a:t>Key Feature:   Generate JCL to run IMS Tools/Utilities </a:t>
            </a:r>
          </a:p>
          <a:p>
            <a:pPr marL="1260475" indent="-1260475">
              <a:lnSpc>
                <a:spcPts val="1800"/>
              </a:lnSpc>
              <a:buNone/>
            </a:pPr>
            <a:r>
              <a:rPr lang="en-US" sz="1800" b="1" dirty="0"/>
              <a:t>Description:</a:t>
            </a:r>
            <a:r>
              <a:rPr lang="en-US" sz="1800" dirty="0"/>
              <a:t>  You can generate JCL for the IMS Tools that you have installed and registered to ITKB.  The tools that are  supported by this process provide you with JCL templates/variables that are used when generating JCL.</a:t>
            </a:r>
          </a:p>
          <a:p>
            <a:pPr marL="1260475" indent="0">
              <a:lnSpc>
                <a:spcPts val="1800"/>
              </a:lnSpc>
              <a:buNone/>
            </a:pPr>
            <a:r>
              <a:rPr lang="en-US" sz="1800" dirty="0"/>
              <a:t>You are also allowed to create your own templates for other user-supplied functions.  </a:t>
            </a:r>
          </a:p>
          <a:p>
            <a:pPr marL="0" indent="0">
              <a:lnSpc>
                <a:spcPts val="1800"/>
              </a:lnSpc>
              <a:buNone/>
            </a:pPr>
            <a:r>
              <a:rPr lang="en-US" sz="1800" b="1" dirty="0"/>
              <a:t>Instructions:</a:t>
            </a:r>
            <a:r>
              <a:rPr lang="en-US" sz="1800" dirty="0"/>
              <a:t>  From the “IMS Administration Tool for z/OS” main menu, Select Option “</a:t>
            </a:r>
            <a:r>
              <a:rPr lang="en-US" sz="1800" dirty="0">
                <a:highlight>
                  <a:srgbClr val="FFFF00"/>
                </a:highlight>
              </a:rPr>
              <a:t>3</a:t>
            </a:r>
            <a:r>
              <a:rPr lang="en-US" sz="1800" dirty="0"/>
              <a:t>” (Run IMS Utilities).</a:t>
            </a:r>
            <a:endParaRPr lang="en-US" sz="2200" dirty="0"/>
          </a:p>
        </p:txBody>
      </p:sp>
      <p:cxnSp>
        <p:nvCxnSpPr>
          <p:cNvPr id="6" name="Straight Arrow Connector 5">
            <a:extLst>
              <a:ext uri="{FF2B5EF4-FFF2-40B4-BE49-F238E27FC236}">
                <a16:creationId xmlns:a16="http://schemas.microsoft.com/office/drawing/2014/main" id="{479AFCE2-7DA0-410F-A087-FFB8078EC879}"/>
              </a:ext>
            </a:extLst>
          </p:cNvPr>
          <p:cNvCxnSpPr>
            <a:cxnSpLocks/>
          </p:cNvCxnSpPr>
          <p:nvPr/>
        </p:nvCxnSpPr>
        <p:spPr>
          <a:xfrm>
            <a:off x="1240297" y="3273448"/>
            <a:ext cx="414528"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pic>
        <p:nvPicPr>
          <p:cNvPr id="4" name="Picture 3">
            <a:extLst>
              <a:ext uri="{FF2B5EF4-FFF2-40B4-BE49-F238E27FC236}">
                <a16:creationId xmlns:a16="http://schemas.microsoft.com/office/drawing/2014/main" id="{DD93D354-3410-FE3A-31E6-10138605A5D9}"/>
              </a:ext>
            </a:extLst>
          </p:cNvPr>
          <p:cNvPicPr>
            <a:picLocks noChangeAspect="1"/>
          </p:cNvPicPr>
          <p:nvPr/>
        </p:nvPicPr>
        <p:blipFill>
          <a:blip r:embed="rId2"/>
          <a:stretch>
            <a:fillRect/>
          </a:stretch>
        </p:blipFill>
        <p:spPr>
          <a:xfrm>
            <a:off x="1654825" y="2924480"/>
            <a:ext cx="8882349" cy="2863615"/>
          </a:xfrm>
          <a:prstGeom prst="rect">
            <a:avLst/>
          </a:prstGeom>
          <a:effectLst>
            <a:glow rad="63500">
              <a:schemeClr val="accent3">
                <a:satMod val="175000"/>
                <a:alpha val="40000"/>
              </a:schemeClr>
            </a:glow>
          </a:effectLst>
        </p:spPr>
      </p:pic>
      <p:sp>
        <p:nvSpPr>
          <p:cNvPr id="2" name="Slide Number Placeholder 1">
            <a:extLst>
              <a:ext uri="{FF2B5EF4-FFF2-40B4-BE49-F238E27FC236}">
                <a16:creationId xmlns:a16="http://schemas.microsoft.com/office/drawing/2014/main" id="{6D6B488D-94DF-1748-0FBA-6A027A61BB98}"/>
              </a:ext>
            </a:extLst>
          </p:cNvPr>
          <p:cNvSpPr>
            <a:spLocks noGrp="1"/>
          </p:cNvSpPr>
          <p:nvPr>
            <p:ph type="sldNum" sz="quarter" idx="12"/>
          </p:nvPr>
        </p:nvSpPr>
        <p:spPr/>
        <p:txBody>
          <a:bodyPr/>
          <a:lstStyle/>
          <a:p>
            <a:fld id="{1C788548-AC4B-4945-A4F1-BA86477A7FC8}" type="slidenum">
              <a:rPr lang="en-US" smtClean="0"/>
              <a:t>47</a:t>
            </a:fld>
            <a:endParaRPr lang="en-US"/>
          </a:p>
        </p:txBody>
      </p:sp>
    </p:spTree>
    <p:extLst>
      <p:ext uri="{BB962C8B-B14F-4D97-AF65-F5344CB8AC3E}">
        <p14:creationId xmlns:p14="http://schemas.microsoft.com/office/powerpoint/2010/main" val="243702856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47E08336-71AB-44BF-9E1A-7442CE355F86}"/>
              </a:ext>
            </a:extLst>
          </p:cNvPr>
          <p:cNvSpPr txBox="1"/>
          <p:nvPr/>
        </p:nvSpPr>
        <p:spPr>
          <a:xfrm>
            <a:off x="2871216" y="1157856"/>
            <a:ext cx="5708161" cy="3067635"/>
          </a:xfrm>
          <a:prstGeom prst="rect">
            <a:avLst/>
          </a:prstGeom>
          <a:solidFill>
            <a:schemeClr val="bg2"/>
          </a:solidFill>
          <a:ln w="57150">
            <a:solidFill>
              <a:srgbClr val="0070C0"/>
            </a:solidFill>
          </a:ln>
        </p:spPr>
        <p:txBody>
          <a:bodyPr wrap="square" rtlCol="0">
            <a:spAutoFit/>
          </a:bodyPr>
          <a:lstStyle/>
          <a:p>
            <a:pPr algn="ctr"/>
            <a:endParaRPr lang="en-US" sz="4267" dirty="0"/>
          </a:p>
          <a:p>
            <a:pPr algn="ctr"/>
            <a:r>
              <a:rPr lang="en-US" sz="5400" b="1" dirty="0"/>
              <a:t>JCL Generation</a:t>
            </a:r>
          </a:p>
          <a:p>
            <a:pPr algn="ctr"/>
            <a:r>
              <a:rPr lang="en-US" sz="5400" dirty="0"/>
              <a:t>Profiles</a:t>
            </a:r>
          </a:p>
          <a:p>
            <a:pPr algn="ctr"/>
            <a:endParaRPr lang="en-US" sz="4267" dirty="0"/>
          </a:p>
        </p:txBody>
      </p:sp>
      <p:sp>
        <p:nvSpPr>
          <p:cNvPr id="2" name="Slide Number Placeholder 1">
            <a:extLst>
              <a:ext uri="{FF2B5EF4-FFF2-40B4-BE49-F238E27FC236}">
                <a16:creationId xmlns:a16="http://schemas.microsoft.com/office/drawing/2014/main" id="{9FF6B1DE-974B-3247-FF1F-B2B975D48500}"/>
              </a:ext>
            </a:extLst>
          </p:cNvPr>
          <p:cNvSpPr>
            <a:spLocks noGrp="1"/>
          </p:cNvSpPr>
          <p:nvPr>
            <p:ph type="sldNum" sz="quarter" idx="12"/>
          </p:nvPr>
        </p:nvSpPr>
        <p:spPr/>
        <p:txBody>
          <a:bodyPr/>
          <a:lstStyle/>
          <a:p>
            <a:fld id="{1C788548-AC4B-4945-A4F1-BA86477A7FC8}" type="slidenum">
              <a:rPr lang="en-US" smtClean="0"/>
              <a:t>48</a:t>
            </a:fld>
            <a:endParaRPr lang="en-US"/>
          </a:p>
        </p:txBody>
      </p:sp>
    </p:spTree>
    <p:extLst>
      <p:ext uri="{BB962C8B-B14F-4D97-AF65-F5344CB8AC3E}">
        <p14:creationId xmlns:p14="http://schemas.microsoft.com/office/powerpoint/2010/main" val="39130655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116">
        <p159:morph option="byObject"/>
      </p:transition>
    </mc:Choice>
    <mc:Fallback xmlns="">
      <p:transition spd="slow" advTm="116">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mph" presetSubtype="0" fill="hold" nodeType="clickEffect">
                                  <p:stCondLst>
                                    <p:cond delay="0"/>
                                  </p:stCondLst>
                                  <p:iterate type="lt">
                                    <p:tmPct val="4000"/>
                                  </p:iterate>
                                  <p:childTnLst>
                                    <p:set>
                                      <p:cBhvr override="childStyle">
                                        <p:cTn id="6" dur="500" fill="hold"/>
                                        <p:tgtEl>
                                          <p:spTgt spid="9">
                                            <p:txEl>
                                              <p:pRg st="1" end="1"/>
                                            </p:txEl>
                                          </p:spTgt>
                                        </p:tgtEl>
                                        <p:attrNameLst>
                                          <p:attrName>style.color</p:attrName>
                                        </p:attrNameLst>
                                      </p:cBhvr>
                                      <p:to>
                                        <p:clrVal>
                                          <a:srgbClr val="FFC000"/>
                                        </p:clrVal>
                                      </p:to>
                                    </p:set>
                                    <p:set>
                                      <p:cBhvr>
                                        <p:cTn id="7" dur="500" fill="hold"/>
                                        <p:tgtEl>
                                          <p:spTgt spid="9">
                                            <p:txEl>
                                              <p:pRg st="1" end="1"/>
                                            </p:txEl>
                                          </p:spTgt>
                                        </p:tgtEl>
                                        <p:attrNameLst>
                                          <p:attrName>fillcolor</p:attrName>
                                        </p:attrNameLst>
                                      </p:cBhvr>
                                      <p:to>
                                        <p:clrVal>
                                          <a:srgbClr val="FFC000"/>
                                        </p:clrVal>
                                      </p:to>
                                    </p:set>
                                    <p:set>
                                      <p:cBhvr>
                                        <p:cTn id="8" dur="500" fill="hold"/>
                                        <p:tgtEl>
                                          <p:spTgt spid="9">
                                            <p:txEl>
                                              <p:pRg st="1" end="1"/>
                                            </p:txEl>
                                          </p:spTgt>
                                        </p:tgtEl>
                                        <p:attrNameLst>
                                          <p:attrName>fill.type</p:attrName>
                                        </p:attrNameLst>
                                      </p:cBhvr>
                                      <p:to>
                                        <p:strVal val="solid"/>
                                      </p:to>
                                    </p:set>
                                  </p:childTnLst>
                                </p:cTn>
                              </p:par>
                            </p:childTnLst>
                          </p:cTn>
                        </p:par>
                      </p:childTnLst>
                    </p:cTn>
                  </p:par>
                  <p:par>
                    <p:cTn id="9" fill="hold">
                      <p:stCondLst>
                        <p:cond delay="indefinite"/>
                      </p:stCondLst>
                      <p:childTnLst>
                        <p:par>
                          <p:cTn id="10" fill="hold">
                            <p:stCondLst>
                              <p:cond delay="0"/>
                            </p:stCondLst>
                            <p:childTnLst>
                              <p:par>
                                <p:cTn id="11" presetID="16" presetClass="emph" presetSubtype="0" fill="hold" nodeType="clickEffect">
                                  <p:stCondLst>
                                    <p:cond delay="0"/>
                                  </p:stCondLst>
                                  <p:iterate type="lt">
                                    <p:tmPct val="4000"/>
                                  </p:iterate>
                                  <p:childTnLst>
                                    <p:set>
                                      <p:cBhvr override="childStyle">
                                        <p:cTn id="12" dur="500" fill="hold"/>
                                        <p:tgtEl>
                                          <p:spTgt spid="9">
                                            <p:txEl>
                                              <p:pRg st="2" end="2"/>
                                            </p:txEl>
                                          </p:spTgt>
                                        </p:tgtEl>
                                        <p:attrNameLst>
                                          <p:attrName>style.color</p:attrName>
                                        </p:attrNameLst>
                                      </p:cBhvr>
                                      <p:to>
                                        <p:clrVal>
                                          <a:srgbClr val="FFC000"/>
                                        </p:clrVal>
                                      </p:to>
                                    </p:set>
                                    <p:set>
                                      <p:cBhvr>
                                        <p:cTn id="13" dur="500" fill="hold"/>
                                        <p:tgtEl>
                                          <p:spTgt spid="9">
                                            <p:txEl>
                                              <p:pRg st="2" end="2"/>
                                            </p:txEl>
                                          </p:spTgt>
                                        </p:tgtEl>
                                        <p:attrNameLst>
                                          <p:attrName>fillcolor</p:attrName>
                                        </p:attrNameLst>
                                      </p:cBhvr>
                                      <p:to>
                                        <p:clrVal>
                                          <a:srgbClr val="FFC000"/>
                                        </p:clrVal>
                                      </p:to>
                                    </p:set>
                                    <p:set>
                                      <p:cBhvr>
                                        <p:cTn id="14" dur="500" fill="hold"/>
                                        <p:tgtEl>
                                          <p:spTgt spid="9">
                                            <p:txEl>
                                              <p:pRg st="2" end="2"/>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5DD04D75-5580-4918-ACD6-01E26F36A2CB}"/>
              </a:ext>
            </a:extLst>
          </p:cNvPr>
          <p:cNvSpPr>
            <a:spLocks noGrp="1"/>
          </p:cNvSpPr>
          <p:nvPr>
            <p:ph type="subTitle" idx="4294967295"/>
          </p:nvPr>
        </p:nvSpPr>
        <p:spPr>
          <a:xfrm>
            <a:off x="961009" y="203197"/>
            <a:ext cx="10901807" cy="2902309"/>
          </a:xfrm>
          <a:prstGeom prst="rect">
            <a:avLst/>
          </a:prstGeom>
        </p:spPr>
        <p:txBody>
          <a:bodyPr>
            <a:normAutofit fontScale="62500" lnSpcReduction="20000"/>
          </a:bodyPr>
          <a:lstStyle/>
          <a:p>
            <a:pPr marL="0" indent="0" algn="l">
              <a:buNone/>
            </a:pPr>
            <a:r>
              <a:rPr lang="en-US" sz="3800" b="1" dirty="0">
                <a:solidFill>
                  <a:schemeClr val="accent1">
                    <a:lumMod val="75000"/>
                  </a:schemeClr>
                </a:solidFill>
              </a:rPr>
              <a:t>IMS Administration Tool ISPF LAB Exercise 4a </a:t>
            </a:r>
          </a:p>
          <a:p>
            <a:pPr marL="0" indent="0">
              <a:buNone/>
            </a:pPr>
            <a:r>
              <a:rPr lang="en-US" b="1" dirty="0"/>
              <a:t>Key Feature:  Run IMS Utilities:   </a:t>
            </a:r>
            <a:r>
              <a:rPr lang="en-US" b="1" u="sng" dirty="0"/>
              <a:t>Object</a:t>
            </a:r>
            <a:r>
              <a:rPr lang="en-US" b="1" dirty="0"/>
              <a:t> Profiles  </a:t>
            </a:r>
          </a:p>
          <a:p>
            <a:pPr marL="0" indent="0">
              <a:lnSpc>
                <a:spcPct val="120000"/>
              </a:lnSpc>
              <a:spcBef>
                <a:spcPts val="600"/>
              </a:spcBef>
              <a:spcAft>
                <a:spcPts val="300"/>
              </a:spcAft>
              <a:buNone/>
            </a:pPr>
            <a:r>
              <a:rPr lang="en-US" b="1" dirty="0"/>
              <a:t>Description:</a:t>
            </a:r>
            <a:r>
              <a:rPr lang="en-US" dirty="0"/>
              <a:t>  JCL Generation </a:t>
            </a:r>
            <a:r>
              <a:rPr lang="en-US" b="1" dirty="0"/>
              <a:t>requires 3 different profiles </a:t>
            </a:r>
            <a:r>
              <a:rPr lang="en-US" dirty="0"/>
              <a:t>to exist. There are three types of profiles:</a:t>
            </a:r>
          </a:p>
          <a:p>
            <a:pPr marL="344488" indent="-231775">
              <a:lnSpc>
                <a:spcPct val="120000"/>
              </a:lnSpc>
              <a:spcBef>
                <a:spcPts val="0"/>
              </a:spcBef>
              <a:spcAft>
                <a:spcPts val="300"/>
              </a:spcAft>
            </a:pPr>
            <a:r>
              <a:rPr lang="en-US" sz="2600" dirty="0">
                <a:highlight>
                  <a:srgbClr val="FFFF00"/>
                </a:highlight>
              </a:rPr>
              <a:t>The </a:t>
            </a:r>
            <a:r>
              <a:rPr lang="en-US" sz="2600" b="1" dirty="0">
                <a:highlight>
                  <a:srgbClr val="FFFF00"/>
                </a:highlight>
              </a:rPr>
              <a:t>Object Profiles</a:t>
            </a:r>
            <a:r>
              <a:rPr lang="en-US" sz="2600" dirty="0">
                <a:highlight>
                  <a:srgbClr val="FFFF00"/>
                </a:highlight>
              </a:rPr>
              <a:t> contain the DBD, PSB, or DBRC group objects which you want to use in the JCL process. </a:t>
            </a:r>
          </a:p>
          <a:p>
            <a:pPr marL="344488" indent="-231775">
              <a:lnSpc>
                <a:spcPct val="120000"/>
              </a:lnSpc>
              <a:spcBef>
                <a:spcPts val="0"/>
              </a:spcBef>
              <a:spcAft>
                <a:spcPts val="300"/>
              </a:spcAft>
            </a:pPr>
            <a:r>
              <a:rPr lang="en-US" sz="2600" dirty="0"/>
              <a:t>The </a:t>
            </a:r>
            <a:r>
              <a:rPr lang="en-US" sz="2600" b="1" dirty="0"/>
              <a:t>Utility Profiles</a:t>
            </a:r>
            <a:r>
              <a:rPr lang="en-US" sz="2600" dirty="0"/>
              <a:t> contain the IMS Utilities/functions which you want to perform in the JCL process. </a:t>
            </a:r>
          </a:p>
          <a:p>
            <a:pPr marL="344488" indent="-231775">
              <a:lnSpc>
                <a:spcPct val="120000"/>
              </a:lnSpc>
              <a:spcBef>
                <a:spcPts val="0"/>
              </a:spcBef>
              <a:spcAft>
                <a:spcPts val="300"/>
              </a:spcAft>
            </a:pPr>
            <a:r>
              <a:rPr lang="en-US" sz="2600" dirty="0"/>
              <a:t>The </a:t>
            </a:r>
            <a:r>
              <a:rPr lang="en-US" sz="2600" b="1" dirty="0"/>
              <a:t>Job Profiles</a:t>
            </a:r>
            <a:r>
              <a:rPr lang="en-US" sz="2600" dirty="0"/>
              <a:t> contain JOB related information as well as connecting the Object and the Utility together with a specific JOB.</a:t>
            </a:r>
          </a:p>
          <a:p>
            <a:pPr marL="344488" indent="-231775">
              <a:lnSpc>
                <a:spcPct val="120000"/>
              </a:lnSpc>
              <a:spcBef>
                <a:spcPts val="0"/>
              </a:spcBef>
              <a:spcAft>
                <a:spcPts val="300"/>
              </a:spcAft>
            </a:pPr>
            <a:r>
              <a:rPr lang="en-US" sz="2600" dirty="0"/>
              <a:t>Object and Utility Profiles can be shared across multiple Job Profiles.</a:t>
            </a:r>
            <a:r>
              <a:rPr lang="en-US" dirty="0"/>
              <a:t>  </a:t>
            </a:r>
          </a:p>
          <a:p>
            <a:pPr marL="0" indent="0">
              <a:lnSpc>
                <a:spcPct val="120000"/>
              </a:lnSpc>
              <a:spcBef>
                <a:spcPts val="300"/>
              </a:spcBef>
              <a:buNone/>
            </a:pPr>
            <a:r>
              <a:rPr lang="en-US" b="1" dirty="0"/>
              <a:t>Instructions:  </a:t>
            </a:r>
            <a:r>
              <a:rPr lang="en-US" dirty="0"/>
              <a:t>Select Option “</a:t>
            </a:r>
            <a:r>
              <a:rPr lang="en-US" dirty="0">
                <a:highlight>
                  <a:srgbClr val="FFFF00"/>
                </a:highlight>
              </a:rPr>
              <a:t>1</a:t>
            </a:r>
            <a:r>
              <a:rPr lang="en-US" dirty="0"/>
              <a:t>”and specify “</a:t>
            </a:r>
            <a:r>
              <a:rPr lang="en-US" dirty="0">
                <a:highlight>
                  <a:srgbClr val="FFFF00"/>
                </a:highlight>
              </a:rPr>
              <a:t>IVP1</a:t>
            </a:r>
            <a:r>
              <a:rPr lang="en-US" dirty="0"/>
              <a:t>” as the IMSID Filter to create/view/model an Object Profile.</a:t>
            </a:r>
          </a:p>
          <a:p>
            <a:pPr marL="0" indent="0">
              <a:lnSpc>
                <a:spcPct val="120000"/>
              </a:lnSpc>
              <a:spcBef>
                <a:spcPts val="300"/>
              </a:spcBef>
              <a:buNone/>
            </a:pPr>
            <a:r>
              <a:rPr lang="en-US" dirty="0"/>
              <a:t>You can view and/or create your own profiles for this LAB.  Please do not update any existing profiles.</a:t>
            </a:r>
            <a:endParaRPr lang="en-US" sz="2600" dirty="0"/>
          </a:p>
        </p:txBody>
      </p:sp>
      <p:cxnSp>
        <p:nvCxnSpPr>
          <p:cNvPr id="8" name="Straight Arrow Connector 7">
            <a:extLst>
              <a:ext uri="{FF2B5EF4-FFF2-40B4-BE49-F238E27FC236}">
                <a16:creationId xmlns:a16="http://schemas.microsoft.com/office/drawing/2014/main" id="{39805804-B00C-4929-B8D8-E8A88C1847D0}"/>
              </a:ext>
            </a:extLst>
          </p:cNvPr>
          <p:cNvCxnSpPr>
            <a:cxnSpLocks/>
          </p:cNvCxnSpPr>
          <p:nvPr/>
        </p:nvCxnSpPr>
        <p:spPr>
          <a:xfrm>
            <a:off x="2155216" y="5523243"/>
            <a:ext cx="414528"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6" name="Straight Arrow Connector 5">
            <a:extLst>
              <a:ext uri="{FF2B5EF4-FFF2-40B4-BE49-F238E27FC236}">
                <a16:creationId xmlns:a16="http://schemas.microsoft.com/office/drawing/2014/main" id="{479AFCE2-7DA0-410F-A087-FFB8078EC879}"/>
              </a:ext>
            </a:extLst>
          </p:cNvPr>
          <p:cNvCxnSpPr>
            <a:cxnSpLocks/>
          </p:cNvCxnSpPr>
          <p:nvPr/>
        </p:nvCxnSpPr>
        <p:spPr>
          <a:xfrm>
            <a:off x="2155910" y="3527212"/>
            <a:ext cx="414528"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pic>
        <p:nvPicPr>
          <p:cNvPr id="5" name="Picture 4">
            <a:extLst>
              <a:ext uri="{FF2B5EF4-FFF2-40B4-BE49-F238E27FC236}">
                <a16:creationId xmlns:a16="http://schemas.microsoft.com/office/drawing/2014/main" id="{FF17C986-93B0-117A-1E63-72F554CE2033}"/>
              </a:ext>
            </a:extLst>
          </p:cNvPr>
          <p:cNvPicPr>
            <a:picLocks noChangeAspect="1"/>
          </p:cNvPicPr>
          <p:nvPr/>
        </p:nvPicPr>
        <p:blipFill>
          <a:blip r:embed="rId2"/>
          <a:stretch>
            <a:fillRect/>
          </a:stretch>
        </p:blipFill>
        <p:spPr>
          <a:xfrm>
            <a:off x="2599170" y="3265101"/>
            <a:ext cx="6993660" cy="3036899"/>
          </a:xfrm>
          <a:prstGeom prst="rect">
            <a:avLst/>
          </a:prstGeom>
          <a:effectLst>
            <a:glow rad="63500">
              <a:schemeClr val="accent3">
                <a:satMod val="175000"/>
                <a:alpha val="40000"/>
              </a:schemeClr>
            </a:glow>
          </a:effectLst>
        </p:spPr>
      </p:pic>
      <p:sp>
        <p:nvSpPr>
          <p:cNvPr id="2" name="Slide Number Placeholder 1">
            <a:extLst>
              <a:ext uri="{FF2B5EF4-FFF2-40B4-BE49-F238E27FC236}">
                <a16:creationId xmlns:a16="http://schemas.microsoft.com/office/drawing/2014/main" id="{88BF4F85-2AEC-B1B5-B61C-A6F0460BA87A}"/>
              </a:ext>
            </a:extLst>
          </p:cNvPr>
          <p:cNvSpPr>
            <a:spLocks noGrp="1"/>
          </p:cNvSpPr>
          <p:nvPr>
            <p:ph type="sldNum" sz="quarter" idx="12"/>
          </p:nvPr>
        </p:nvSpPr>
        <p:spPr/>
        <p:txBody>
          <a:bodyPr/>
          <a:lstStyle/>
          <a:p>
            <a:fld id="{1C788548-AC4B-4945-A4F1-BA86477A7FC8}" type="slidenum">
              <a:rPr lang="en-US" smtClean="0"/>
              <a:t>49</a:t>
            </a:fld>
            <a:endParaRPr lang="en-US"/>
          </a:p>
        </p:txBody>
      </p:sp>
    </p:spTree>
    <p:extLst>
      <p:ext uri="{BB962C8B-B14F-4D97-AF65-F5344CB8AC3E}">
        <p14:creationId xmlns:p14="http://schemas.microsoft.com/office/powerpoint/2010/main" val="328468035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5DD04D75-5580-4918-ACD6-01E26F36A2CB}"/>
              </a:ext>
            </a:extLst>
          </p:cNvPr>
          <p:cNvSpPr>
            <a:spLocks noGrp="1"/>
          </p:cNvSpPr>
          <p:nvPr>
            <p:ph type="subTitle" idx="4294967295"/>
          </p:nvPr>
        </p:nvSpPr>
        <p:spPr>
          <a:xfrm>
            <a:off x="961009" y="203198"/>
            <a:ext cx="10901807" cy="2830979"/>
          </a:xfrm>
          <a:prstGeom prst="rect">
            <a:avLst/>
          </a:prstGeom>
        </p:spPr>
        <p:txBody>
          <a:bodyPr>
            <a:normAutofit fontScale="47500" lnSpcReduction="20000"/>
          </a:bodyPr>
          <a:lstStyle/>
          <a:p>
            <a:pPr marL="0" indent="0" algn="l">
              <a:buNone/>
            </a:pPr>
            <a:r>
              <a:rPr lang="en-US" sz="4400" b="1" dirty="0">
                <a:solidFill>
                  <a:schemeClr val="accent1">
                    <a:lumMod val="75000"/>
                  </a:schemeClr>
                </a:solidFill>
              </a:rPr>
              <a:t>IMS Administration Tool ISPF LAB Exercise 4b</a:t>
            </a:r>
            <a:r>
              <a:rPr lang="en-US" sz="3500" b="1" dirty="0">
                <a:solidFill>
                  <a:schemeClr val="accent1">
                    <a:lumMod val="75000"/>
                  </a:schemeClr>
                </a:solidFill>
              </a:rPr>
              <a:t> </a:t>
            </a:r>
          </a:p>
          <a:p>
            <a:pPr marL="0" indent="0">
              <a:lnSpc>
                <a:spcPct val="120000"/>
              </a:lnSpc>
              <a:spcBef>
                <a:spcPts val="600"/>
              </a:spcBef>
              <a:buNone/>
            </a:pPr>
            <a:r>
              <a:rPr lang="en-US" sz="3300" b="1" dirty="0"/>
              <a:t>Key Feature:  Run IMS Utilities:   Utility Profiles </a:t>
            </a:r>
          </a:p>
          <a:p>
            <a:pPr marL="0" indent="0">
              <a:lnSpc>
                <a:spcPct val="120000"/>
              </a:lnSpc>
              <a:spcBef>
                <a:spcPts val="600"/>
              </a:spcBef>
              <a:spcAft>
                <a:spcPts val="300"/>
              </a:spcAft>
              <a:buNone/>
            </a:pPr>
            <a:r>
              <a:rPr lang="en-US" sz="3300" b="1" dirty="0"/>
              <a:t>Description:  </a:t>
            </a:r>
            <a:r>
              <a:rPr lang="en-US" sz="3300" dirty="0"/>
              <a:t>The Utility Profile contains the IMS Utilities/functions which you want to perform in the JCL process.</a:t>
            </a:r>
          </a:p>
          <a:p>
            <a:pPr marL="0" indent="0">
              <a:lnSpc>
                <a:spcPct val="120000"/>
              </a:lnSpc>
              <a:spcBef>
                <a:spcPts val="300"/>
              </a:spcBef>
              <a:buNone/>
            </a:pPr>
            <a:r>
              <a:rPr lang="en-US" sz="3300" b="1" dirty="0"/>
              <a:t>Instructions:  </a:t>
            </a:r>
            <a:r>
              <a:rPr lang="en-US" sz="3300" dirty="0"/>
              <a:t>Select Option “</a:t>
            </a:r>
            <a:r>
              <a:rPr lang="en-US" sz="3300" b="1" dirty="0">
                <a:highlight>
                  <a:srgbClr val="FFFF00"/>
                </a:highlight>
              </a:rPr>
              <a:t>2</a:t>
            </a:r>
            <a:r>
              <a:rPr lang="en-US" sz="3300" dirty="0"/>
              <a:t>” and “</a:t>
            </a:r>
            <a:r>
              <a:rPr lang="en-US" sz="3300" dirty="0">
                <a:highlight>
                  <a:srgbClr val="FFFF00"/>
                </a:highlight>
              </a:rPr>
              <a:t>IVP1</a:t>
            </a:r>
            <a:r>
              <a:rPr lang="en-US" sz="3300" dirty="0"/>
              <a:t>” as the IMSID Filter to create/view/model a Utility Profile. Specify “IFA1” for the IMSID.  For this exercise, we will view a utility profile that is setup to do an “offline single-step reorg" using IMS Database Reorganization Expert Smart Reorg utility.  Please do not update any existing profiles.</a:t>
            </a:r>
          </a:p>
          <a:p>
            <a:pPr marL="0" indent="0">
              <a:lnSpc>
                <a:spcPct val="120000"/>
              </a:lnSpc>
              <a:spcBef>
                <a:spcPts val="300"/>
              </a:spcBef>
              <a:buNone/>
            </a:pPr>
            <a:r>
              <a:rPr lang="en-US" sz="3300" dirty="0"/>
              <a:t>If you were to create your own utility profile, you would be presented with a list of most functions that are supported by any licensed IMS Tool that was registered to IMS Administration Tool.  You can specify the sequence of those functions by specifying sequence numbers.  This allows you to choose more than one function for a specific job (ex:  unload, IDCAMS, load, index build, IC, etc.).  In this utility profile, we have only one since the Smart Reorg utility will do all reorg functions within the tool itself.</a:t>
            </a:r>
          </a:p>
        </p:txBody>
      </p:sp>
      <p:cxnSp>
        <p:nvCxnSpPr>
          <p:cNvPr id="6" name="Straight Arrow Connector 5">
            <a:extLst>
              <a:ext uri="{FF2B5EF4-FFF2-40B4-BE49-F238E27FC236}">
                <a16:creationId xmlns:a16="http://schemas.microsoft.com/office/drawing/2014/main" id="{479AFCE2-7DA0-410F-A087-FFB8078EC879}"/>
              </a:ext>
            </a:extLst>
          </p:cNvPr>
          <p:cNvCxnSpPr>
            <a:cxnSpLocks/>
          </p:cNvCxnSpPr>
          <p:nvPr/>
        </p:nvCxnSpPr>
        <p:spPr>
          <a:xfrm>
            <a:off x="262201" y="3419203"/>
            <a:ext cx="414528"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7A397810-183D-41BB-AB21-34A9014FFE4A}"/>
              </a:ext>
            </a:extLst>
          </p:cNvPr>
          <p:cNvCxnSpPr>
            <a:cxnSpLocks/>
          </p:cNvCxnSpPr>
          <p:nvPr/>
        </p:nvCxnSpPr>
        <p:spPr>
          <a:xfrm>
            <a:off x="262201" y="4867256"/>
            <a:ext cx="414528"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pic>
        <p:nvPicPr>
          <p:cNvPr id="4" name="Picture 3">
            <a:extLst>
              <a:ext uri="{FF2B5EF4-FFF2-40B4-BE49-F238E27FC236}">
                <a16:creationId xmlns:a16="http://schemas.microsoft.com/office/drawing/2014/main" id="{1F06B049-C04D-0223-31EA-D3D24CE79BF9}"/>
              </a:ext>
            </a:extLst>
          </p:cNvPr>
          <p:cNvPicPr>
            <a:picLocks noChangeAspect="1"/>
          </p:cNvPicPr>
          <p:nvPr/>
        </p:nvPicPr>
        <p:blipFill>
          <a:blip r:embed="rId2"/>
          <a:stretch>
            <a:fillRect/>
          </a:stretch>
        </p:blipFill>
        <p:spPr>
          <a:xfrm>
            <a:off x="716047" y="3124218"/>
            <a:ext cx="5401905" cy="2284414"/>
          </a:xfrm>
          <a:prstGeom prst="rect">
            <a:avLst/>
          </a:prstGeom>
          <a:effectLst>
            <a:glow rad="63500">
              <a:schemeClr val="accent3">
                <a:satMod val="175000"/>
                <a:alpha val="40000"/>
              </a:schemeClr>
            </a:glow>
          </a:effectLst>
        </p:spPr>
      </p:pic>
      <p:cxnSp>
        <p:nvCxnSpPr>
          <p:cNvPr id="17" name="Straight Arrow Connector 16">
            <a:extLst>
              <a:ext uri="{FF2B5EF4-FFF2-40B4-BE49-F238E27FC236}">
                <a16:creationId xmlns:a16="http://schemas.microsoft.com/office/drawing/2014/main" id="{0DBF3297-E6F5-3703-246D-F21B18542BAB}"/>
              </a:ext>
            </a:extLst>
          </p:cNvPr>
          <p:cNvCxnSpPr>
            <a:cxnSpLocks/>
          </p:cNvCxnSpPr>
          <p:nvPr/>
        </p:nvCxnSpPr>
        <p:spPr>
          <a:xfrm>
            <a:off x="2140460" y="5760377"/>
            <a:ext cx="414528"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pic>
        <p:nvPicPr>
          <p:cNvPr id="5" name="Picture 4">
            <a:extLst>
              <a:ext uri="{FF2B5EF4-FFF2-40B4-BE49-F238E27FC236}">
                <a16:creationId xmlns:a16="http://schemas.microsoft.com/office/drawing/2014/main" id="{9793807A-607B-5E6B-6794-47187A14688A}"/>
              </a:ext>
            </a:extLst>
          </p:cNvPr>
          <p:cNvPicPr>
            <a:picLocks noChangeAspect="1"/>
          </p:cNvPicPr>
          <p:nvPr/>
        </p:nvPicPr>
        <p:blipFill>
          <a:blip r:embed="rId3"/>
          <a:stretch>
            <a:fillRect/>
          </a:stretch>
        </p:blipFill>
        <p:spPr>
          <a:xfrm>
            <a:off x="2572240" y="3573657"/>
            <a:ext cx="5422863" cy="2383964"/>
          </a:xfrm>
          <a:prstGeom prst="rect">
            <a:avLst/>
          </a:prstGeom>
          <a:effectLst>
            <a:glow rad="63500">
              <a:schemeClr val="accent3">
                <a:satMod val="175000"/>
                <a:alpha val="40000"/>
              </a:schemeClr>
            </a:glow>
          </a:effectLst>
        </p:spPr>
      </p:pic>
      <p:sp>
        <p:nvSpPr>
          <p:cNvPr id="8" name="Slide Number Placeholder 7">
            <a:extLst>
              <a:ext uri="{FF2B5EF4-FFF2-40B4-BE49-F238E27FC236}">
                <a16:creationId xmlns:a16="http://schemas.microsoft.com/office/drawing/2014/main" id="{32B53E70-4A67-8124-57B6-CDF6EF057F68}"/>
              </a:ext>
            </a:extLst>
          </p:cNvPr>
          <p:cNvSpPr>
            <a:spLocks noGrp="1"/>
          </p:cNvSpPr>
          <p:nvPr>
            <p:ph type="sldNum" sz="quarter" idx="12"/>
          </p:nvPr>
        </p:nvSpPr>
        <p:spPr/>
        <p:txBody>
          <a:bodyPr/>
          <a:lstStyle/>
          <a:p>
            <a:fld id="{1C788548-AC4B-4945-A4F1-BA86477A7FC8}" type="slidenum">
              <a:rPr lang="en-US" smtClean="0"/>
              <a:t>50</a:t>
            </a:fld>
            <a:endParaRPr lang="en-US"/>
          </a:p>
        </p:txBody>
      </p:sp>
      <p:pic>
        <p:nvPicPr>
          <p:cNvPr id="10" name="Picture 9">
            <a:extLst>
              <a:ext uri="{FF2B5EF4-FFF2-40B4-BE49-F238E27FC236}">
                <a16:creationId xmlns:a16="http://schemas.microsoft.com/office/drawing/2014/main" id="{775DEBBF-B169-DA2F-ADCC-742D9EDA85AB}"/>
              </a:ext>
            </a:extLst>
          </p:cNvPr>
          <p:cNvPicPr>
            <a:picLocks noChangeAspect="1"/>
          </p:cNvPicPr>
          <p:nvPr/>
        </p:nvPicPr>
        <p:blipFill>
          <a:blip r:embed="rId4"/>
          <a:stretch>
            <a:fillRect/>
          </a:stretch>
        </p:blipFill>
        <p:spPr>
          <a:xfrm>
            <a:off x="6058329" y="4184547"/>
            <a:ext cx="5417624" cy="2101032"/>
          </a:xfrm>
          <a:prstGeom prst="rect">
            <a:avLst/>
          </a:prstGeom>
          <a:effectLst>
            <a:glow rad="63500">
              <a:schemeClr val="accent3">
                <a:satMod val="175000"/>
                <a:alpha val="40000"/>
              </a:schemeClr>
            </a:glow>
          </a:effectLst>
        </p:spPr>
      </p:pic>
    </p:spTree>
    <p:extLst>
      <p:ext uri="{BB962C8B-B14F-4D97-AF65-F5344CB8AC3E}">
        <p14:creationId xmlns:p14="http://schemas.microsoft.com/office/powerpoint/2010/main" val="212798262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C032B6A-B85A-A134-FCAF-A17D2E162D9D}"/>
              </a:ext>
            </a:extLst>
          </p:cNvPr>
          <p:cNvPicPr>
            <a:picLocks noChangeAspect="1"/>
          </p:cNvPicPr>
          <p:nvPr/>
        </p:nvPicPr>
        <p:blipFill>
          <a:blip r:embed="rId2"/>
          <a:stretch>
            <a:fillRect/>
          </a:stretch>
        </p:blipFill>
        <p:spPr>
          <a:xfrm>
            <a:off x="647540" y="2451429"/>
            <a:ext cx="5417624" cy="2378725"/>
          </a:xfrm>
          <a:prstGeom prst="rect">
            <a:avLst/>
          </a:prstGeom>
          <a:effectLst>
            <a:glow rad="63500">
              <a:schemeClr val="accent3">
                <a:satMod val="175000"/>
                <a:alpha val="40000"/>
              </a:schemeClr>
            </a:glow>
          </a:effectLst>
        </p:spPr>
      </p:pic>
      <p:sp>
        <p:nvSpPr>
          <p:cNvPr id="3" name="Subtitle 2">
            <a:extLst>
              <a:ext uri="{FF2B5EF4-FFF2-40B4-BE49-F238E27FC236}">
                <a16:creationId xmlns:a16="http://schemas.microsoft.com/office/drawing/2014/main" id="{5DD04D75-5580-4918-ACD6-01E26F36A2CB}"/>
              </a:ext>
            </a:extLst>
          </p:cNvPr>
          <p:cNvSpPr>
            <a:spLocks noGrp="1"/>
          </p:cNvSpPr>
          <p:nvPr>
            <p:ph type="subTitle" idx="4294967295"/>
          </p:nvPr>
        </p:nvSpPr>
        <p:spPr>
          <a:xfrm>
            <a:off x="961009" y="203198"/>
            <a:ext cx="10901807" cy="2511722"/>
          </a:xfrm>
          <a:prstGeom prst="rect">
            <a:avLst/>
          </a:prstGeom>
        </p:spPr>
        <p:txBody>
          <a:bodyPr>
            <a:normAutofit fontScale="55000" lnSpcReduction="20000"/>
          </a:bodyPr>
          <a:lstStyle/>
          <a:p>
            <a:pPr marL="0" indent="0" algn="l">
              <a:buNone/>
            </a:pPr>
            <a:r>
              <a:rPr lang="en-US" sz="4600" b="1" dirty="0">
                <a:solidFill>
                  <a:schemeClr val="accent1">
                    <a:lumMod val="75000"/>
                  </a:schemeClr>
                </a:solidFill>
              </a:rPr>
              <a:t>IMS Administration Tool ISPF LAB Exercise 4c </a:t>
            </a:r>
          </a:p>
          <a:p>
            <a:pPr marL="0" indent="0">
              <a:lnSpc>
                <a:spcPct val="120000"/>
              </a:lnSpc>
              <a:spcBef>
                <a:spcPts val="600"/>
              </a:spcBef>
              <a:buNone/>
            </a:pPr>
            <a:r>
              <a:rPr lang="en-US" sz="3800" b="1" dirty="0"/>
              <a:t>Key Feature:</a:t>
            </a:r>
            <a:r>
              <a:rPr lang="en-US" sz="3800" dirty="0"/>
              <a:t>  </a:t>
            </a:r>
            <a:r>
              <a:rPr lang="en-US" sz="3800" b="1" dirty="0"/>
              <a:t>Run IMS Utilities:   Job Profiles </a:t>
            </a:r>
          </a:p>
          <a:p>
            <a:pPr marL="0" indent="0">
              <a:lnSpc>
                <a:spcPct val="120000"/>
              </a:lnSpc>
              <a:spcBef>
                <a:spcPts val="600"/>
              </a:spcBef>
              <a:buNone/>
            </a:pPr>
            <a:r>
              <a:rPr lang="en-US" sz="3300" b="1" dirty="0"/>
              <a:t>Description:</a:t>
            </a:r>
            <a:r>
              <a:rPr lang="en-US" sz="3300" dirty="0"/>
              <a:t>  The Job Profile contains job related information as well as connecting the Object and the Utility together with a specific JOB.  Object and Utility Profiles can be shared across multiple Job Profiles.</a:t>
            </a:r>
          </a:p>
          <a:p>
            <a:pPr marL="0" indent="0">
              <a:lnSpc>
                <a:spcPct val="120000"/>
              </a:lnSpc>
              <a:spcBef>
                <a:spcPts val="300"/>
              </a:spcBef>
              <a:buNone/>
            </a:pPr>
            <a:r>
              <a:rPr lang="en-US" sz="3300" b="1" dirty="0"/>
              <a:t>Instructions:  </a:t>
            </a:r>
            <a:r>
              <a:rPr lang="en-US" sz="3300" dirty="0"/>
              <a:t>Select Option “</a:t>
            </a:r>
            <a:r>
              <a:rPr lang="en-US" sz="3300" b="1" dirty="0">
                <a:highlight>
                  <a:srgbClr val="FFFF00"/>
                </a:highlight>
              </a:rPr>
              <a:t>3</a:t>
            </a:r>
            <a:r>
              <a:rPr lang="en-US" sz="3300" dirty="0"/>
              <a:t>” with “</a:t>
            </a:r>
            <a:r>
              <a:rPr lang="en-US" sz="3300" b="1" dirty="0">
                <a:highlight>
                  <a:srgbClr val="FFFF00"/>
                </a:highlight>
              </a:rPr>
              <a:t>IVP1</a:t>
            </a:r>
            <a:r>
              <a:rPr lang="en-US" sz="3300" dirty="0"/>
              <a:t>” as the IMSID Filter to view a Job Profile and/or see how this profile connects to the other Profiles.  Please do not update any existing profiles.</a:t>
            </a:r>
          </a:p>
        </p:txBody>
      </p:sp>
      <p:cxnSp>
        <p:nvCxnSpPr>
          <p:cNvPr id="7" name="Straight Arrow Connector 6">
            <a:extLst>
              <a:ext uri="{FF2B5EF4-FFF2-40B4-BE49-F238E27FC236}">
                <a16:creationId xmlns:a16="http://schemas.microsoft.com/office/drawing/2014/main" id="{F861314D-382A-487A-89A3-AD2CACE6B289}"/>
              </a:ext>
            </a:extLst>
          </p:cNvPr>
          <p:cNvCxnSpPr>
            <a:cxnSpLocks/>
          </p:cNvCxnSpPr>
          <p:nvPr/>
        </p:nvCxnSpPr>
        <p:spPr>
          <a:xfrm>
            <a:off x="340329" y="4186862"/>
            <a:ext cx="274320"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6" name="Straight Arrow Connector 5">
            <a:extLst>
              <a:ext uri="{FF2B5EF4-FFF2-40B4-BE49-F238E27FC236}">
                <a16:creationId xmlns:a16="http://schemas.microsoft.com/office/drawing/2014/main" id="{479AFCE2-7DA0-410F-A087-FFB8078EC879}"/>
              </a:ext>
            </a:extLst>
          </p:cNvPr>
          <p:cNvCxnSpPr>
            <a:cxnSpLocks/>
          </p:cNvCxnSpPr>
          <p:nvPr/>
        </p:nvCxnSpPr>
        <p:spPr>
          <a:xfrm>
            <a:off x="340329" y="2654214"/>
            <a:ext cx="274320"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2" name="Slide Number Placeholder 1">
            <a:extLst>
              <a:ext uri="{FF2B5EF4-FFF2-40B4-BE49-F238E27FC236}">
                <a16:creationId xmlns:a16="http://schemas.microsoft.com/office/drawing/2014/main" id="{2AD977BC-55D0-BC5A-F655-BC301A34DA53}"/>
              </a:ext>
            </a:extLst>
          </p:cNvPr>
          <p:cNvSpPr>
            <a:spLocks noGrp="1"/>
          </p:cNvSpPr>
          <p:nvPr>
            <p:ph type="sldNum" sz="quarter" idx="12"/>
          </p:nvPr>
        </p:nvSpPr>
        <p:spPr/>
        <p:txBody>
          <a:bodyPr/>
          <a:lstStyle/>
          <a:p>
            <a:fld id="{1C788548-AC4B-4945-A4F1-BA86477A7FC8}" type="slidenum">
              <a:rPr lang="en-US" smtClean="0"/>
              <a:t>51</a:t>
            </a:fld>
            <a:endParaRPr lang="en-US"/>
          </a:p>
        </p:txBody>
      </p:sp>
      <p:cxnSp>
        <p:nvCxnSpPr>
          <p:cNvPr id="10" name="Straight Arrow Connector 9">
            <a:extLst>
              <a:ext uri="{FF2B5EF4-FFF2-40B4-BE49-F238E27FC236}">
                <a16:creationId xmlns:a16="http://schemas.microsoft.com/office/drawing/2014/main" id="{F39CC514-A03B-4CAE-6B13-CC87F41E5B73}"/>
              </a:ext>
            </a:extLst>
          </p:cNvPr>
          <p:cNvCxnSpPr>
            <a:cxnSpLocks/>
          </p:cNvCxnSpPr>
          <p:nvPr/>
        </p:nvCxnSpPr>
        <p:spPr>
          <a:xfrm>
            <a:off x="2214231" y="4968987"/>
            <a:ext cx="274320"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pic>
        <p:nvPicPr>
          <p:cNvPr id="14" name="Picture 13">
            <a:extLst>
              <a:ext uri="{FF2B5EF4-FFF2-40B4-BE49-F238E27FC236}">
                <a16:creationId xmlns:a16="http://schemas.microsoft.com/office/drawing/2014/main" id="{91355F10-B4FA-6B6D-80E6-5867707B7D1C}"/>
              </a:ext>
            </a:extLst>
          </p:cNvPr>
          <p:cNvPicPr>
            <a:picLocks noChangeAspect="1"/>
          </p:cNvPicPr>
          <p:nvPr/>
        </p:nvPicPr>
        <p:blipFill>
          <a:blip r:embed="rId3"/>
          <a:stretch>
            <a:fillRect/>
          </a:stretch>
        </p:blipFill>
        <p:spPr>
          <a:xfrm>
            <a:off x="2533851" y="3061797"/>
            <a:ext cx="5428102" cy="2121990"/>
          </a:xfrm>
          <a:prstGeom prst="rect">
            <a:avLst/>
          </a:prstGeom>
          <a:effectLst>
            <a:glow rad="63500">
              <a:schemeClr val="accent3">
                <a:satMod val="175000"/>
                <a:alpha val="40000"/>
              </a:schemeClr>
            </a:glow>
          </a:effectLst>
        </p:spPr>
      </p:pic>
      <p:pic>
        <p:nvPicPr>
          <p:cNvPr id="12" name="Picture 11">
            <a:extLst>
              <a:ext uri="{FF2B5EF4-FFF2-40B4-BE49-F238E27FC236}">
                <a16:creationId xmlns:a16="http://schemas.microsoft.com/office/drawing/2014/main" id="{114440FB-F7C1-B96E-9E78-09E5ADEFA016}"/>
              </a:ext>
            </a:extLst>
          </p:cNvPr>
          <p:cNvPicPr>
            <a:picLocks noChangeAspect="1"/>
          </p:cNvPicPr>
          <p:nvPr/>
        </p:nvPicPr>
        <p:blipFill>
          <a:blip r:embed="rId4"/>
          <a:stretch>
            <a:fillRect/>
          </a:stretch>
        </p:blipFill>
        <p:spPr>
          <a:xfrm>
            <a:off x="6439953" y="3374451"/>
            <a:ext cx="5422863" cy="2913151"/>
          </a:xfrm>
          <a:prstGeom prst="rect">
            <a:avLst/>
          </a:prstGeom>
          <a:effectLst>
            <a:glow rad="63500">
              <a:schemeClr val="accent3">
                <a:satMod val="175000"/>
                <a:alpha val="40000"/>
              </a:schemeClr>
            </a:glow>
          </a:effectLst>
        </p:spPr>
      </p:pic>
    </p:spTree>
    <p:extLst>
      <p:ext uri="{BB962C8B-B14F-4D97-AF65-F5344CB8AC3E}">
        <p14:creationId xmlns:p14="http://schemas.microsoft.com/office/powerpoint/2010/main" val="50318305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47E08336-71AB-44BF-9E1A-7442CE355F86}"/>
              </a:ext>
            </a:extLst>
          </p:cNvPr>
          <p:cNvSpPr txBox="1"/>
          <p:nvPr/>
        </p:nvSpPr>
        <p:spPr>
          <a:xfrm>
            <a:off x="2871216" y="1157856"/>
            <a:ext cx="5708161" cy="3067635"/>
          </a:xfrm>
          <a:prstGeom prst="rect">
            <a:avLst/>
          </a:prstGeom>
          <a:solidFill>
            <a:schemeClr val="bg2"/>
          </a:solidFill>
          <a:ln w="57150">
            <a:solidFill>
              <a:srgbClr val="0070C0"/>
            </a:solidFill>
          </a:ln>
        </p:spPr>
        <p:txBody>
          <a:bodyPr wrap="square" rtlCol="0">
            <a:spAutoFit/>
          </a:bodyPr>
          <a:lstStyle/>
          <a:p>
            <a:pPr algn="ctr"/>
            <a:endParaRPr lang="en-US" sz="4267" dirty="0"/>
          </a:p>
          <a:p>
            <a:pPr algn="ctr"/>
            <a:r>
              <a:rPr lang="en-US" sz="5400" b="1" dirty="0"/>
              <a:t>JCL Generation</a:t>
            </a:r>
          </a:p>
          <a:p>
            <a:pPr algn="ctr"/>
            <a:r>
              <a:rPr lang="en-US" sz="5400" dirty="0"/>
              <a:t>Variables</a:t>
            </a:r>
          </a:p>
          <a:p>
            <a:pPr algn="ctr"/>
            <a:endParaRPr lang="en-US" sz="4267" dirty="0"/>
          </a:p>
        </p:txBody>
      </p:sp>
      <p:sp>
        <p:nvSpPr>
          <p:cNvPr id="2" name="Slide Number Placeholder 1">
            <a:extLst>
              <a:ext uri="{FF2B5EF4-FFF2-40B4-BE49-F238E27FC236}">
                <a16:creationId xmlns:a16="http://schemas.microsoft.com/office/drawing/2014/main" id="{FF42059C-78FA-7BAD-9EA7-4BC16BE8BEA2}"/>
              </a:ext>
            </a:extLst>
          </p:cNvPr>
          <p:cNvSpPr>
            <a:spLocks noGrp="1"/>
          </p:cNvSpPr>
          <p:nvPr>
            <p:ph type="sldNum" sz="quarter" idx="12"/>
          </p:nvPr>
        </p:nvSpPr>
        <p:spPr/>
        <p:txBody>
          <a:bodyPr/>
          <a:lstStyle/>
          <a:p>
            <a:fld id="{1C788548-AC4B-4945-A4F1-BA86477A7FC8}" type="slidenum">
              <a:rPr lang="en-US" smtClean="0"/>
              <a:t>52</a:t>
            </a:fld>
            <a:endParaRPr lang="en-US"/>
          </a:p>
        </p:txBody>
      </p:sp>
    </p:spTree>
    <p:extLst>
      <p:ext uri="{BB962C8B-B14F-4D97-AF65-F5344CB8AC3E}">
        <p14:creationId xmlns:p14="http://schemas.microsoft.com/office/powerpoint/2010/main" val="246160364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116">
        <p159:morph option="byObject"/>
      </p:transition>
    </mc:Choice>
    <mc:Fallback xmlns="">
      <p:transition spd="slow" advTm="116">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mph" presetSubtype="0" fill="hold" nodeType="clickEffect">
                                  <p:stCondLst>
                                    <p:cond delay="0"/>
                                  </p:stCondLst>
                                  <p:iterate type="lt">
                                    <p:tmPct val="4000"/>
                                  </p:iterate>
                                  <p:childTnLst>
                                    <p:set>
                                      <p:cBhvr override="childStyle">
                                        <p:cTn id="6" dur="500" fill="hold"/>
                                        <p:tgtEl>
                                          <p:spTgt spid="9">
                                            <p:txEl>
                                              <p:pRg st="1" end="1"/>
                                            </p:txEl>
                                          </p:spTgt>
                                        </p:tgtEl>
                                        <p:attrNameLst>
                                          <p:attrName>style.color</p:attrName>
                                        </p:attrNameLst>
                                      </p:cBhvr>
                                      <p:to>
                                        <p:clrVal>
                                          <a:srgbClr val="FFC000"/>
                                        </p:clrVal>
                                      </p:to>
                                    </p:set>
                                    <p:set>
                                      <p:cBhvr>
                                        <p:cTn id="7" dur="500" fill="hold"/>
                                        <p:tgtEl>
                                          <p:spTgt spid="9">
                                            <p:txEl>
                                              <p:pRg st="1" end="1"/>
                                            </p:txEl>
                                          </p:spTgt>
                                        </p:tgtEl>
                                        <p:attrNameLst>
                                          <p:attrName>fillcolor</p:attrName>
                                        </p:attrNameLst>
                                      </p:cBhvr>
                                      <p:to>
                                        <p:clrVal>
                                          <a:srgbClr val="FFC000"/>
                                        </p:clrVal>
                                      </p:to>
                                    </p:set>
                                    <p:set>
                                      <p:cBhvr>
                                        <p:cTn id="8" dur="500" fill="hold"/>
                                        <p:tgtEl>
                                          <p:spTgt spid="9">
                                            <p:txEl>
                                              <p:pRg st="1" end="1"/>
                                            </p:txEl>
                                          </p:spTgt>
                                        </p:tgtEl>
                                        <p:attrNameLst>
                                          <p:attrName>fill.type</p:attrName>
                                        </p:attrNameLst>
                                      </p:cBhvr>
                                      <p:to>
                                        <p:strVal val="solid"/>
                                      </p:to>
                                    </p:set>
                                  </p:childTnLst>
                                </p:cTn>
                              </p:par>
                            </p:childTnLst>
                          </p:cTn>
                        </p:par>
                      </p:childTnLst>
                    </p:cTn>
                  </p:par>
                  <p:par>
                    <p:cTn id="9" fill="hold">
                      <p:stCondLst>
                        <p:cond delay="indefinite"/>
                      </p:stCondLst>
                      <p:childTnLst>
                        <p:par>
                          <p:cTn id="10" fill="hold">
                            <p:stCondLst>
                              <p:cond delay="0"/>
                            </p:stCondLst>
                            <p:childTnLst>
                              <p:par>
                                <p:cTn id="11" presetID="16" presetClass="emph" presetSubtype="0" fill="hold" nodeType="clickEffect">
                                  <p:stCondLst>
                                    <p:cond delay="0"/>
                                  </p:stCondLst>
                                  <p:iterate type="lt">
                                    <p:tmPct val="4000"/>
                                  </p:iterate>
                                  <p:childTnLst>
                                    <p:set>
                                      <p:cBhvr override="childStyle">
                                        <p:cTn id="12" dur="500" fill="hold"/>
                                        <p:tgtEl>
                                          <p:spTgt spid="9">
                                            <p:txEl>
                                              <p:pRg st="2" end="2"/>
                                            </p:txEl>
                                          </p:spTgt>
                                        </p:tgtEl>
                                        <p:attrNameLst>
                                          <p:attrName>style.color</p:attrName>
                                        </p:attrNameLst>
                                      </p:cBhvr>
                                      <p:to>
                                        <p:clrVal>
                                          <a:srgbClr val="FFC000"/>
                                        </p:clrVal>
                                      </p:to>
                                    </p:set>
                                    <p:set>
                                      <p:cBhvr>
                                        <p:cTn id="13" dur="500" fill="hold"/>
                                        <p:tgtEl>
                                          <p:spTgt spid="9">
                                            <p:txEl>
                                              <p:pRg st="2" end="2"/>
                                            </p:txEl>
                                          </p:spTgt>
                                        </p:tgtEl>
                                        <p:attrNameLst>
                                          <p:attrName>fillcolor</p:attrName>
                                        </p:attrNameLst>
                                      </p:cBhvr>
                                      <p:to>
                                        <p:clrVal>
                                          <a:srgbClr val="FFC000"/>
                                        </p:clrVal>
                                      </p:to>
                                    </p:set>
                                    <p:set>
                                      <p:cBhvr>
                                        <p:cTn id="14" dur="500" fill="hold"/>
                                        <p:tgtEl>
                                          <p:spTgt spid="9">
                                            <p:txEl>
                                              <p:pRg st="2" end="2"/>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5DD04D75-5580-4918-ACD6-01E26F36A2CB}"/>
              </a:ext>
            </a:extLst>
          </p:cNvPr>
          <p:cNvSpPr>
            <a:spLocks noGrp="1"/>
          </p:cNvSpPr>
          <p:nvPr>
            <p:ph type="subTitle" idx="4294967295"/>
          </p:nvPr>
        </p:nvSpPr>
        <p:spPr>
          <a:xfrm>
            <a:off x="567309" y="212724"/>
            <a:ext cx="11112627" cy="3012256"/>
          </a:xfrm>
          <a:prstGeom prst="rect">
            <a:avLst/>
          </a:prstGeom>
        </p:spPr>
        <p:txBody>
          <a:bodyPr>
            <a:normAutofit fontScale="70000" lnSpcReduction="20000"/>
          </a:bodyPr>
          <a:lstStyle/>
          <a:p>
            <a:pPr marL="0" indent="0" algn="l">
              <a:lnSpc>
                <a:spcPct val="120000"/>
              </a:lnSpc>
              <a:spcBef>
                <a:spcPts val="600"/>
              </a:spcBef>
              <a:buNone/>
            </a:pPr>
            <a:r>
              <a:rPr lang="en-US" sz="3300" b="1" dirty="0">
                <a:solidFill>
                  <a:schemeClr val="accent1">
                    <a:lumMod val="75000"/>
                  </a:schemeClr>
                </a:solidFill>
              </a:rPr>
              <a:t>IMS Administration Tool ISPF LAB Exercise 4d</a:t>
            </a:r>
          </a:p>
          <a:p>
            <a:pPr marL="0" indent="0" algn="l">
              <a:lnSpc>
                <a:spcPct val="120000"/>
              </a:lnSpc>
              <a:spcBef>
                <a:spcPts val="600"/>
              </a:spcBef>
              <a:buNone/>
            </a:pPr>
            <a:r>
              <a:rPr lang="en-US" sz="2600" b="1" dirty="0"/>
              <a:t>Key Feature:</a:t>
            </a:r>
            <a:r>
              <a:rPr lang="en-US" sz="2600" dirty="0"/>
              <a:t>  </a:t>
            </a:r>
            <a:r>
              <a:rPr lang="en-US" sz="2600" b="1" dirty="0"/>
              <a:t>JCL Generation:  Job Profiles – View a Job Profile and View Variables used in JCL Generation </a:t>
            </a:r>
          </a:p>
          <a:p>
            <a:pPr marL="0" indent="0" algn="l">
              <a:lnSpc>
                <a:spcPct val="120000"/>
              </a:lnSpc>
              <a:spcBef>
                <a:spcPts val="600"/>
              </a:spcBef>
              <a:buNone/>
            </a:pPr>
            <a:r>
              <a:rPr lang="en-US" sz="2600" b="1" dirty="0"/>
              <a:t>Description:  </a:t>
            </a:r>
            <a:r>
              <a:rPr lang="en-US" sz="2600" dirty="0"/>
              <a:t>Variables are symbolic keywords and/or </a:t>
            </a:r>
            <a:r>
              <a:rPr lang="en-US" sz="2600" dirty="0" err="1"/>
              <a:t>DDnames</a:t>
            </a:r>
            <a:r>
              <a:rPr lang="en-US" sz="2600" dirty="0"/>
              <a:t> used in JCL templates.</a:t>
            </a:r>
          </a:p>
          <a:p>
            <a:pPr marL="1260475" indent="0" algn="l">
              <a:lnSpc>
                <a:spcPct val="120000"/>
              </a:lnSpc>
              <a:spcBef>
                <a:spcPts val="600"/>
              </a:spcBef>
              <a:buNone/>
            </a:pPr>
            <a:r>
              <a:rPr lang="en-US" sz="2600" dirty="0"/>
              <a:t>There are many  levels (source types) that you can set variables (by Profile, by IMSID, by System, by Global, by Environment, by Registry, by Discovered…).  Variables and their values are pre-populated by the IMS Tools Setup but can be changed if </a:t>
            </a:r>
            <a:r>
              <a:rPr lang="en-US" altLang="ja-JP" sz="2600" dirty="0"/>
              <a:t>necessary</a:t>
            </a:r>
            <a:r>
              <a:rPr lang="en-US" sz="2600" dirty="0"/>
              <a:t> at certain levels. </a:t>
            </a:r>
          </a:p>
          <a:p>
            <a:pPr marL="0" indent="0" algn="l">
              <a:lnSpc>
                <a:spcPct val="120000"/>
              </a:lnSpc>
              <a:spcBef>
                <a:spcPts val="600"/>
              </a:spcBef>
              <a:buNone/>
            </a:pPr>
            <a:r>
              <a:rPr lang="en-US" sz="2600" b="1" dirty="0"/>
              <a:t>Instructions:   </a:t>
            </a:r>
            <a:r>
              <a:rPr lang="en-US" sz="2600" dirty="0"/>
              <a:t>From the “Manage Job Profile” panel, Specify “</a:t>
            </a:r>
            <a:r>
              <a:rPr lang="en-US" sz="2600" b="1" dirty="0">
                <a:highlight>
                  <a:srgbClr val="FFFF00"/>
                </a:highlight>
              </a:rPr>
              <a:t>W</a:t>
            </a:r>
            <a:r>
              <a:rPr lang="en-US" sz="2600" dirty="0"/>
              <a:t>” Line command next to the “DMID01 SMART REORG” Job Profile so we can now view the variables that are used in the JCL generation.</a:t>
            </a:r>
            <a:endParaRPr lang="en-US" sz="2600" i="1" dirty="0"/>
          </a:p>
        </p:txBody>
      </p:sp>
      <p:cxnSp>
        <p:nvCxnSpPr>
          <p:cNvPr id="9" name="Straight Arrow Connector 8">
            <a:extLst>
              <a:ext uri="{FF2B5EF4-FFF2-40B4-BE49-F238E27FC236}">
                <a16:creationId xmlns:a16="http://schemas.microsoft.com/office/drawing/2014/main" id="{2FD75F23-EF11-49F3-9217-BCE1E94E9BBC}"/>
              </a:ext>
            </a:extLst>
          </p:cNvPr>
          <p:cNvCxnSpPr>
            <a:cxnSpLocks/>
          </p:cNvCxnSpPr>
          <p:nvPr/>
        </p:nvCxnSpPr>
        <p:spPr>
          <a:xfrm>
            <a:off x="1801001" y="5831783"/>
            <a:ext cx="414528"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2" name="Slide Number Placeholder 1">
            <a:extLst>
              <a:ext uri="{FF2B5EF4-FFF2-40B4-BE49-F238E27FC236}">
                <a16:creationId xmlns:a16="http://schemas.microsoft.com/office/drawing/2014/main" id="{4051F07F-CDC2-B821-C609-7A92A982CB77}"/>
              </a:ext>
            </a:extLst>
          </p:cNvPr>
          <p:cNvSpPr>
            <a:spLocks noGrp="1"/>
          </p:cNvSpPr>
          <p:nvPr>
            <p:ph type="sldNum" sz="quarter" idx="12"/>
          </p:nvPr>
        </p:nvSpPr>
        <p:spPr/>
        <p:txBody>
          <a:bodyPr/>
          <a:lstStyle/>
          <a:p>
            <a:fld id="{1C788548-AC4B-4945-A4F1-BA86477A7FC8}" type="slidenum">
              <a:rPr lang="en-US" smtClean="0"/>
              <a:t>53</a:t>
            </a:fld>
            <a:endParaRPr lang="en-US"/>
          </a:p>
        </p:txBody>
      </p:sp>
      <p:pic>
        <p:nvPicPr>
          <p:cNvPr id="8" name="Picture 7">
            <a:extLst>
              <a:ext uri="{FF2B5EF4-FFF2-40B4-BE49-F238E27FC236}">
                <a16:creationId xmlns:a16="http://schemas.microsoft.com/office/drawing/2014/main" id="{B69CC441-7F1B-F52E-B7B5-4B4F2A5B02F9}"/>
              </a:ext>
            </a:extLst>
          </p:cNvPr>
          <p:cNvPicPr>
            <a:picLocks noChangeAspect="1"/>
          </p:cNvPicPr>
          <p:nvPr/>
        </p:nvPicPr>
        <p:blipFill>
          <a:blip r:embed="rId2"/>
          <a:stretch>
            <a:fillRect/>
          </a:stretch>
        </p:blipFill>
        <p:spPr>
          <a:xfrm>
            <a:off x="2258128" y="3126539"/>
            <a:ext cx="7675744" cy="2979645"/>
          </a:xfrm>
          <a:prstGeom prst="rect">
            <a:avLst/>
          </a:prstGeom>
          <a:effectLst>
            <a:glow rad="63500">
              <a:schemeClr val="accent3">
                <a:satMod val="175000"/>
                <a:alpha val="40000"/>
              </a:schemeClr>
            </a:glow>
          </a:effectLst>
        </p:spPr>
      </p:pic>
    </p:spTree>
    <p:extLst>
      <p:ext uri="{BB962C8B-B14F-4D97-AF65-F5344CB8AC3E}">
        <p14:creationId xmlns:p14="http://schemas.microsoft.com/office/powerpoint/2010/main" val="19952585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5DD04D75-5580-4918-ACD6-01E26F36A2CB}"/>
              </a:ext>
            </a:extLst>
          </p:cNvPr>
          <p:cNvSpPr>
            <a:spLocks noGrp="1"/>
          </p:cNvSpPr>
          <p:nvPr>
            <p:ph type="subTitle" idx="4294967295"/>
          </p:nvPr>
        </p:nvSpPr>
        <p:spPr>
          <a:xfrm>
            <a:off x="542925" y="200535"/>
            <a:ext cx="11405235" cy="2991981"/>
          </a:xfrm>
          <a:prstGeom prst="rect">
            <a:avLst/>
          </a:prstGeom>
        </p:spPr>
        <p:txBody>
          <a:bodyPr>
            <a:normAutofit fontScale="77500" lnSpcReduction="20000"/>
          </a:bodyPr>
          <a:lstStyle/>
          <a:p>
            <a:pPr marL="0" indent="0" algn="l">
              <a:lnSpc>
                <a:spcPct val="120000"/>
              </a:lnSpc>
              <a:spcBef>
                <a:spcPts val="600"/>
              </a:spcBef>
              <a:buNone/>
            </a:pPr>
            <a:r>
              <a:rPr lang="en-US" sz="3300" b="1" dirty="0">
                <a:solidFill>
                  <a:schemeClr val="accent1">
                    <a:lumMod val="75000"/>
                  </a:schemeClr>
                </a:solidFill>
              </a:rPr>
              <a:t>IMS Administration Tool ISPF LAB Exercise 4e</a:t>
            </a:r>
          </a:p>
          <a:p>
            <a:pPr marL="0" indent="0" algn="l">
              <a:lnSpc>
                <a:spcPct val="120000"/>
              </a:lnSpc>
              <a:spcBef>
                <a:spcPts val="600"/>
              </a:spcBef>
              <a:buNone/>
            </a:pPr>
            <a:r>
              <a:rPr lang="en-US" sz="2500" b="1" dirty="0"/>
              <a:t>Key Feature:</a:t>
            </a:r>
            <a:r>
              <a:rPr lang="en-US" sz="2500" dirty="0"/>
              <a:t>  </a:t>
            </a:r>
            <a:r>
              <a:rPr lang="en-US" sz="2500" b="1" dirty="0"/>
              <a:t>JCL Generation:  Job Profiles – Viewing DDNAME variables used in JCL Generation </a:t>
            </a:r>
          </a:p>
          <a:p>
            <a:pPr marL="0" indent="0">
              <a:lnSpc>
                <a:spcPct val="120000"/>
              </a:lnSpc>
              <a:spcBef>
                <a:spcPts val="600"/>
              </a:spcBef>
              <a:buNone/>
            </a:pPr>
            <a:r>
              <a:rPr lang="en-US" sz="2500" b="1" dirty="0"/>
              <a:t>Description:  </a:t>
            </a:r>
            <a:r>
              <a:rPr lang="en-US" sz="2500" dirty="0"/>
              <a:t>The IMS Tools SETUP populates the variables/values that are supplied with the IMS Tools templates.</a:t>
            </a:r>
          </a:p>
          <a:p>
            <a:pPr marL="1316038" indent="0">
              <a:lnSpc>
                <a:spcPct val="120000"/>
              </a:lnSpc>
              <a:spcBef>
                <a:spcPts val="600"/>
              </a:spcBef>
              <a:buNone/>
            </a:pPr>
            <a:r>
              <a:rPr lang="en-US" sz="2500" dirty="0"/>
              <a:t>However, you can always modify the values and/or add new variables with different values.  This is simply an exercise to show you how flexible this process can be.  There are two types of variables:  DDNAME and KEYWORD. </a:t>
            </a:r>
          </a:p>
          <a:p>
            <a:pPr marL="0" indent="0">
              <a:lnSpc>
                <a:spcPct val="120000"/>
              </a:lnSpc>
              <a:spcBef>
                <a:spcPts val="600"/>
              </a:spcBef>
              <a:buNone/>
            </a:pPr>
            <a:r>
              <a:rPr lang="en-US" sz="2500" b="1" dirty="0"/>
              <a:t>Instructions:  </a:t>
            </a:r>
            <a:r>
              <a:rPr lang="en-US" sz="2500" dirty="0"/>
              <a:t>From the “</a:t>
            </a:r>
            <a:r>
              <a:rPr lang="en-US" sz="2500" b="1" dirty="0"/>
              <a:t>Show Variables for Job Profiles</a:t>
            </a:r>
            <a:r>
              <a:rPr lang="en-US" sz="2500" dirty="0"/>
              <a:t>” menu, Select “</a:t>
            </a:r>
            <a:r>
              <a:rPr lang="en-US" sz="2500" dirty="0">
                <a:highlight>
                  <a:srgbClr val="FFFF00"/>
                </a:highlight>
              </a:rPr>
              <a:t>1</a:t>
            </a:r>
            <a:r>
              <a:rPr lang="en-US" sz="2500" dirty="0"/>
              <a:t>” for </a:t>
            </a:r>
            <a:r>
              <a:rPr lang="en-US" sz="2500" b="1" dirty="0"/>
              <a:t>DDNAME Variables</a:t>
            </a:r>
            <a:r>
              <a:rPr lang="en-US" sz="2500" dirty="0"/>
              <a:t>.  You can browse the various DDNAME variables that are used in JCL generation.  Please do not make any modifications.</a:t>
            </a:r>
            <a:endParaRPr lang="en-US" sz="2500" i="1" dirty="0"/>
          </a:p>
        </p:txBody>
      </p:sp>
      <p:cxnSp>
        <p:nvCxnSpPr>
          <p:cNvPr id="7" name="Straight Arrow Connector 6">
            <a:extLst>
              <a:ext uri="{FF2B5EF4-FFF2-40B4-BE49-F238E27FC236}">
                <a16:creationId xmlns:a16="http://schemas.microsoft.com/office/drawing/2014/main" id="{D42F779A-FDFE-4117-96BE-C65B96076718}"/>
              </a:ext>
            </a:extLst>
          </p:cNvPr>
          <p:cNvCxnSpPr>
            <a:cxnSpLocks/>
          </p:cNvCxnSpPr>
          <p:nvPr/>
        </p:nvCxnSpPr>
        <p:spPr>
          <a:xfrm>
            <a:off x="351189" y="5024744"/>
            <a:ext cx="414528"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4" name="Slide Number Placeholder 3">
            <a:extLst>
              <a:ext uri="{FF2B5EF4-FFF2-40B4-BE49-F238E27FC236}">
                <a16:creationId xmlns:a16="http://schemas.microsoft.com/office/drawing/2014/main" id="{FA6C831A-9DD7-12B0-FE9C-4366F1173AE0}"/>
              </a:ext>
            </a:extLst>
          </p:cNvPr>
          <p:cNvSpPr>
            <a:spLocks noGrp="1"/>
          </p:cNvSpPr>
          <p:nvPr>
            <p:ph type="sldNum" sz="quarter" idx="12"/>
          </p:nvPr>
        </p:nvSpPr>
        <p:spPr/>
        <p:txBody>
          <a:bodyPr/>
          <a:lstStyle/>
          <a:p>
            <a:fld id="{1C788548-AC4B-4945-A4F1-BA86477A7FC8}" type="slidenum">
              <a:rPr lang="en-US" smtClean="0"/>
              <a:t>54</a:t>
            </a:fld>
            <a:endParaRPr lang="en-US"/>
          </a:p>
        </p:txBody>
      </p:sp>
      <p:pic>
        <p:nvPicPr>
          <p:cNvPr id="6" name="Picture 5">
            <a:extLst>
              <a:ext uri="{FF2B5EF4-FFF2-40B4-BE49-F238E27FC236}">
                <a16:creationId xmlns:a16="http://schemas.microsoft.com/office/drawing/2014/main" id="{E8E6B6EB-B582-5C34-6CAF-F3C5814D14BD}"/>
              </a:ext>
            </a:extLst>
          </p:cNvPr>
          <p:cNvPicPr>
            <a:picLocks noChangeAspect="1"/>
          </p:cNvPicPr>
          <p:nvPr/>
        </p:nvPicPr>
        <p:blipFill>
          <a:blip r:embed="rId2"/>
          <a:stretch>
            <a:fillRect/>
          </a:stretch>
        </p:blipFill>
        <p:spPr>
          <a:xfrm>
            <a:off x="800275" y="3898398"/>
            <a:ext cx="6199640" cy="1458386"/>
          </a:xfrm>
          <a:prstGeom prst="rect">
            <a:avLst/>
          </a:prstGeom>
          <a:effectLst>
            <a:glow rad="63500">
              <a:schemeClr val="accent3">
                <a:satMod val="175000"/>
                <a:alpha val="40000"/>
              </a:schemeClr>
            </a:glow>
          </a:effectLst>
        </p:spPr>
      </p:pic>
      <p:pic>
        <p:nvPicPr>
          <p:cNvPr id="9" name="Picture 8">
            <a:extLst>
              <a:ext uri="{FF2B5EF4-FFF2-40B4-BE49-F238E27FC236}">
                <a16:creationId xmlns:a16="http://schemas.microsoft.com/office/drawing/2014/main" id="{76417D86-798D-2235-9B32-43719FAF82C3}"/>
              </a:ext>
            </a:extLst>
          </p:cNvPr>
          <p:cNvPicPr>
            <a:picLocks noChangeAspect="1"/>
          </p:cNvPicPr>
          <p:nvPr/>
        </p:nvPicPr>
        <p:blipFill>
          <a:blip r:embed="rId3"/>
          <a:stretch>
            <a:fillRect/>
          </a:stretch>
        </p:blipFill>
        <p:spPr>
          <a:xfrm>
            <a:off x="6403286" y="3206589"/>
            <a:ext cx="5117163" cy="3135687"/>
          </a:xfrm>
          <a:prstGeom prst="rect">
            <a:avLst/>
          </a:prstGeom>
          <a:effectLst>
            <a:glow rad="63500">
              <a:schemeClr val="accent3">
                <a:satMod val="175000"/>
                <a:alpha val="40000"/>
              </a:schemeClr>
            </a:glow>
          </a:effectLst>
        </p:spPr>
      </p:pic>
    </p:spTree>
    <p:extLst>
      <p:ext uri="{BB962C8B-B14F-4D97-AF65-F5344CB8AC3E}">
        <p14:creationId xmlns:p14="http://schemas.microsoft.com/office/powerpoint/2010/main" val="132277019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5DD04D75-5580-4918-ACD6-01E26F36A2CB}"/>
              </a:ext>
            </a:extLst>
          </p:cNvPr>
          <p:cNvSpPr>
            <a:spLocks noGrp="1"/>
          </p:cNvSpPr>
          <p:nvPr>
            <p:ph type="subTitle" idx="4294967295"/>
          </p:nvPr>
        </p:nvSpPr>
        <p:spPr>
          <a:xfrm>
            <a:off x="542925" y="200534"/>
            <a:ext cx="11405235" cy="3149808"/>
          </a:xfrm>
          <a:prstGeom prst="rect">
            <a:avLst/>
          </a:prstGeom>
        </p:spPr>
        <p:txBody>
          <a:bodyPr>
            <a:normAutofit fontScale="77500" lnSpcReduction="20000"/>
          </a:bodyPr>
          <a:lstStyle/>
          <a:p>
            <a:pPr marL="0" indent="0" algn="l">
              <a:lnSpc>
                <a:spcPct val="120000"/>
              </a:lnSpc>
              <a:spcBef>
                <a:spcPts val="600"/>
              </a:spcBef>
              <a:buNone/>
            </a:pPr>
            <a:r>
              <a:rPr lang="en-US" sz="3300" b="1" dirty="0">
                <a:solidFill>
                  <a:schemeClr val="accent1">
                    <a:lumMod val="75000"/>
                  </a:schemeClr>
                </a:solidFill>
              </a:rPr>
              <a:t>IMS Administration Tool ISPF LAB Exercise 4f</a:t>
            </a:r>
          </a:p>
          <a:p>
            <a:pPr marL="0" indent="0" algn="l">
              <a:lnSpc>
                <a:spcPct val="120000"/>
              </a:lnSpc>
              <a:spcBef>
                <a:spcPts val="600"/>
              </a:spcBef>
              <a:buNone/>
            </a:pPr>
            <a:r>
              <a:rPr lang="en-US" sz="2400" b="1" dirty="0"/>
              <a:t>Key Feature:</a:t>
            </a:r>
            <a:r>
              <a:rPr lang="en-US" sz="2400" dirty="0"/>
              <a:t>  </a:t>
            </a:r>
            <a:r>
              <a:rPr lang="en-US" sz="2400" b="1" dirty="0"/>
              <a:t>JCL Generation:  Job Profiles – Viewing KEYWORD variables used in JCL Generation </a:t>
            </a:r>
          </a:p>
          <a:p>
            <a:pPr marL="0" indent="0">
              <a:lnSpc>
                <a:spcPct val="120000"/>
              </a:lnSpc>
              <a:spcBef>
                <a:spcPts val="600"/>
              </a:spcBef>
              <a:buNone/>
            </a:pPr>
            <a:r>
              <a:rPr lang="en-US" sz="2400" b="1" dirty="0"/>
              <a:t>Description:  </a:t>
            </a:r>
            <a:r>
              <a:rPr lang="en-US" sz="2400" dirty="0"/>
              <a:t>The IMS Tools SETUP populates the variables/values that are supplied with the IMS Tools templates.</a:t>
            </a:r>
          </a:p>
          <a:p>
            <a:pPr marL="1316038" indent="0">
              <a:lnSpc>
                <a:spcPct val="120000"/>
              </a:lnSpc>
              <a:spcBef>
                <a:spcPts val="600"/>
              </a:spcBef>
              <a:buNone/>
            </a:pPr>
            <a:r>
              <a:rPr lang="en-US" sz="2400" dirty="0"/>
              <a:t>However, you can always modify the values and/or add new variables with different values.  This is simply an exercise to show you how flexible this process can be.  There are two types of variables:  DDNAME and KEYWORD. </a:t>
            </a:r>
          </a:p>
          <a:p>
            <a:pPr marL="0" indent="0">
              <a:lnSpc>
                <a:spcPct val="120000"/>
              </a:lnSpc>
              <a:spcBef>
                <a:spcPts val="600"/>
              </a:spcBef>
              <a:buNone/>
            </a:pPr>
            <a:r>
              <a:rPr lang="en-US" sz="2400" b="1" dirty="0"/>
              <a:t>Instructions:</a:t>
            </a:r>
            <a:r>
              <a:rPr lang="en-US" sz="2400" dirty="0"/>
              <a:t>  From the “</a:t>
            </a:r>
            <a:r>
              <a:rPr lang="en-US" sz="2400" b="1" dirty="0"/>
              <a:t>Show Variables for Job Profiles</a:t>
            </a:r>
            <a:r>
              <a:rPr lang="en-US" sz="2400" dirty="0"/>
              <a:t>” menu, Select “</a:t>
            </a:r>
            <a:r>
              <a:rPr lang="en-US" sz="2400" dirty="0">
                <a:highlight>
                  <a:srgbClr val="FFFF00"/>
                </a:highlight>
              </a:rPr>
              <a:t>2</a:t>
            </a:r>
            <a:r>
              <a:rPr lang="en-US" sz="2400" dirty="0"/>
              <a:t>” for </a:t>
            </a:r>
            <a:r>
              <a:rPr lang="en-US" sz="2400" b="1" dirty="0"/>
              <a:t>Keyword Variables</a:t>
            </a:r>
            <a:r>
              <a:rPr lang="en-US" sz="2400" dirty="0"/>
              <a:t>. You can browse the various KEYWORD variables that are used in JCL generation.  Please do not make any modifications. </a:t>
            </a:r>
            <a:endParaRPr lang="en-US" sz="2400" i="1" dirty="0"/>
          </a:p>
        </p:txBody>
      </p:sp>
      <p:cxnSp>
        <p:nvCxnSpPr>
          <p:cNvPr id="7" name="Straight Arrow Connector 6">
            <a:extLst>
              <a:ext uri="{FF2B5EF4-FFF2-40B4-BE49-F238E27FC236}">
                <a16:creationId xmlns:a16="http://schemas.microsoft.com/office/drawing/2014/main" id="{D42F779A-FDFE-4117-96BE-C65B96076718}"/>
              </a:ext>
            </a:extLst>
          </p:cNvPr>
          <p:cNvCxnSpPr>
            <a:cxnSpLocks/>
          </p:cNvCxnSpPr>
          <p:nvPr/>
        </p:nvCxnSpPr>
        <p:spPr>
          <a:xfrm>
            <a:off x="375754" y="5032527"/>
            <a:ext cx="414528"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2" name="Slide Number Placeholder 1">
            <a:extLst>
              <a:ext uri="{FF2B5EF4-FFF2-40B4-BE49-F238E27FC236}">
                <a16:creationId xmlns:a16="http://schemas.microsoft.com/office/drawing/2014/main" id="{DF949861-B4BD-FD0C-727E-DF149C2DA9ED}"/>
              </a:ext>
            </a:extLst>
          </p:cNvPr>
          <p:cNvSpPr>
            <a:spLocks noGrp="1"/>
          </p:cNvSpPr>
          <p:nvPr>
            <p:ph type="sldNum" sz="quarter" idx="12"/>
          </p:nvPr>
        </p:nvSpPr>
        <p:spPr/>
        <p:txBody>
          <a:bodyPr/>
          <a:lstStyle/>
          <a:p>
            <a:fld id="{1C788548-AC4B-4945-A4F1-BA86477A7FC8}" type="slidenum">
              <a:rPr lang="en-US" smtClean="0"/>
              <a:t>55</a:t>
            </a:fld>
            <a:endParaRPr lang="en-US"/>
          </a:p>
        </p:txBody>
      </p:sp>
      <p:pic>
        <p:nvPicPr>
          <p:cNvPr id="5" name="Picture 4">
            <a:extLst>
              <a:ext uri="{FF2B5EF4-FFF2-40B4-BE49-F238E27FC236}">
                <a16:creationId xmlns:a16="http://schemas.microsoft.com/office/drawing/2014/main" id="{FC4612A2-9DE8-C254-39D1-A604F544525F}"/>
              </a:ext>
            </a:extLst>
          </p:cNvPr>
          <p:cNvPicPr>
            <a:picLocks noChangeAspect="1"/>
          </p:cNvPicPr>
          <p:nvPr/>
        </p:nvPicPr>
        <p:blipFill>
          <a:blip r:embed="rId2"/>
          <a:stretch>
            <a:fillRect/>
          </a:stretch>
        </p:blipFill>
        <p:spPr>
          <a:xfrm>
            <a:off x="816160" y="3916573"/>
            <a:ext cx="6181635" cy="1452384"/>
          </a:xfrm>
          <a:prstGeom prst="rect">
            <a:avLst/>
          </a:prstGeom>
          <a:effectLst>
            <a:glow rad="63500">
              <a:schemeClr val="accent3">
                <a:satMod val="175000"/>
                <a:alpha val="40000"/>
              </a:schemeClr>
            </a:glow>
          </a:effectLst>
        </p:spPr>
      </p:pic>
      <p:pic>
        <p:nvPicPr>
          <p:cNvPr id="9" name="Picture 8">
            <a:extLst>
              <a:ext uri="{FF2B5EF4-FFF2-40B4-BE49-F238E27FC236}">
                <a16:creationId xmlns:a16="http://schemas.microsoft.com/office/drawing/2014/main" id="{699E3683-894D-F718-E163-7E8216710C35}"/>
              </a:ext>
            </a:extLst>
          </p:cNvPr>
          <p:cNvPicPr>
            <a:picLocks noChangeAspect="1"/>
          </p:cNvPicPr>
          <p:nvPr/>
        </p:nvPicPr>
        <p:blipFill>
          <a:blip r:embed="rId3"/>
          <a:stretch>
            <a:fillRect/>
          </a:stretch>
        </p:blipFill>
        <p:spPr>
          <a:xfrm>
            <a:off x="6449371" y="3200849"/>
            <a:ext cx="5132024" cy="3155501"/>
          </a:xfrm>
          <a:prstGeom prst="rect">
            <a:avLst/>
          </a:prstGeom>
          <a:effectLst>
            <a:glow rad="63500">
              <a:schemeClr val="accent3">
                <a:satMod val="175000"/>
                <a:alpha val="40000"/>
              </a:schemeClr>
            </a:glow>
          </a:effectLst>
        </p:spPr>
      </p:pic>
    </p:spTree>
    <p:extLst>
      <p:ext uri="{BB962C8B-B14F-4D97-AF65-F5344CB8AC3E}">
        <p14:creationId xmlns:p14="http://schemas.microsoft.com/office/powerpoint/2010/main" val="406685661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47E08336-71AB-44BF-9E1A-7442CE355F86}"/>
              </a:ext>
            </a:extLst>
          </p:cNvPr>
          <p:cNvSpPr txBox="1"/>
          <p:nvPr/>
        </p:nvSpPr>
        <p:spPr>
          <a:xfrm>
            <a:off x="2871216" y="1157856"/>
            <a:ext cx="6765436" cy="4729628"/>
          </a:xfrm>
          <a:prstGeom prst="rect">
            <a:avLst/>
          </a:prstGeom>
          <a:solidFill>
            <a:schemeClr val="bg2"/>
          </a:solidFill>
          <a:ln w="57150">
            <a:solidFill>
              <a:srgbClr val="0070C0"/>
            </a:solidFill>
          </a:ln>
        </p:spPr>
        <p:txBody>
          <a:bodyPr wrap="square" lIns="91440" tIns="45720" rIns="91440" bIns="45720" rtlCol="0" anchor="t">
            <a:spAutoFit/>
          </a:bodyPr>
          <a:lstStyle/>
          <a:p>
            <a:pPr algn="ctr"/>
            <a:endParaRPr lang="en-US" sz="4267" dirty="0"/>
          </a:p>
          <a:p>
            <a:pPr algn="ctr"/>
            <a:r>
              <a:rPr lang="en-US" sz="5400" b="1" dirty="0"/>
              <a:t>JCL Generation</a:t>
            </a:r>
          </a:p>
          <a:p>
            <a:pPr algn="ctr"/>
            <a:r>
              <a:rPr lang="en-US" sz="5400" dirty="0"/>
              <a:t>Build JCL for IMS Tools and User-created Functions</a:t>
            </a:r>
            <a:endParaRPr lang="en-US" sz="5400" dirty="0">
              <a:cs typeface="Calibri"/>
            </a:endParaRPr>
          </a:p>
          <a:p>
            <a:pPr algn="ctr"/>
            <a:endParaRPr lang="en-US" sz="4267" dirty="0"/>
          </a:p>
        </p:txBody>
      </p:sp>
      <p:sp>
        <p:nvSpPr>
          <p:cNvPr id="2" name="Slide Number Placeholder 1">
            <a:extLst>
              <a:ext uri="{FF2B5EF4-FFF2-40B4-BE49-F238E27FC236}">
                <a16:creationId xmlns:a16="http://schemas.microsoft.com/office/drawing/2014/main" id="{D720EC38-521C-B1D3-4239-670D65AC7459}"/>
              </a:ext>
            </a:extLst>
          </p:cNvPr>
          <p:cNvSpPr>
            <a:spLocks noGrp="1"/>
          </p:cNvSpPr>
          <p:nvPr>
            <p:ph type="sldNum" sz="quarter" idx="12"/>
          </p:nvPr>
        </p:nvSpPr>
        <p:spPr/>
        <p:txBody>
          <a:bodyPr/>
          <a:lstStyle/>
          <a:p>
            <a:fld id="{1C788548-AC4B-4945-A4F1-BA86477A7FC8}" type="slidenum">
              <a:rPr lang="en-US" smtClean="0"/>
              <a:t>56</a:t>
            </a:fld>
            <a:endParaRPr lang="en-US"/>
          </a:p>
        </p:txBody>
      </p:sp>
    </p:spTree>
    <p:extLst>
      <p:ext uri="{BB962C8B-B14F-4D97-AF65-F5344CB8AC3E}">
        <p14:creationId xmlns:p14="http://schemas.microsoft.com/office/powerpoint/2010/main" val="86130006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116">
        <p159:morph option="byObject"/>
      </p:transition>
    </mc:Choice>
    <mc:Fallback xmlns="">
      <p:transition spd="slow" advTm="116">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mph" presetSubtype="0" fill="hold" nodeType="clickEffect">
                                  <p:stCondLst>
                                    <p:cond delay="0"/>
                                  </p:stCondLst>
                                  <p:iterate type="lt">
                                    <p:tmPct val="4000"/>
                                  </p:iterate>
                                  <p:childTnLst>
                                    <p:set>
                                      <p:cBhvr override="childStyle">
                                        <p:cTn id="6" dur="500" fill="hold"/>
                                        <p:tgtEl>
                                          <p:spTgt spid="9">
                                            <p:txEl>
                                              <p:pRg st="1" end="1"/>
                                            </p:txEl>
                                          </p:spTgt>
                                        </p:tgtEl>
                                        <p:attrNameLst>
                                          <p:attrName>style.color</p:attrName>
                                        </p:attrNameLst>
                                      </p:cBhvr>
                                      <p:to>
                                        <p:clrVal>
                                          <a:srgbClr val="FFC000"/>
                                        </p:clrVal>
                                      </p:to>
                                    </p:set>
                                    <p:set>
                                      <p:cBhvr>
                                        <p:cTn id="7" dur="500" fill="hold"/>
                                        <p:tgtEl>
                                          <p:spTgt spid="9">
                                            <p:txEl>
                                              <p:pRg st="1" end="1"/>
                                            </p:txEl>
                                          </p:spTgt>
                                        </p:tgtEl>
                                        <p:attrNameLst>
                                          <p:attrName>fillcolor</p:attrName>
                                        </p:attrNameLst>
                                      </p:cBhvr>
                                      <p:to>
                                        <p:clrVal>
                                          <a:srgbClr val="FFC000"/>
                                        </p:clrVal>
                                      </p:to>
                                    </p:set>
                                    <p:set>
                                      <p:cBhvr>
                                        <p:cTn id="8" dur="500" fill="hold"/>
                                        <p:tgtEl>
                                          <p:spTgt spid="9">
                                            <p:txEl>
                                              <p:pRg st="1" end="1"/>
                                            </p:txEl>
                                          </p:spTgt>
                                        </p:tgtEl>
                                        <p:attrNameLst>
                                          <p:attrName>fill.type</p:attrName>
                                        </p:attrNameLst>
                                      </p:cBhvr>
                                      <p:to>
                                        <p:strVal val="solid"/>
                                      </p:to>
                                    </p:set>
                                  </p:childTnLst>
                                </p:cTn>
                              </p:par>
                            </p:childTnLst>
                          </p:cTn>
                        </p:par>
                      </p:childTnLst>
                    </p:cTn>
                  </p:par>
                  <p:par>
                    <p:cTn id="9" fill="hold">
                      <p:stCondLst>
                        <p:cond delay="indefinite"/>
                      </p:stCondLst>
                      <p:childTnLst>
                        <p:par>
                          <p:cTn id="10" fill="hold">
                            <p:stCondLst>
                              <p:cond delay="0"/>
                            </p:stCondLst>
                            <p:childTnLst>
                              <p:par>
                                <p:cTn id="11" presetID="16" presetClass="emph" presetSubtype="0" fill="hold" nodeType="clickEffect">
                                  <p:stCondLst>
                                    <p:cond delay="0"/>
                                  </p:stCondLst>
                                  <p:iterate type="lt">
                                    <p:tmPct val="4000"/>
                                  </p:iterate>
                                  <p:childTnLst>
                                    <p:set>
                                      <p:cBhvr override="childStyle">
                                        <p:cTn id="12" dur="500" fill="hold"/>
                                        <p:tgtEl>
                                          <p:spTgt spid="9">
                                            <p:txEl>
                                              <p:pRg st="2" end="2"/>
                                            </p:txEl>
                                          </p:spTgt>
                                        </p:tgtEl>
                                        <p:attrNameLst>
                                          <p:attrName>style.color</p:attrName>
                                        </p:attrNameLst>
                                      </p:cBhvr>
                                      <p:to>
                                        <p:clrVal>
                                          <a:srgbClr val="FFC000"/>
                                        </p:clrVal>
                                      </p:to>
                                    </p:set>
                                    <p:set>
                                      <p:cBhvr>
                                        <p:cTn id="13" dur="500" fill="hold"/>
                                        <p:tgtEl>
                                          <p:spTgt spid="9">
                                            <p:txEl>
                                              <p:pRg st="2" end="2"/>
                                            </p:txEl>
                                          </p:spTgt>
                                        </p:tgtEl>
                                        <p:attrNameLst>
                                          <p:attrName>fillcolor</p:attrName>
                                        </p:attrNameLst>
                                      </p:cBhvr>
                                      <p:to>
                                        <p:clrVal>
                                          <a:srgbClr val="FFC000"/>
                                        </p:clrVal>
                                      </p:to>
                                    </p:set>
                                    <p:set>
                                      <p:cBhvr>
                                        <p:cTn id="14" dur="500" fill="hold"/>
                                        <p:tgtEl>
                                          <p:spTgt spid="9">
                                            <p:txEl>
                                              <p:pRg st="2" end="2"/>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5DD04D75-5580-4918-ACD6-01E26F36A2CB}"/>
              </a:ext>
            </a:extLst>
          </p:cNvPr>
          <p:cNvSpPr>
            <a:spLocks noGrp="1"/>
          </p:cNvSpPr>
          <p:nvPr>
            <p:ph type="subTitle" idx="4294967295"/>
          </p:nvPr>
        </p:nvSpPr>
        <p:spPr>
          <a:xfrm>
            <a:off x="640461" y="224916"/>
            <a:ext cx="10880979" cy="2621976"/>
          </a:xfrm>
          <a:prstGeom prst="rect">
            <a:avLst/>
          </a:prstGeom>
        </p:spPr>
        <p:txBody>
          <a:bodyPr>
            <a:normAutofit fontScale="62500" lnSpcReduction="20000"/>
          </a:bodyPr>
          <a:lstStyle/>
          <a:p>
            <a:pPr marL="0" indent="0" algn="l">
              <a:lnSpc>
                <a:spcPct val="120000"/>
              </a:lnSpc>
              <a:spcBef>
                <a:spcPts val="600"/>
              </a:spcBef>
              <a:buNone/>
            </a:pPr>
            <a:r>
              <a:rPr lang="en-US" sz="3500" b="1" dirty="0">
                <a:solidFill>
                  <a:schemeClr val="accent1">
                    <a:lumMod val="75000"/>
                  </a:schemeClr>
                </a:solidFill>
              </a:rPr>
              <a:t>IMS Administration Tool ISPF LAB Exercise 4g</a:t>
            </a:r>
          </a:p>
          <a:p>
            <a:pPr marL="0" indent="0" algn="l">
              <a:lnSpc>
                <a:spcPct val="120000"/>
              </a:lnSpc>
              <a:spcBef>
                <a:spcPts val="600"/>
              </a:spcBef>
              <a:buNone/>
            </a:pPr>
            <a:r>
              <a:rPr lang="en-US" sz="2700" b="1" dirty="0"/>
              <a:t>Key Feature:   JCL Generation:  Job Profiles – Building/Generating JCL  </a:t>
            </a:r>
          </a:p>
          <a:p>
            <a:pPr marL="0" indent="0" algn="l">
              <a:lnSpc>
                <a:spcPct val="120000"/>
              </a:lnSpc>
              <a:spcBef>
                <a:spcPts val="600"/>
              </a:spcBef>
              <a:buNone/>
            </a:pPr>
            <a:r>
              <a:rPr lang="en-US" sz="2700" b="1" dirty="0"/>
              <a:t>Description:  </a:t>
            </a:r>
            <a:r>
              <a:rPr lang="en-US" sz="2700" dirty="0"/>
              <a:t>Once linking a job profile with a utility and object profile, you can now build JCL for the utility function(s) that were defined in the utility profile.</a:t>
            </a:r>
          </a:p>
          <a:p>
            <a:pPr marL="0" indent="0" algn="l">
              <a:lnSpc>
                <a:spcPct val="120000"/>
              </a:lnSpc>
              <a:spcBef>
                <a:spcPts val="600"/>
              </a:spcBef>
              <a:buNone/>
            </a:pPr>
            <a:r>
              <a:rPr lang="en-US" sz="2700" b="1" dirty="0"/>
              <a:t>Instructions:   </a:t>
            </a:r>
            <a:r>
              <a:rPr lang="en-US" sz="2700" dirty="0"/>
              <a:t>From the "</a:t>
            </a:r>
            <a:r>
              <a:rPr lang="en-US" sz="2700" b="1" dirty="0"/>
              <a:t>Manage Job Profiles</a:t>
            </a:r>
            <a:r>
              <a:rPr lang="en-US" sz="2700" dirty="0"/>
              <a:t>" menu,  Specify "</a:t>
            </a:r>
            <a:r>
              <a:rPr lang="en-US" sz="2700" b="1" dirty="0"/>
              <a:t>B</a:t>
            </a:r>
            <a:r>
              <a:rPr lang="en-US" sz="2700" dirty="0"/>
              <a:t>" to build the JCL next to that profile that we viewed previously and Press Enter.  If prompted to override the JCL, specify "</a:t>
            </a:r>
            <a:r>
              <a:rPr lang="en-US" sz="2700" b="1" dirty="0"/>
              <a:t>Y</a:t>
            </a:r>
            <a:r>
              <a:rPr lang="en-US" sz="2700" dirty="0"/>
              <a:t>" and Press Enter.  You will first see the Status messages from IMS Admin Tool.  Press </a:t>
            </a:r>
            <a:r>
              <a:rPr lang="en-US" sz="2700" b="1" dirty="0"/>
              <a:t>PF3</a:t>
            </a:r>
            <a:r>
              <a:rPr lang="en-US" sz="2700" dirty="0"/>
              <a:t> and it will display the generated JCL.  View/Save the JCL, then Press </a:t>
            </a:r>
            <a:r>
              <a:rPr lang="en-US" sz="2700" b="1" dirty="0"/>
              <a:t>PF3</a:t>
            </a:r>
            <a:r>
              <a:rPr lang="en-US" sz="2700" dirty="0"/>
              <a:t> and you will be prompted to submit the job.  For the purposes of this class, say "</a:t>
            </a:r>
            <a:r>
              <a:rPr lang="en-US" sz="2700" b="1" dirty="0"/>
              <a:t>N</a:t>
            </a:r>
            <a:r>
              <a:rPr lang="en-US" sz="2700" dirty="0"/>
              <a:t>" and do not submit the job.</a:t>
            </a:r>
            <a:endParaRPr lang="en-US" sz="2700" i="1" dirty="0"/>
          </a:p>
        </p:txBody>
      </p:sp>
      <p:cxnSp>
        <p:nvCxnSpPr>
          <p:cNvPr id="10" name="Straight Arrow Connector 9">
            <a:extLst>
              <a:ext uri="{FF2B5EF4-FFF2-40B4-BE49-F238E27FC236}">
                <a16:creationId xmlns:a16="http://schemas.microsoft.com/office/drawing/2014/main" id="{C646DAF2-3487-4127-97B6-A89A77AF8684}"/>
              </a:ext>
            </a:extLst>
          </p:cNvPr>
          <p:cNvCxnSpPr>
            <a:cxnSpLocks/>
          </p:cNvCxnSpPr>
          <p:nvPr/>
        </p:nvCxnSpPr>
        <p:spPr>
          <a:xfrm>
            <a:off x="225933" y="5068780"/>
            <a:ext cx="414528" cy="0"/>
          </a:xfrm>
          <a:prstGeom prst="straightConnector1">
            <a:avLst/>
          </a:prstGeom>
          <a:ln w="38100">
            <a:tailEnd type="triangle"/>
          </a:ln>
          <a:effectLst/>
        </p:spPr>
        <p:style>
          <a:lnRef idx="1">
            <a:schemeClr val="accent1"/>
          </a:lnRef>
          <a:fillRef idx="0">
            <a:schemeClr val="accent1"/>
          </a:fillRef>
          <a:effectRef idx="0">
            <a:schemeClr val="accent1"/>
          </a:effectRef>
          <a:fontRef idx="minor">
            <a:schemeClr val="tx1"/>
          </a:fontRef>
        </p:style>
      </p:cxnSp>
      <p:sp>
        <p:nvSpPr>
          <p:cNvPr id="2" name="Slide Number Placeholder 1">
            <a:extLst>
              <a:ext uri="{FF2B5EF4-FFF2-40B4-BE49-F238E27FC236}">
                <a16:creationId xmlns:a16="http://schemas.microsoft.com/office/drawing/2014/main" id="{50D8D166-802C-0163-6B0C-D14C130DD3F0}"/>
              </a:ext>
            </a:extLst>
          </p:cNvPr>
          <p:cNvSpPr>
            <a:spLocks noGrp="1"/>
          </p:cNvSpPr>
          <p:nvPr>
            <p:ph type="sldNum" sz="quarter" idx="12"/>
          </p:nvPr>
        </p:nvSpPr>
        <p:spPr/>
        <p:txBody>
          <a:bodyPr/>
          <a:lstStyle/>
          <a:p>
            <a:fld id="{1C788548-AC4B-4945-A4F1-BA86477A7FC8}" type="slidenum">
              <a:rPr lang="en-US" smtClean="0"/>
              <a:t>57</a:t>
            </a:fld>
            <a:endParaRPr lang="en-US"/>
          </a:p>
        </p:txBody>
      </p:sp>
      <p:pic>
        <p:nvPicPr>
          <p:cNvPr id="6" name="Picture 5">
            <a:extLst>
              <a:ext uri="{FF2B5EF4-FFF2-40B4-BE49-F238E27FC236}">
                <a16:creationId xmlns:a16="http://schemas.microsoft.com/office/drawing/2014/main" id="{6CF37565-3950-4BF6-7900-640A4F432A63}"/>
              </a:ext>
            </a:extLst>
          </p:cNvPr>
          <p:cNvPicPr>
            <a:picLocks noChangeAspect="1"/>
          </p:cNvPicPr>
          <p:nvPr/>
        </p:nvPicPr>
        <p:blipFill>
          <a:blip r:embed="rId2"/>
          <a:stretch>
            <a:fillRect/>
          </a:stretch>
        </p:blipFill>
        <p:spPr>
          <a:xfrm>
            <a:off x="722317" y="2919420"/>
            <a:ext cx="6205642" cy="2424641"/>
          </a:xfrm>
          <a:prstGeom prst="rect">
            <a:avLst/>
          </a:prstGeom>
          <a:effectLst>
            <a:glow rad="63500">
              <a:schemeClr val="accent3">
                <a:satMod val="175000"/>
                <a:alpha val="40000"/>
              </a:schemeClr>
            </a:glow>
          </a:effectLst>
        </p:spPr>
      </p:pic>
      <p:pic>
        <p:nvPicPr>
          <p:cNvPr id="9" name="Picture 8">
            <a:extLst>
              <a:ext uri="{FF2B5EF4-FFF2-40B4-BE49-F238E27FC236}">
                <a16:creationId xmlns:a16="http://schemas.microsoft.com/office/drawing/2014/main" id="{24DD84DB-6004-83FC-7D1E-82473427D8EA}"/>
              </a:ext>
            </a:extLst>
          </p:cNvPr>
          <p:cNvPicPr>
            <a:picLocks noChangeAspect="1"/>
          </p:cNvPicPr>
          <p:nvPr/>
        </p:nvPicPr>
        <p:blipFill>
          <a:blip r:embed="rId3"/>
          <a:stretch>
            <a:fillRect/>
          </a:stretch>
        </p:blipFill>
        <p:spPr>
          <a:xfrm>
            <a:off x="5650708" y="3429000"/>
            <a:ext cx="6071702" cy="2811410"/>
          </a:xfrm>
          <a:prstGeom prst="rect">
            <a:avLst/>
          </a:prstGeom>
          <a:effectLst>
            <a:glow rad="63500">
              <a:schemeClr val="accent3">
                <a:satMod val="175000"/>
                <a:alpha val="40000"/>
              </a:schemeClr>
            </a:glow>
          </a:effectLst>
        </p:spPr>
      </p:pic>
    </p:spTree>
    <p:extLst>
      <p:ext uri="{BB962C8B-B14F-4D97-AF65-F5344CB8AC3E}">
        <p14:creationId xmlns:p14="http://schemas.microsoft.com/office/powerpoint/2010/main" val="373712300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47E08336-71AB-44BF-9E1A-7442CE355F86}"/>
              </a:ext>
            </a:extLst>
          </p:cNvPr>
          <p:cNvSpPr txBox="1"/>
          <p:nvPr/>
        </p:nvSpPr>
        <p:spPr>
          <a:xfrm>
            <a:off x="3249168" y="1438272"/>
            <a:ext cx="5708161" cy="3067635"/>
          </a:xfrm>
          <a:prstGeom prst="rect">
            <a:avLst/>
          </a:prstGeom>
          <a:solidFill>
            <a:schemeClr val="bg2"/>
          </a:solidFill>
          <a:ln w="57150">
            <a:solidFill>
              <a:srgbClr val="0070C0"/>
            </a:solidFill>
          </a:ln>
        </p:spPr>
        <p:txBody>
          <a:bodyPr wrap="square" rtlCol="0">
            <a:spAutoFit/>
          </a:bodyPr>
          <a:lstStyle/>
          <a:p>
            <a:pPr algn="ctr"/>
            <a:endParaRPr lang="en-US" sz="4267" dirty="0"/>
          </a:p>
          <a:p>
            <a:pPr algn="ctr"/>
            <a:r>
              <a:rPr lang="en-US" sz="5400" b="1" dirty="0"/>
              <a:t>IMS SPUFI</a:t>
            </a:r>
          </a:p>
          <a:p>
            <a:pPr algn="ctr"/>
            <a:r>
              <a:rPr lang="en-US" sz="5400" dirty="0">
                <a:solidFill>
                  <a:schemeClr val="accent1"/>
                </a:solidFill>
              </a:rPr>
              <a:t>Exercise 5</a:t>
            </a:r>
          </a:p>
          <a:p>
            <a:pPr algn="ctr"/>
            <a:endParaRPr lang="en-US" sz="4267" dirty="0"/>
          </a:p>
        </p:txBody>
      </p:sp>
      <p:sp>
        <p:nvSpPr>
          <p:cNvPr id="2" name="Slide Number Placeholder 1">
            <a:extLst>
              <a:ext uri="{FF2B5EF4-FFF2-40B4-BE49-F238E27FC236}">
                <a16:creationId xmlns:a16="http://schemas.microsoft.com/office/drawing/2014/main" id="{9499F8D2-3AC5-5D22-7A13-E027054C931F}"/>
              </a:ext>
            </a:extLst>
          </p:cNvPr>
          <p:cNvSpPr>
            <a:spLocks noGrp="1"/>
          </p:cNvSpPr>
          <p:nvPr>
            <p:ph type="sldNum" sz="quarter" idx="12"/>
          </p:nvPr>
        </p:nvSpPr>
        <p:spPr/>
        <p:txBody>
          <a:bodyPr/>
          <a:lstStyle/>
          <a:p>
            <a:fld id="{1C788548-AC4B-4945-A4F1-BA86477A7FC8}" type="slidenum">
              <a:rPr lang="en-US" smtClean="0"/>
              <a:t>58</a:t>
            </a:fld>
            <a:endParaRPr lang="en-US"/>
          </a:p>
        </p:txBody>
      </p:sp>
    </p:spTree>
    <p:extLst>
      <p:ext uri="{BB962C8B-B14F-4D97-AF65-F5344CB8AC3E}">
        <p14:creationId xmlns:p14="http://schemas.microsoft.com/office/powerpoint/2010/main" val="154356544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116">
        <p159:morph option="byObject"/>
      </p:transition>
    </mc:Choice>
    <mc:Fallback xmlns="">
      <p:transition spd="slow" advTm="116">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mph" presetSubtype="0" fill="hold" nodeType="clickEffect">
                                  <p:stCondLst>
                                    <p:cond delay="0"/>
                                  </p:stCondLst>
                                  <p:iterate type="lt">
                                    <p:tmPct val="4000"/>
                                  </p:iterate>
                                  <p:childTnLst>
                                    <p:set>
                                      <p:cBhvr override="childStyle">
                                        <p:cTn id="6" dur="500" fill="hold"/>
                                        <p:tgtEl>
                                          <p:spTgt spid="9">
                                            <p:txEl>
                                              <p:pRg st="1" end="1"/>
                                            </p:txEl>
                                          </p:spTgt>
                                        </p:tgtEl>
                                        <p:attrNameLst>
                                          <p:attrName>style.color</p:attrName>
                                        </p:attrNameLst>
                                      </p:cBhvr>
                                      <p:to>
                                        <p:clrVal>
                                          <a:srgbClr val="FFC000"/>
                                        </p:clrVal>
                                      </p:to>
                                    </p:set>
                                    <p:set>
                                      <p:cBhvr>
                                        <p:cTn id="7" dur="500" fill="hold"/>
                                        <p:tgtEl>
                                          <p:spTgt spid="9">
                                            <p:txEl>
                                              <p:pRg st="1" end="1"/>
                                            </p:txEl>
                                          </p:spTgt>
                                        </p:tgtEl>
                                        <p:attrNameLst>
                                          <p:attrName>fillcolor</p:attrName>
                                        </p:attrNameLst>
                                      </p:cBhvr>
                                      <p:to>
                                        <p:clrVal>
                                          <a:srgbClr val="FFC000"/>
                                        </p:clrVal>
                                      </p:to>
                                    </p:set>
                                    <p:set>
                                      <p:cBhvr>
                                        <p:cTn id="8" dur="500" fill="hold"/>
                                        <p:tgtEl>
                                          <p:spTgt spid="9">
                                            <p:txEl>
                                              <p:pRg st="1" end="1"/>
                                            </p:txEl>
                                          </p:spTgt>
                                        </p:tgtEl>
                                        <p:attrNameLst>
                                          <p:attrName>fill.type</p:attrName>
                                        </p:attrNameLst>
                                      </p:cBhvr>
                                      <p:to>
                                        <p:strVal val="solid"/>
                                      </p:to>
                                    </p:set>
                                  </p:childTnLst>
                                </p:cTn>
                              </p:par>
                            </p:childTnLst>
                          </p:cTn>
                        </p:par>
                      </p:childTnLst>
                    </p:cTn>
                  </p:par>
                  <p:par>
                    <p:cTn id="9" fill="hold">
                      <p:stCondLst>
                        <p:cond delay="indefinite"/>
                      </p:stCondLst>
                      <p:childTnLst>
                        <p:par>
                          <p:cTn id="10" fill="hold">
                            <p:stCondLst>
                              <p:cond delay="0"/>
                            </p:stCondLst>
                            <p:childTnLst>
                              <p:par>
                                <p:cTn id="11" presetID="16" presetClass="emph" presetSubtype="0" fill="hold" nodeType="clickEffect">
                                  <p:stCondLst>
                                    <p:cond delay="0"/>
                                  </p:stCondLst>
                                  <p:iterate type="lt">
                                    <p:tmPct val="4000"/>
                                  </p:iterate>
                                  <p:childTnLst>
                                    <p:set>
                                      <p:cBhvr override="childStyle">
                                        <p:cTn id="12" dur="500" fill="hold"/>
                                        <p:tgtEl>
                                          <p:spTgt spid="9">
                                            <p:txEl>
                                              <p:pRg st="2" end="2"/>
                                            </p:txEl>
                                          </p:spTgt>
                                        </p:tgtEl>
                                        <p:attrNameLst>
                                          <p:attrName>style.color</p:attrName>
                                        </p:attrNameLst>
                                      </p:cBhvr>
                                      <p:to>
                                        <p:clrVal>
                                          <a:srgbClr val="FFC000"/>
                                        </p:clrVal>
                                      </p:to>
                                    </p:set>
                                    <p:set>
                                      <p:cBhvr>
                                        <p:cTn id="13" dur="500" fill="hold"/>
                                        <p:tgtEl>
                                          <p:spTgt spid="9">
                                            <p:txEl>
                                              <p:pRg st="2" end="2"/>
                                            </p:txEl>
                                          </p:spTgt>
                                        </p:tgtEl>
                                        <p:attrNameLst>
                                          <p:attrName>fillcolor</p:attrName>
                                        </p:attrNameLst>
                                      </p:cBhvr>
                                      <p:to>
                                        <p:clrVal>
                                          <a:srgbClr val="FFC000"/>
                                        </p:clrVal>
                                      </p:to>
                                    </p:set>
                                    <p:set>
                                      <p:cBhvr>
                                        <p:cTn id="14" dur="500" fill="hold"/>
                                        <p:tgtEl>
                                          <p:spTgt spid="9">
                                            <p:txEl>
                                              <p:pRg st="2" end="2"/>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5DD04D75-5580-4918-ACD6-01E26F36A2CB}"/>
              </a:ext>
            </a:extLst>
          </p:cNvPr>
          <p:cNvSpPr>
            <a:spLocks noGrp="1"/>
          </p:cNvSpPr>
          <p:nvPr>
            <p:ph type="subTitle" idx="4294967295"/>
          </p:nvPr>
        </p:nvSpPr>
        <p:spPr>
          <a:xfrm>
            <a:off x="869950" y="164149"/>
            <a:ext cx="11931650" cy="1890794"/>
          </a:xfrm>
          <a:prstGeom prst="rect">
            <a:avLst/>
          </a:prstGeom>
        </p:spPr>
        <p:txBody>
          <a:bodyPr>
            <a:normAutofit/>
          </a:bodyPr>
          <a:lstStyle/>
          <a:p>
            <a:pPr marL="0" indent="0" algn="l">
              <a:buNone/>
            </a:pPr>
            <a:r>
              <a:rPr lang="en-US" b="1" dirty="0">
                <a:solidFill>
                  <a:schemeClr val="accent1">
                    <a:lumMod val="75000"/>
                  </a:schemeClr>
                </a:solidFill>
              </a:rPr>
              <a:t>IMS Administration Tool ISPF LAB Exercise 5</a:t>
            </a:r>
          </a:p>
          <a:p>
            <a:pPr marL="0" indent="0" algn="l">
              <a:spcBef>
                <a:spcPts val="600"/>
              </a:spcBef>
              <a:buNone/>
            </a:pPr>
            <a:r>
              <a:rPr lang="en-US" sz="2000" b="1" dirty="0"/>
              <a:t>Key Feature:   IMS SPUFI – IMS DML SQL   </a:t>
            </a:r>
          </a:p>
          <a:p>
            <a:pPr marL="0" indent="0" algn="l">
              <a:spcBef>
                <a:spcPts val="600"/>
              </a:spcBef>
              <a:buNone/>
            </a:pPr>
            <a:r>
              <a:rPr lang="en-US" sz="2000" b="1" dirty="0"/>
              <a:t>Description:    </a:t>
            </a:r>
            <a:r>
              <a:rPr lang="en-US" sz="2000" dirty="0"/>
              <a:t>IMS SPUFI is an interface which allows you to enter SQL statements to access your IMS data.       </a:t>
            </a:r>
          </a:p>
          <a:p>
            <a:pPr marL="0" indent="0" algn="l">
              <a:spcBef>
                <a:spcPts val="600"/>
              </a:spcBef>
              <a:buNone/>
            </a:pPr>
            <a:r>
              <a:rPr lang="en-US" sz="2000" b="1" dirty="0"/>
              <a:t>Instructions:   </a:t>
            </a:r>
            <a:r>
              <a:rPr lang="en-US" sz="2000" dirty="0"/>
              <a:t>Select Option “</a:t>
            </a:r>
            <a:r>
              <a:rPr lang="en-US" sz="2000" dirty="0">
                <a:highlight>
                  <a:srgbClr val="FFFF00"/>
                </a:highlight>
              </a:rPr>
              <a:t>4</a:t>
            </a:r>
            <a:r>
              <a:rPr lang="en-US" sz="2000" dirty="0"/>
              <a:t>”, (IMS SPUFI).</a:t>
            </a:r>
          </a:p>
          <a:p>
            <a:pPr marL="0" indent="0" algn="l" defTabSz="1484313">
              <a:spcBef>
                <a:spcPts val="600"/>
              </a:spcBef>
              <a:buNone/>
            </a:pPr>
            <a:r>
              <a:rPr lang="en-US" sz="2000" dirty="0"/>
              <a:t>	Then, select Option “</a:t>
            </a:r>
            <a:r>
              <a:rPr lang="en-US" sz="2000" dirty="0">
                <a:highlight>
                  <a:srgbClr val="FFFF00"/>
                </a:highlight>
              </a:rPr>
              <a:t>1</a:t>
            </a:r>
            <a:r>
              <a:rPr lang="en-US" sz="2000" dirty="0"/>
              <a:t>” (Execute Data Manipulation Language (DML)).</a:t>
            </a:r>
          </a:p>
        </p:txBody>
      </p:sp>
      <p:pic>
        <p:nvPicPr>
          <p:cNvPr id="4" name="Picture 3">
            <a:extLst>
              <a:ext uri="{FF2B5EF4-FFF2-40B4-BE49-F238E27FC236}">
                <a16:creationId xmlns:a16="http://schemas.microsoft.com/office/drawing/2014/main" id="{A7DB1FE8-5E55-5BFD-A0EC-5683D0868B3E}"/>
              </a:ext>
            </a:extLst>
          </p:cNvPr>
          <p:cNvPicPr>
            <a:picLocks noChangeAspect="1"/>
          </p:cNvPicPr>
          <p:nvPr/>
        </p:nvPicPr>
        <p:blipFill>
          <a:blip r:embed="rId2"/>
          <a:stretch>
            <a:fillRect/>
          </a:stretch>
        </p:blipFill>
        <p:spPr>
          <a:xfrm>
            <a:off x="1166130" y="2332631"/>
            <a:ext cx="7296216" cy="2537814"/>
          </a:xfrm>
          <a:prstGeom prst="rect">
            <a:avLst/>
          </a:prstGeom>
          <a:effectLst>
            <a:glow rad="63500">
              <a:schemeClr val="accent3">
                <a:satMod val="175000"/>
                <a:alpha val="40000"/>
              </a:schemeClr>
            </a:glow>
          </a:effectLst>
        </p:spPr>
      </p:pic>
      <p:cxnSp>
        <p:nvCxnSpPr>
          <p:cNvPr id="9" name="Straight Arrow Connector 8">
            <a:extLst>
              <a:ext uri="{FF2B5EF4-FFF2-40B4-BE49-F238E27FC236}">
                <a16:creationId xmlns:a16="http://schemas.microsoft.com/office/drawing/2014/main" id="{43747D71-6F36-4474-875B-FA9088C0290F}"/>
              </a:ext>
            </a:extLst>
          </p:cNvPr>
          <p:cNvCxnSpPr>
            <a:cxnSpLocks/>
          </p:cNvCxnSpPr>
          <p:nvPr/>
        </p:nvCxnSpPr>
        <p:spPr>
          <a:xfrm>
            <a:off x="741506" y="2619148"/>
            <a:ext cx="414528"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pic>
        <p:nvPicPr>
          <p:cNvPr id="7" name="Picture 6">
            <a:extLst>
              <a:ext uri="{FF2B5EF4-FFF2-40B4-BE49-F238E27FC236}">
                <a16:creationId xmlns:a16="http://schemas.microsoft.com/office/drawing/2014/main" id="{E5BCAFEC-D7AC-050C-C1DD-98E1BACBDF58}"/>
              </a:ext>
            </a:extLst>
          </p:cNvPr>
          <p:cNvPicPr>
            <a:picLocks noChangeAspect="1"/>
          </p:cNvPicPr>
          <p:nvPr/>
        </p:nvPicPr>
        <p:blipFill>
          <a:blip r:embed="rId3"/>
          <a:stretch>
            <a:fillRect/>
          </a:stretch>
        </p:blipFill>
        <p:spPr>
          <a:xfrm>
            <a:off x="4175055" y="4116117"/>
            <a:ext cx="7275067" cy="2340428"/>
          </a:xfrm>
          <a:prstGeom prst="rect">
            <a:avLst/>
          </a:prstGeom>
          <a:effectLst>
            <a:glow rad="63500">
              <a:schemeClr val="accent3">
                <a:satMod val="175000"/>
                <a:alpha val="40000"/>
              </a:schemeClr>
            </a:glow>
          </a:effectLst>
        </p:spPr>
      </p:pic>
      <p:cxnSp>
        <p:nvCxnSpPr>
          <p:cNvPr id="8" name="Straight Arrow Connector 7">
            <a:extLst>
              <a:ext uri="{FF2B5EF4-FFF2-40B4-BE49-F238E27FC236}">
                <a16:creationId xmlns:a16="http://schemas.microsoft.com/office/drawing/2014/main" id="{427896F2-0830-74F7-E2EC-5D233544F37C}"/>
              </a:ext>
            </a:extLst>
          </p:cNvPr>
          <p:cNvCxnSpPr>
            <a:cxnSpLocks/>
          </p:cNvCxnSpPr>
          <p:nvPr/>
        </p:nvCxnSpPr>
        <p:spPr>
          <a:xfrm>
            <a:off x="3784596" y="4403706"/>
            <a:ext cx="414528"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2" name="Slide Number Placeholder 1">
            <a:extLst>
              <a:ext uri="{FF2B5EF4-FFF2-40B4-BE49-F238E27FC236}">
                <a16:creationId xmlns:a16="http://schemas.microsoft.com/office/drawing/2014/main" id="{16569553-A4FE-1C6A-1E5E-FE7057AFDF58}"/>
              </a:ext>
            </a:extLst>
          </p:cNvPr>
          <p:cNvSpPr>
            <a:spLocks noGrp="1"/>
          </p:cNvSpPr>
          <p:nvPr>
            <p:ph type="sldNum" sz="quarter" idx="12"/>
          </p:nvPr>
        </p:nvSpPr>
        <p:spPr/>
        <p:txBody>
          <a:bodyPr/>
          <a:lstStyle/>
          <a:p>
            <a:fld id="{1C788548-AC4B-4945-A4F1-BA86477A7FC8}" type="slidenum">
              <a:rPr lang="en-US" smtClean="0"/>
              <a:t>59</a:t>
            </a:fld>
            <a:endParaRPr lang="en-US"/>
          </a:p>
        </p:txBody>
      </p:sp>
    </p:spTree>
    <p:extLst>
      <p:ext uri="{BB962C8B-B14F-4D97-AF65-F5344CB8AC3E}">
        <p14:creationId xmlns:p14="http://schemas.microsoft.com/office/powerpoint/2010/main" val="197051990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5DD04D75-5580-4918-ACD6-01E26F36A2CB}"/>
              </a:ext>
            </a:extLst>
          </p:cNvPr>
          <p:cNvSpPr>
            <a:spLocks noGrp="1"/>
          </p:cNvSpPr>
          <p:nvPr>
            <p:ph type="subTitle" idx="4294967295"/>
          </p:nvPr>
        </p:nvSpPr>
        <p:spPr>
          <a:xfrm>
            <a:off x="370078" y="112869"/>
            <a:ext cx="11594760" cy="2010899"/>
          </a:xfrm>
          <a:prstGeom prst="rect">
            <a:avLst/>
          </a:prstGeom>
        </p:spPr>
        <p:txBody>
          <a:bodyPr>
            <a:normAutofit/>
          </a:bodyPr>
          <a:lstStyle/>
          <a:p>
            <a:pPr marL="0" indent="0" algn="l">
              <a:buNone/>
            </a:pPr>
            <a:r>
              <a:rPr lang="en-US" b="1" dirty="0">
                <a:solidFill>
                  <a:schemeClr val="accent1">
                    <a:lumMod val="75000"/>
                  </a:schemeClr>
                </a:solidFill>
              </a:rPr>
              <a:t>IMS Administration Tool ISPF LAB Exercise 5</a:t>
            </a:r>
            <a:endParaRPr lang="en-US" sz="3200" b="1" dirty="0">
              <a:solidFill>
                <a:schemeClr val="accent1">
                  <a:lumMod val="75000"/>
                </a:schemeClr>
              </a:solidFill>
            </a:endParaRPr>
          </a:p>
          <a:p>
            <a:pPr marL="0" indent="0">
              <a:spcBef>
                <a:spcPts val="600"/>
              </a:spcBef>
              <a:buNone/>
            </a:pPr>
            <a:r>
              <a:rPr lang="en-US" sz="2000" b="1" dirty="0"/>
              <a:t>Key Feature:   IMS SPUFI – IMS DML SQL (JBP)</a:t>
            </a:r>
          </a:p>
          <a:p>
            <a:pPr marL="0" indent="0" algn="l">
              <a:spcBef>
                <a:spcPts val="600"/>
              </a:spcBef>
              <a:buNone/>
            </a:pPr>
            <a:r>
              <a:rPr lang="en-US" sz="2000" b="1" dirty="0"/>
              <a:t>Description:    </a:t>
            </a:r>
            <a:r>
              <a:rPr lang="en-US" sz="2000" dirty="0"/>
              <a:t>IMS SPUFI is an interface which allows you to enter SQL statements to access your IMS data.       </a:t>
            </a:r>
          </a:p>
          <a:p>
            <a:pPr marL="0" indent="0" algn="l">
              <a:spcBef>
                <a:spcPts val="600"/>
              </a:spcBef>
              <a:buNone/>
            </a:pPr>
            <a:r>
              <a:rPr lang="en-US" sz="2000" b="1" dirty="0"/>
              <a:t>Instructions:    </a:t>
            </a:r>
            <a:r>
              <a:rPr lang="en-US" sz="2000" dirty="0"/>
              <a:t>If you are prompted for IMS SPUFI DML options, specify the required “*” fields and press Enter</a:t>
            </a:r>
          </a:p>
          <a:p>
            <a:pPr marL="0" indent="0" algn="l" defTabSz="1543050">
              <a:spcBef>
                <a:spcPts val="600"/>
              </a:spcBef>
              <a:buNone/>
            </a:pPr>
            <a:r>
              <a:rPr lang="en-US" sz="2000" dirty="0"/>
              <a:t>	Otherwise, specify “</a:t>
            </a:r>
            <a:r>
              <a:rPr lang="en-US" sz="2000" dirty="0">
                <a:highlight>
                  <a:srgbClr val="FFFF00"/>
                </a:highlight>
              </a:rPr>
              <a:t>IVP1</a:t>
            </a:r>
            <a:r>
              <a:rPr lang="en-US" sz="2000" dirty="0"/>
              <a:t>” for the IMSID and “</a:t>
            </a:r>
            <a:r>
              <a:rPr lang="en-US" sz="2000" dirty="0">
                <a:highlight>
                  <a:srgbClr val="FFFF00"/>
                </a:highlight>
              </a:rPr>
              <a:t>DFSCP000</a:t>
            </a:r>
            <a:r>
              <a:rPr lang="en-US" sz="2000" dirty="0"/>
              <a:t>” for the PSB on the following panel.  </a:t>
            </a:r>
            <a:r>
              <a:rPr lang="en-US" sz="2000" dirty="0">
                <a:highlight>
                  <a:srgbClr val="FFFF00"/>
                </a:highlight>
              </a:rPr>
              <a:t> </a:t>
            </a:r>
            <a:endParaRPr lang="en-US" sz="2000" i="1" dirty="0">
              <a:highlight>
                <a:srgbClr val="FFFF00"/>
              </a:highlight>
            </a:endParaRPr>
          </a:p>
        </p:txBody>
      </p:sp>
      <p:pic>
        <p:nvPicPr>
          <p:cNvPr id="4" name="Picture 3">
            <a:extLst>
              <a:ext uri="{FF2B5EF4-FFF2-40B4-BE49-F238E27FC236}">
                <a16:creationId xmlns:a16="http://schemas.microsoft.com/office/drawing/2014/main" id="{4814A1F7-5534-481E-619D-9B6292FD7A1C}"/>
              </a:ext>
            </a:extLst>
          </p:cNvPr>
          <p:cNvPicPr>
            <a:picLocks noChangeAspect="1"/>
          </p:cNvPicPr>
          <p:nvPr/>
        </p:nvPicPr>
        <p:blipFill>
          <a:blip r:embed="rId2"/>
          <a:stretch>
            <a:fillRect/>
          </a:stretch>
        </p:blipFill>
        <p:spPr>
          <a:xfrm>
            <a:off x="679846" y="2276022"/>
            <a:ext cx="5898703" cy="3195131"/>
          </a:xfrm>
          <a:prstGeom prst="rect">
            <a:avLst/>
          </a:prstGeom>
          <a:effectLst>
            <a:glow rad="63500">
              <a:schemeClr val="accent3">
                <a:satMod val="175000"/>
                <a:alpha val="40000"/>
              </a:schemeClr>
            </a:glow>
          </a:effectLst>
        </p:spPr>
      </p:pic>
      <p:pic>
        <p:nvPicPr>
          <p:cNvPr id="6" name="Picture 5">
            <a:extLst>
              <a:ext uri="{FF2B5EF4-FFF2-40B4-BE49-F238E27FC236}">
                <a16:creationId xmlns:a16="http://schemas.microsoft.com/office/drawing/2014/main" id="{BF431330-07F1-F6E9-FCB4-404F1A2F23E0}"/>
              </a:ext>
            </a:extLst>
          </p:cNvPr>
          <p:cNvPicPr>
            <a:picLocks noChangeAspect="1"/>
          </p:cNvPicPr>
          <p:nvPr/>
        </p:nvPicPr>
        <p:blipFill>
          <a:blip r:embed="rId3"/>
          <a:stretch>
            <a:fillRect/>
          </a:stretch>
        </p:blipFill>
        <p:spPr>
          <a:xfrm>
            <a:off x="5390588" y="3307686"/>
            <a:ext cx="5921566" cy="3298015"/>
          </a:xfrm>
          <a:prstGeom prst="rect">
            <a:avLst/>
          </a:prstGeom>
          <a:effectLst>
            <a:glow rad="63500">
              <a:schemeClr val="accent3">
                <a:satMod val="175000"/>
                <a:alpha val="40000"/>
              </a:schemeClr>
            </a:glow>
          </a:effectLst>
        </p:spPr>
      </p:pic>
      <p:cxnSp>
        <p:nvCxnSpPr>
          <p:cNvPr id="9" name="Straight Arrow Connector 8">
            <a:extLst>
              <a:ext uri="{FF2B5EF4-FFF2-40B4-BE49-F238E27FC236}">
                <a16:creationId xmlns:a16="http://schemas.microsoft.com/office/drawing/2014/main" id="{3FD621C1-0957-896F-6A3F-255BC02FC71D}"/>
              </a:ext>
            </a:extLst>
          </p:cNvPr>
          <p:cNvCxnSpPr>
            <a:cxnSpLocks/>
          </p:cNvCxnSpPr>
          <p:nvPr/>
        </p:nvCxnSpPr>
        <p:spPr>
          <a:xfrm>
            <a:off x="2265463" y="3022271"/>
            <a:ext cx="414528"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391F1F3A-A8F4-2682-D060-8C8FE1E8C124}"/>
              </a:ext>
            </a:extLst>
          </p:cNvPr>
          <p:cNvCxnSpPr>
            <a:cxnSpLocks/>
          </p:cNvCxnSpPr>
          <p:nvPr/>
        </p:nvCxnSpPr>
        <p:spPr>
          <a:xfrm>
            <a:off x="2265463" y="4669175"/>
            <a:ext cx="414528"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B2D3149D-32AD-7BCF-58A5-5810F944B806}"/>
              </a:ext>
            </a:extLst>
          </p:cNvPr>
          <p:cNvCxnSpPr>
            <a:cxnSpLocks/>
          </p:cNvCxnSpPr>
          <p:nvPr/>
        </p:nvCxnSpPr>
        <p:spPr>
          <a:xfrm>
            <a:off x="7211132" y="4044827"/>
            <a:ext cx="414528"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A20AE383-7051-7A5E-AF0A-A49E6AE4BC70}"/>
              </a:ext>
            </a:extLst>
          </p:cNvPr>
          <p:cNvCxnSpPr>
            <a:cxnSpLocks/>
          </p:cNvCxnSpPr>
          <p:nvPr/>
        </p:nvCxnSpPr>
        <p:spPr>
          <a:xfrm>
            <a:off x="7211132" y="6193175"/>
            <a:ext cx="414528"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2" name="Slide Number Placeholder 1">
            <a:extLst>
              <a:ext uri="{FF2B5EF4-FFF2-40B4-BE49-F238E27FC236}">
                <a16:creationId xmlns:a16="http://schemas.microsoft.com/office/drawing/2014/main" id="{5485B193-627F-C0F5-3F25-BBB6D9AFA2B2}"/>
              </a:ext>
            </a:extLst>
          </p:cNvPr>
          <p:cNvSpPr>
            <a:spLocks noGrp="1"/>
          </p:cNvSpPr>
          <p:nvPr>
            <p:ph type="sldNum" sz="quarter" idx="12"/>
          </p:nvPr>
        </p:nvSpPr>
        <p:spPr/>
        <p:txBody>
          <a:bodyPr/>
          <a:lstStyle/>
          <a:p>
            <a:fld id="{1C788548-AC4B-4945-A4F1-BA86477A7FC8}" type="slidenum">
              <a:rPr lang="en-US" smtClean="0"/>
              <a:t>60</a:t>
            </a:fld>
            <a:endParaRPr lang="en-US"/>
          </a:p>
        </p:txBody>
      </p:sp>
    </p:spTree>
    <p:extLst>
      <p:ext uri="{BB962C8B-B14F-4D97-AF65-F5344CB8AC3E}">
        <p14:creationId xmlns:p14="http://schemas.microsoft.com/office/powerpoint/2010/main" val="235138319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ubtitle 2">
            <a:extLst>
              <a:ext uri="{FF2B5EF4-FFF2-40B4-BE49-F238E27FC236}">
                <a16:creationId xmlns:a16="http://schemas.microsoft.com/office/drawing/2014/main" id="{3D15D9B9-CACB-4DE1-AED7-92CE5AFB9412}"/>
              </a:ext>
            </a:extLst>
          </p:cNvPr>
          <p:cNvSpPr txBox="1">
            <a:spLocks/>
          </p:cNvSpPr>
          <p:nvPr/>
        </p:nvSpPr>
        <p:spPr>
          <a:xfrm>
            <a:off x="609601" y="226142"/>
            <a:ext cx="11090786" cy="1877960"/>
          </a:xfrm>
          <a:prstGeom prst="rect">
            <a:avLst/>
          </a:prstGeom>
        </p:spPr>
        <p:txBody>
          <a:bodyPr>
            <a:normAutofit fontScale="77500" lnSpcReduction="20000"/>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Font typeface="Arial"/>
              <a:buNone/>
            </a:pPr>
            <a:r>
              <a:rPr lang="en-US" sz="3100" b="1" dirty="0">
                <a:solidFill>
                  <a:schemeClr val="accent1">
                    <a:lumMod val="75000"/>
                  </a:schemeClr>
                </a:solidFill>
              </a:rPr>
              <a:t>IMS Administration Tool ISPF LAB Exercise 5</a:t>
            </a:r>
            <a:endParaRPr lang="en-US" sz="3200" b="1" dirty="0">
              <a:solidFill>
                <a:schemeClr val="accent1">
                  <a:lumMod val="75000"/>
                </a:schemeClr>
              </a:solidFill>
            </a:endParaRPr>
          </a:p>
          <a:p>
            <a:pPr marL="0" indent="0">
              <a:lnSpc>
                <a:spcPts val="1900"/>
              </a:lnSpc>
              <a:spcBef>
                <a:spcPts val="400"/>
              </a:spcBef>
              <a:buNone/>
            </a:pPr>
            <a:r>
              <a:rPr lang="en-US" sz="2300" b="1" dirty="0"/>
              <a:t>Key Feature:   IMS SPUFI – IMS DML SQL</a:t>
            </a:r>
          </a:p>
          <a:p>
            <a:pPr marL="0" indent="0">
              <a:lnSpc>
                <a:spcPts val="1900"/>
              </a:lnSpc>
              <a:spcBef>
                <a:spcPts val="400"/>
              </a:spcBef>
              <a:buFont typeface="Arial"/>
              <a:buNone/>
            </a:pPr>
            <a:r>
              <a:rPr lang="en-US" sz="2300" b="1" dirty="0"/>
              <a:t>Description:    </a:t>
            </a:r>
            <a:r>
              <a:rPr lang="en-US" sz="2300" dirty="0"/>
              <a:t>If you are not familiar with the IMS Catalog segments (tables) and fields (columns), you can issue the following command to see the contents of the HEADER segment.  DFSCAT00 is the PCB in the DFSCP000 PSB.       </a:t>
            </a:r>
          </a:p>
          <a:p>
            <a:pPr marL="0" indent="0">
              <a:lnSpc>
                <a:spcPts val="1900"/>
              </a:lnSpc>
              <a:spcBef>
                <a:spcPts val="400"/>
              </a:spcBef>
              <a:buFont typeface="Arial"/>
              <a:buNone/>
            </a:pPr>
            <a:r>
              <a:rPr lang="en-US" sz="2300" b="1" dirty="0"/>
              <a:t>Instructions:   </a:t>
            </a:r>
            <a:r>
              <a:rPr lang="en-US" sz="2300" dirty="0"/>
              <a:t>Specify this SQL statement:  </a:t>
            </a:r>
            <a:r>
              <a:rPr lang="en-US" sz="2300" dirty="0">
                <a:highlight>
                  <a:srgbClr val="FFFF00"/>
                </a:highlight>
              </a:rPr>
              <a:t>SELECT * FROM DFSCAT00.HEADER</a:t>
            </a:r>
            <a:r>
              <a:rPr lang="en-US" sz="2300" dirty="0"/>
              <a:t>;</a:t>
            </a:r>
          </a:p>
          <a:p>
            <a:pPr marL="0" indent="0" defTabSz="1317625">
              <a:lnSpc>
                <a:spcPts val="1900"/>
              </a:lnSpc>
              <a:spcBef>
                <a:spcPts val="400"/>
              </a:spcBef>
              <a:buFont typeface="Arial"/>
              <a:buNone/>
            </a:pPr>
            <a:r>
              <a:rPr lang="en-US" sz="2300" dirty="0"/>
              <a:t>	Then Type:  </a:t>
            </a:r>
            <a:r>
              <a:rPr lang="en-US" sz="2300" dirty="0">
                <a:highlight>
                  <a:srgbClr val="FFFF00"/>
                </a:highlight>
              </a:rPr>
              <a:t>EXECSQL</a:t>
            </a:r>
            <a:r>
              <a:rPr lang="en-US" sz="2300" dirty="0"/>
              <a:t> on the command line and Press Enter.  You will be presented with a list to view.</a:t>
            </a:r>
            <a:endParaRPr lang="en-US" sz="2000" i="1" dirty="0"/>
          </a:p>
        </p:txBody>
      </p:sp>
      <p:cxnSp>
        <p:nvCxnSpPr>
          <p:cNvPr id="9" name="Straight Arrow Connector 8">
            <a:extLst>
              <a:ext uri="{FF2B5EF4-FFF2-40B4-BE49-F238E27FC236}">
                <a16:creationId xmlns:a16="http://schemas.microsoft.com/office/drawing/2014/main" id="{CB55716A-8D9B-4D5C-8286-48034C062FB8}"/>
              </a:ext>
            </a:extLst>
          </p:cNvPr>
          <p:cNvCxnSpPr>
            <a:cxnSpLocks/>
          </p:cNvCxnSpPr>
          <p:nvPr/>
        </p:nvCxnSpPr>
        <p:spPr>
          <a:xfrm>
            <a:off x="1244584" y="6007177"/>
            <a:ext cx="414528"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31B17729-E65D-4D17-9B40-E2EC76EA6955}"/>
              </a:ext>
            </a:extLst>
          </p:cNvPr>
          <p:cNvCxnSpPr>
            <a:cxnSpLocks/>
          </p:cNvCxnSpPr>
          <p:nvPr/>
        </p:nvCxnSpPr>
        <p:spPr>
          <a:xfrm>
            <a:off x="1244584" y="2537771"/>
            <a:ext cx="414528"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pic>
        <p:nvPicPr>
          <p:cNvPr id="3" name="Picture 2">
            <a:extLst>
              <a:ext uri="{FF2B5EF4-FFF2-40B4-BE49-F238E27FC236}">
                <a16:creationId xmlns:a16="http://schemas.microsoft.com/office/drawing/2014/main" id="{C5548BCB-6B64-E61B-B778-0C36094DC8BA}"/>
              </a:ext>
            </a:extLst>
          </p:cNvPr>
          <p:cNvPicPr>
            <a:picLocks noChangeAspect="1"/>
          </p:cNvPicPr>
          <p:nvPr/>
        </p:nvPicPr>
        <p:blipFill>
          <a:blip r:embed="rId2"/>
          <a:stretch>
            <a:fillRect/>
          </a:stretch>
        </p:blipFill>
        <p:spPr>
          <a:xfrm>
            <a:off x="1659112" y="2171551"/>
            <a:ext cx="8873776" cy="4243980"/>
          </a:xfrm>
          <a:prstGeom prst="rect">
            <a:avLst/>
          </a:prstGeom>
          <a:effectLst>
            <a:glow rad="63500">
              <a:schemeClr val="accent3">
                <a:satMod val="175000"/>
                <a:alpha val="40000"/>
              </a:schemeClr>
            </a:glow>
          </a:effectLst>
        </p:spPr>
      </p:pic>
      <p:sp>
        <p:nvSpPr>
          <p:cNvPr id="2" name="Slide Number Placeholder 1">
            <a:extLst>
              <a:ext uri="{FF2B5EF4-FFF2-40B4-BE49-F238E27FC236}">
                <a16:creationId xmlns:a16="http://schemas.microsoft.com/office/drawing/2014/main" id="{D83D9B65-4FE7-5F35-773E-5AE66B351E2E}"/>
              </a:ext>
            </a:extLst>
          </p:cNvPr>
          <p:cNvSpPr>
            <a:spLocks noGrp="1"/>
          </p:cNvSpPr>
          <p:nvPr>
            <p:ph type="sldNum" sz="quarter" idx="12"/>
          </p:nvPr>
        </p:nvSpPr>
        <p:spPr/>
        <p:txBody>
          <a:bodyPr/>
          <a:lstStyle/>
          <a:p>
            <a:fld id="{1C788548-AC4B-4945-A4F1-BA86477A7FC8}" type="slidenum">
              <a:rPr lang="en-US" smtClean="0"/>
              <a:t>61</a:t>
            </a:fld>
            <a:endParaRPr lang="en-US"/>
          </a:p>
        </p:txBody>
      </p:sp>
    </p:spTree>
    <p:extLst>
      <p:ext uri="{BB962C8B-B14F-4D97-AF65-F5344CB8AC3E}">
        <p14:creationId xmlns:p14="http://schemas.microsoft.com/office/powerpoint/2010/main" val="389195587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ubtitle 2">
            <a:extLst>
              <a:ext uri="{FF2B5EF4-FFF2-40B4-BE49-F238E27FC236}">
                <a16:creationId xmlns:a16="http://schemas.microsoft.com/office/drawing/2014/main" id="{9B9E18D9-7799-433A-A1C9-88377385BB45}"/>
              </a:ext>
            </a:extLst>
          </p:cNvPr>
          <p:cNvSpPr txBox="1">
            <a:spLocks/>
          </p:cNvSpPr>
          <p:nvPr/>
        </p:nvSpPr>
        <p:spPr>
          <a:xfrm>
            <a:off x="569343" y="182245"/>
            <a:ext cx="11476354" cy="1912026"/>
          </a:xfrm>
          <a:prstGeom prst="rect">
            <a:avLst/>
          </a:prstGeom>
        </p:spPr>
        <p:txBody>
          <a:bodyPr>
            <a:normAutofit fontScale="92500" lnSpcReduction="10000"/>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Font typeface="Arial"/>
              <a:buNone/>
            </a:pPr>
            <a:r>
              <a:rPr lang="en-US" b="1" dirty="0">
                <a:solidFill>
                  <a:schemeClr val="accent1">
                    <a:lumMod val="75000"/>
                  </a:schemeClr>
                </a:solidFill>
              </a:rPr>
              <a:t>IMS Administration Tool ISPF LAB Exercise 5</a:t>
            </a:r>
            <a:endParaRPr lang="en-US" sz="3200" b="1" dirty="0">
              <a:solidFill>
                <a:schemeClr val="accent1">
                  <a:lumMod val="75000"/>
                </a:schemeClr>
              </a:solidFill>
            </a:endParaRPr>
          </a:p>
          <a:p>
            <a:pPr marL="0" indent="0">
              <a:buNone/>
            </a:pPr>
            <a:r>
              <a:rPr lang="en-US" sz="1900" b="1" dirty="0"/>
              <a:t>Key Feature:   IMS SPUFI – IMS DML SQL   </a:t>
            </a:r>
          </a:p>
          <a:p>
            <a:pPr marL="0" indent="0">
              <a:buFont typeface="Arial"/>
              <a:buNone/>
            </a:pPr>
            <a:r>
              <a:rPr lang="en-US" sz="1900" b="1" dirty="0"/>
              <a:t>Description:    </a:t>
            </a:r>
            <a:r>
              <a:rPr lang="en-US" sz="1900" dirty="0"/>
              <a:t>This is an example to see all of the DBDs in the IMS Catalog.        </a:t>
            </a:r>
          </a:p>
          <a:p>
            <a:pPr marL="0" indent="0">
              <a:buFont typeface="Arial"/>
              <a:buNone/>
            </a:pPr>
            <a:r>
              <a:rPr lang="en-US" sz="1900" b="1" dirty="0"/>
              <a:t>Instructions:   </a:t>
            </a:r>
            <a:r>
              <a:rPr lang="en-US" sz="1900" dirty="0"/>
              <a:t>Specify the highlighted SQL statement:  </a:t>
            </a:r>
            <a:r>
              <a:rPr lang="en-US" sz="1900" dirty="0">
                <a:highlight>
                  <a:srgbClr val="FFFF00"/>
                </a:highlight>
              </a:rPr>
              <a:t>SELECT * FROM DFSCAT00.DBD</a:t>
            </a:r>
            <a:r>
              <a:rPr lang="en-US" sz="1900" dirty="0"/>
              <a:t>; </a:t>
            </a:r>
          </a:p>
          <a:p>
            <a:pPr marL="0" indent="0" defTabSz="1376363">
              <a:buFont typeface="Arial"/>
              <a:buNone/>
              <a:tabLst>
                <a:tab pos="1317625" algn="l"/>
              </a:tabLst>
            </a:pPr>
            <a:r>
              <a:rPr lang="en-US" sz="1900" dirty="0"/>
              <a:t>	Then Type </a:t>
            </a:r>
            <a:r>
              <a:rPr lang="en-US" sz="1900" dirty="0">
                <a:highlight>
                  <a:srgbClr val="FFFF00"/>
                </a:highlight>
              </a:rPr>
              <a:t>EXECSQL</a:t>
            </a:r>
            <a:r>
              <a:rPr lang="en-US" sz="1900" dirty="0"/>
              <a:t> on the command line and Press Enter. You will be presented with a list of DBDs to view.</a:t>
            </a:r>
            <a:endParaRPr lang="en-US" sz="2000" i="1" dirty="0"/>
          </a:p>
        </p:txBody>
      </p:sp>
      <p:cxnSp>
        <p:nvCxnSpPr>
          <p:cNvPr id="9" name="Straight Arrow Connector 8">
            <a:extLst>
              <a:ext uri="{FF2B5EF4-FFF2-40B4-BE49-F238E27FC236}">
                <a16:creationId xmlns:a16="http://schemas.microsoft.com/office/drawing/2014/main" id="{16E96AAC-F946-428C-9B2B-96E182DA89C2}"/>
              </a:ext>
            </a:extLst>
          </p:cNvPr>
          <p:cNvCxnSpPr>
            <a:cxnSpLocks/>
          </p:cNvCxnSpPr>
          <p:nvPr/>
        </p:nvCxnSpPr>
        <p:spPr>
          <a:xfrm>
            <a:off x="1240297" y="2558675"/>
            <a:ext cx="414528"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43D33E4E-79BC-44BB-B2CE-A5E4244D7FD9}"/>
              </a:ext>
            </a:extLst>
          </p:cNvPr>
          <p:cNvCxnSpPr>
            <a:cxnSpLocks/>
          </p:cNvCxnSpPr>
          <p:nvPr/>
        </p:nvCxnSpPr>
        <p:spPr>
          <a:xfrm>
            <a:off x="1240297" y="6054066"/>
            <a:ext cx="414528"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pic>
        <p:nvPicPr>
          <p:cNvPr id="7" name="Picture 6">
            <a:extLst>
              <a:ext uri="{FF2B5EF4-FFF2-40B4-BE49-F238E27FC236}">
                <a16:creationId xmlns:a16="http://schemas.microsoft.com/office/drawing/2014/main" id="{246158C9-B19F-88DB-C9F9-9948B4399032}"/>
              </a:ext>
            </a:extLst>
          </p:cNvPr>
          <p:cNvPicPr>
            <a:picLocks noChangeAspect="1"/>
          </p:cNvPicPr>
          <p:nvPr/>
        </p:nvPicPr>
        <p:blipFill>
          <a:blip r:embed="rId2"/>
          <a:stretch>
            <a:fillRect/>
          </a:stretch>
        </p:blipFill>
        <p:spPr>
          <a:xfrm>
            <a:off x="1654825" y="2201642"/>
            <a:ext cx="8882349" cy="4226832"/>
          </a:xfrm>
          <a:prstGeom prst="rect">
            <a:avLst/>
          </a:prstGeom>
          <a:effectLst>
            <a:glow rad="63500">
              <a:schemeClr val="accent3">
                <a:satMod val="175000"/>
                <a:alpha val="40000"/>
              </a:schemeClr>
            </a:glow>
          </a:effectLst>
        </p:spPr>
      </p:pic>
      <p:sp>
        <p:nvSpPr>
          <p:cNvPr id="2" name="Slide Number Placeholder 1">
            <a:extLst>
              <a:ext uri="{FF2B5EF4-FFF2-40B4-BE49-F238E27FC236}">
                <a16:creationId xmlns:a16="http://schemas.microsoft.com/office/drawing/2014/main" id="{0D7E3FAC-996A-025A-2FBA-EB5FB32DEB1C}"/>
              </a:ext>
            </a:extLst>
          </p:cNvPr>
          <p:cNvSpPr>
            <a:spLocks noGrp="1"/>
          </p:cNvSpPr>
          <p:nvPr>
            <p:ph type="sldNum" sz="quarter" idx="12"/>
          </p:nvPr>
        </p:nvSpPr>
        <p:spPr/>
        <p:txBody>
          <a:bodyPr/>
          <a:lstStyle/>
          <a:p>
            <a:fld id="{1C788548-AC4B-4945-A4F1-BA86477A7FC8}" type="slidenum">
              <a:rPr lang="en-US" smtClean="0"/>
              <a:t>62</a:t>
            </a:fld>
            <a:endParaRPr lang="en-US"/>
          </a:p>
        </p:txBody>
      </p:sp>
    </p:spTree>
    <p:extLst>
      <p:ext uri="{BB962C8B-B14F-4D97-AF65-F5344CB8AC3E}">
        <p14:creationId xmlns:p14="http://schemas.microsoft.com/office/powerpoint/2010/main" val="235019418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ubtitle 2">
            <a:extLst>
              <a:ext uri="{FF2B5EF4-FFF2-40B4-BE49-F238E27FC236}">
                <a16:creationId xmlns:a16="http://schemas.microsoft.com/office/drawing/2014/main" id="{9B9E18D9-7799-433A-A1C9-88377385BB45}"/>
              </a:ext>
            </a:extLst>
          </p:cNvPr>
          <p:cNvSpPr txBox="1">
            <a:spLocks/>
          </p:cNvSpPr>
          <p:nvPr/>
        </p:nvSpPr>
        <p:spPr>
          <a:xfrm>
            <a:off x="508958" y="157860"/>
            <a:ext cx="11524891" cy="1916567"/>
          </a:xfrm>
          <a:prstGeom prst="rect">
            <a:avLst/>
          </a:prstGeom>
        </p:spPr>
        <p:txBody>
          <a:bodyPr>
            <a:normAutofit fontScale="92500" lnSpcReduction="10000"/>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Font typeface="Arial"/>
              <a:buNone/>
            </a:pPr>
            <a:r>
              <a:rPr lang="en-US" b="1" dirty="0">
                <a:solidFill>
                  <a:schemeClr val="accent1">
                    <a:lumMod val="75000"/>
                  </a:schemeClr>
                </a:solidFill>
              </a:rPr>
              <a:t>IMS Administration Tool ISPF LAB Exercise 5</a:t>
            </a:r>
            <a:endParaRPr lang="en-US" sz="3200" b="1" dirty="0">
              <a:solidFill>
                <a:schemeClr val="accent1">
                  <a:lumMod val="75000"/>
                </a:schemeClr>
              </a:solidFill>
            </a:endParaRPr>
          </a:p>
          <a:p>
            <a:pPr marL="0" indent="0">
              <a:buFont typeface="Arial"/>
              <a:buNone/>
            </a:pPr>
            <a:r>
              <a:rPr lang="en-US" sz="1900" b="1" dirty="0"/>
              <a:t>Key Feature:   IMS SPUFI – IMS DML SQL    </a:t>
            </a:r>
          </a:p>
          <a:p>
            <a:pPr marL="0" indent="0">
              <a:buFont typeface="Arial"/>
              <a:buNone/>
            </a:pPr>
            <a:r>
              <a:rPr lang="en-US" sz="1900" b="1" dirty="0"/>
              <a:t>Description:    </a:t>
            </a:r>
            <a:r>
              <a:rPr lang="en-US" sz="1900" dirty="0"/>
              <a:t>This is an example to see all of the PSBs in the IMS Catalog.        </a:t>
            </a:r>
          </a:p>
          <a:p>
            <a:pPr marL="0" indent="0">
              <a:buFont typeface="Arial"/>
              <a:buNone/>
            </a:pPr>
            <a:r>
              <a:rPr lang="en-US" sz="1900" b="1" dirty="0"/>
              <a:t>Instructions:   </a:t>
            </a:r>
            <a:r>
              <a:rPr lang="en-US" sz="1900" dirty="0"/>
              <a:t>Specify the highlighted SQL statement:  </a:t>
            </a:r>
            <a:r>
              <a:rPr lang="en-US" sz="1900" dirty="0">
                <a:highlight>
                  <a:srgbClr val="FFFF00"/>
                </a:highlight>
              </a:rPr>
              <a:t>SELECT * FROM DFSCAT00.PSB</a:t>
            </a:r>
            <a:r>
              <a:rPr lang="en-US" sz="1900" dirty="0"/>
              <a:t>; </a:t>
            </a:r>
          </a:p>
          <a:p>
            <a:pPr marL="0" indent="0" defTabSz="1317625">
              <a:buFont typeface="Arial"/>
              <a:buNone/>
            </a:pPr>
            <a:r>
              <a:rPr lang="en-US" sz="1900" dirty="0"/>
              <a:t>	Then Type </a:t>
            </a:r>
            <a:r>
              <a:rPr lang="en-US" sz="1900" dirty="0">
                <a:highlight>
                  <a:srgbClr val="FFFF00"/>
                </a:highlight>
              </a:rPr>
              <a:t>EXECSQL</a:t>
            </a:r>
            <a:r>
              <a:rPr lang="en-US" sz="1900" dirty="0"/>
              <a:t> on the command line and Press Enter.  You will be presented with a list of PSBs to view.</a:t>
            </a:r>
            <a:endParaRPr lang="en-US" sz="2100" i="1" dirty="0"/>
          </a:p>
        </p:txBody>
      </p:sp>
      <p:cxnSp>
        <p:nvCxnSpPr>
          <p:cNvPr id="9" name="Straight Arrow Connector 8">
            <a:extLst>
              <a:ext uri="{FF2B5EF4-FFF2-40B4-BE49-F238E27FC236}">
                <a16:creationId xmlns:a16="http://schemas.microsoft.com/office/drawing/2014/main" id="{16E96AAC-F946-428C-9B2B-96E182DA89C2}"/>
              </a:ext>
            </a:extLst>
          </p:cNvPr>
          <p:cNvCxnSpPr>
            <a:cxnSpLocks/>
          </p:cNvCxnSpPr>
          <p:nvPr/>
        </p:nvCxnSpPr>
        <p:spPr>
          <a:xfrm>
            <a:off x="1248870" y="2449522"/>
            <a:ext cx="414528"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43D33E4E-79BC-44BB-B2CE-A5E4244D7FD9}"/>
              </a:ext>
            </a:extLst>
          </p:cNvPr>
          <p:cNvCxnSpPr>
            <a:cxnSpLocks/>
          </p:cNvCxnSpPr>
          <p:nvPr/>
        </p:nvCxnSpPr>
        <p:spPr>
          <a:xfrm>
            <a:off x="1248870" y="5926348"/>
            <a:ext cx="414528"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pic>
        <p:nvPicPr>
          <p:cNvPr id="4" name="Picture 3">
            <a:extLst>
              <a:ext uri="{FF2B5EF4-FFF2-40B4-BE49-F238E27FC236}">
                <a16:creationId xmlns:a16="http://schemas.microsoft.com/office/drawing/2014/main" id="{D15E3C1F-9464-D20B-A794-36D42E5B10C3}"/>
              </a:ext>
            </a:extLst>
          </p:cNvPr>
          <p:cNvPicPr>
            <a:picLocks noChangeAspect="1"/>
          </p:cNvPicPr>
          <p:nvPr/>
        </p:nvPicPr>
        <p:blipFill>
          <a:blip r:embed="rId2"/>
          <a:stretch>
            <a:fillRect/>
          </a:stretch>
        </p:blipFill>
        <p:spPr>
          <a:xfrm>
            <a:off x="1663398" y="2074430"/>
            <a:ext cx="8865203" cy="4261127"/>
          </a:xfrm>
          <a:prstGeom prst="rect">
            <a:avLst/>
          </a:prstGeom>
          <a:effectLst>
            <a:glow rad="63500">
              <a:schemeClr val="accent3">
                <a:satMod val="175000"/>
                <a:alpha val="40000"/>
              </a:schemeClr>
            </a:glow>
          </a:effectLst>
        </p:spPr>
      </p:pic>
      <p:sp>
        <p:nvSpPr>
          <p:cNvPr id="2" name="Slide Number Placeholder 1">
            <a:extLst>
              <a:ext uri="{FF2B5EF4-FFF2-40B4-BE49-F238E27FC236}">
                <a16:creationId xmlns:a16="http://schemas.microsoft.com/office/drawing/2014/main" id="{A779972E-4BD8-7944-9513-A30841D5BEE8}"/>
              </a:ext>
            </a:extLst>
          </p:cNvPr>
          <p:cNvSpPr>
            <a:spLocks noGrp="1"/>
          </p:cNvSpPr>
          <p:nvPr>
            <p:ph type="sldNum" sz="quarter" idx="12"/>
          </p:nvPr>
        </p:nvSpPr>
        <p:spPr/>
        <p:txBody>
          <a:bodyPr/>
          <a:lstStyle/>
          <a:p>
            <a:fld id="{1C788548-AC4B-4945-A4F1-BA86477A7FC8}" type="slidenum">
              <a:rPr lang="en-US" smtClean="0"/>
              <a:t>63</a:t>
            </a:fld>
            <a:endParaRPr lang="en-US"/>
          </a:p>
        </p:txBody>
      </p:sp>
    </p:spTree>
    <p:extLst>
      <p:ext uri="{BB962C8B-B14F-4D97-AF65-F5344CB8AC3E}">
        <p14:creationId xmlns:p14="http://schemas.microsoft.com/office/powerpoint/2010/main" val="83315601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ubtitle 2">
            <a:extLst>
              <a:ext uri="{FF2B5EF4-FFF2-40B4-BE49-F238E27FC236}">
                <a16:creationId xmlns:a16="http://schemas.microsoft.com/office/drawing/2014/main" id="{3D15D9B9-CACB-4DE1-AED7-92CE5AFB9412}"/>
              </a:ext>
            </a:extLst>
          </p:cNvPr>
          <p:cNvSpPr txBox="1">
            <a:spLocks/>
          </p:cNvSpPr>
          <p:nvPr/>
        </p:nvSpPr>
        <p:spPr>
          <a:xfrm>
            <a:off x="455041" y="134111"/>
            <a:ext cx="11432159" cy="2460745"/>
          </a:xfrm>
          <a:prstGeom prst="rect">
            <a:avLst/>
          </a:prstGeom>
        </p:spPr>
        <p:txBody>
          <a:bodyPr>
            <a:normAutofit fontScale="85000" lnSpcReduction="20000"/>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Font typeface="Arial"/>
              <a:buNone/>
            </a:pPr>
            <a:r>
              <a:rPr lang="en-US" b="1" dirty="0">
                <a:solidFill>
                  <a:schemeClr val="accent1">
                    <a:lumMod val="75000"/>
                  </a:schemeClr>
                </a:solidFill>
              </a:rPr>
              <a:t>IMS Administration Tool ISPF LAB Exercise 5</a:t>
            </a:r>
            <a:endParaRPr lang="en-US" sz="3200" b="1" dirty="0">
              <a:solidFill>
                <a:schemeClr val="accent1">
                  <a:lumMod val="75000"/>
                </a:schemeClr>
              </a:solidFill>
            </a:endParaRPr>
          </a:p>
          <a:p>
            <a:pPr marL="0" indent="0">
              <a:buFont typeface="Arial"/>
              <a:buNone/>
            </a:pPr>
            <a:r>
              <a:rPr lang="en-US" sz="2000" b="1" dirty="0"/>
              <a:t>Key Feature:   IMS SPUFI – IMS DML SQL    </a:t>
            </a:r>
          </a:p>
          <a:p>
            <a:pPr marL="0" indent="0">
              <a:buNone/>
            </a:pPr>
            <a:r>
              <a:rPr lang="en-US" sz="2000" b="1" dirty="0"/>
              <a:t>Description:    </a:t>
            </a:r>
            <a:r>
              <a:rPr lang="en-US" sz="2000" dirty="0"/>
              <a:t>This is an example of how to extract specific fields (columns).    </a:t>
            </a:r>
          </a:p>
          <a:p>
            <a:pPr marL="0" indent="0">
              <a:buNone/>
            </a:pPr>
            <a:r>
              <a:rPr lang="en-US" sz="2000" b="1" dirty="0"/>
              <a:t>Instructions:   </a:t>
            </a:r>
            <a:r>
              <a:rPr lang="en-US" sz="2000" dirty="0"/>
              <a:t>Specify the highlighted SQL statement:  </a:t>
            </a:r>
            <a:r>
              <a:rPr lang="en-US" sz="2000" dirty="0">
                <a:highlight>
                  <a:srgbClr val="FFFF00"/>
                </a:highlight>
              </a:rPr>
              <a:t>SELECT HEADER_RHDRSEQ,VERSION,TSVERS FROM DFSCAT00.DBD; </a:t>
            </a:r>
          </a:p>
          <a:p>
            <a:pPr marL="0" indent="0" defTabSz="1258888">
              <a:buNone/>
            </a:pPr>
            <a:r>
              <a:rPr lang="en-US" sz="2000" dirty="0"/>
              <a:t>	Then Type:  </a:t>
            </a:r>
            <a:r>
              <a:rPr lang="en-US" sz="2000" dirty="0">
                <a:highlight>
                  <a:srgbClr val="FFFF00"/>
                </a:highlight>
              </a:rPr>
              <a:t>EXECSQL</a:t>
            </a:r>
            <a:r>
              <a:rPr lang="en-US" sz="2000" dirty="0"/>
              <a:t> on the command line and Press Enter.  You will be presented with a list to view.</a:t>
            </a:r>
          </a:p>
          <a:p>
            <a:pPr marL="1258888" indent="0" defTabSz="1258888">
              <a:buNone/>
            </a:pPr>
            <a:r>
              <a:rPr lang="en-US" sz="2000" dirty="0"/>
              <a:t>NOTE:  If the output gets truncated, you can set #lines&gt;250 (default #lines) by Pressing PF3 until you get to the  “IMS SPUFI PSB and Data Set Settings” panel and  specify “Update IMS SPUFI OPTIONS = ‘Y’ to update this amount.											</a:t>
            </a:r>
            <a:endParaRPr lang="en-US" sz="2000" i="1" dirty="0"/>
          </a:p>
        </p:txBody>
      </p:sp>
      <p:cxnSp>
        <p:nvCxnSpPr>
          <p:cNvPr id="9" name="Straight Arrow Connector 8">
            <a:extLst>
              <a:ext uri="{FF2B5EF4-FFF2-40B4-BE49-F238E27FC236}">
                <a16:creationId xmlns:a16="http://schemas.microsoft.com/office/drawing/2014/main" id="{28B0A642-2CBF-4689-8A4F-D25B887B2764}"/>
              </a:ext>
            </a:extLst>
          </p:cNvPr>
          <p:cNvCxnSpPr>
            <a:cxnSpLocks/>
          </p:cNvCxnSpPr>
          <p:nvPr/>
        </p:nvCxnSpPr>
        <p:spPr>
          <a:xfrm>
            <a:off x="1438987" y="2790556"/>
            <a:ext cx="414528"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DB15CE41-F1E8-4BCE-BC2A-A0A861BD1BA0}"/>
              </a:ext>
            </a:extLst>
          </p:cNvPr>
          <p:cNvCxnSpPr>
            <a:cxnSpLocks/>
          </p:cNvCxnSpPr>
          <p:nvPr/>
        </p:nvCxnSpPr>
        <p:spPr>
          <a:xfrm>
            <a:off x="1470106" y="6116425"/>
            <a:ext cx="414528"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pic>
        <p:nvPicPr>
          <p:cNvPr id="4" name="Picture 3">
            <a:extLst>
              <a:ext uri="{FF2B5EF4-FFF2-40B4-BE49-F238E27FC236}">
                <a16:creationId xmlns:a16="http://schemas.microsoft.com/office/drawing/2014/main" id="{06107128-6C4B-0FF8-9A9A-DB8189A68434}"/>
              </a:ext>
            </a:extLst>
          </p:cNvPr>
          <p:cNvPicPr>
            <a:picLocks noChangeAspect="1"/>
          </p:cNvPicPr>
          <p:nvPr/>
        </p:nvPicPr>
        <p:blipFill>
          <a:blip r:embed="rId2"/>
          <a:stretch>
            <a:fillRect/>
          </a:stretch>
        </p:blipFill>
        <p:spPr>
          <a:xfrm>
            <a:off x="1919138" y="2468406"/>
            <a:ext cx="8503964" cy="4014395"/>
          </a:xfrm>
          <a:prstGeom prst="rect">
            <a:avLst/>
          </a:prstGeom>
          <a:effectLst>
            <a:glow rad="63500">
              <a:schemeClr val="accent3">
                <a:satMod val="175000"/>
                <a:alpha val="40000"/>
              </a:schemeClr>
            </a:glow>
          </a:effectLst>
        </p:spPr>
      </p:pic>
      <p:sp>
        <p:nvSpPr>
          <p:cNvPr id="2" name="Slide Number Placeholder 1">
            <a:extLst>
              <a:ext uri="{FF2B5EF4-FFF2-40B4-BE49-F238E27FC236}">
                <a16:creationId xmlns:a16="http://schemas.microsoft.com/office/drawing/2014/main" id="{AD3C6CCA-2729-0465-EA77-C6831F157196}"/>
              </a:ext>
            </a:extLst>
          </p:cNvPr>
          <p:cNvSpPr>
            <a:spLocks noGrp="1"/>
          </p:cNvSpPr>
          <p:nvPr>
            <p:ph type="sldNum" sz="quarter" idx="12"/>
          </p:nvPr>
        </p:nvSpPr>
        <p:spPr/>
        <p:txBody>
          <a:bodyPr/>
          <a:lstStyle/>
          <a:p>
            <a:fld id="{1C788548-AC4B-4945-A4F1-BA86477A7FC8}" type="slidenum">
              <a:rPr lang="en-US" smtClean="0"/>
              <a:t>64</a:t>
            </a:fld>
            <a:endParaRPr lang="en-US"/>
          </a:p>
        </p:txBody>
      </p:sp>
    </p:spTree>
    <p:extLst>
      <p:ext uri="{BB962C8B-B14F-4D97-AF65-F5344CB8AC3E}">
        <p14:creationId xmlns:p14="http://schemas.microsoft.com/office/powerpoint/2010/main" val="11445619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ubtitle 2">
            <a:extLst>
              <a:ext uri="{FF2B5EF4-FFF2-40B4-BE49-F238E27FC236}">
                <a16:creationId xmlns:a16="http://schemas.microsoft.com/office/drawing/2014/main" id="{9B9E18D9-7799-433A-A1C9-88377385BB45}"/>
              </a:ext>
            </a:extLst>
          </p:cNvPr>
          <p:cNvSpPr txBox="1">
            <a:spLocks/>
          </p:cNvSpPr>
          <p:nvPr/>
        </p:nvSpPr>
        <p:spPr>
          <a:xfrm>
            <a:off x="784225" y="182244"/>
            <a:ext cx="11261471" cy="2187329"/>
          </a:xfrm>
          <a:prstGeom prst="rect">
            <a:avLst/>
          </a:prstGeom>
        </p:spPr>
        <p:txBody>
          <a:bodyPr>
            <a:normAutofit fontScale="70000" lnSpcReduction="20000"/>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Font typeface="Arial"/>
              <a:buNone/>
            </a:pPr>
            <a:r>
              <a:rPr lang="en-US" b="1" dirty="0">
                <a:solidFill>
                  <a:schemeClr val="accent1">
                    <a:lumMod val="75000"/>
                  </a:schemeClr>
                </a:solidFill>
              </a:rPr>
              <a:t>IMS Administration Tool ISPF LAB Exercise 5</a:t>
            </a:r>
            <a:endParaRPr lang="en-US" sz="3200" b="1" dirty="0">
              <a:solidFill>
                <a:schemeClr val="accent1">
                  <a:lumMod val="75000"/>
                </a:schemeClr>
              </a:solidFill>
            </a:endParaRPr>
          </a:p>
          <a:p>
            <a:pPr marL="0" indent="0">
              <a:buNone/>
            </a:pPr>
            <a:r>
              <a:rPr lang="en-US" sz="2300" b="1" dirty="0"/>
              <a:t>Key Feature:   IMS SPUFI – IMS DML SQL</a:t>
            </a:r>
          </a:p>
          <a:p>
            <a:pPr marL="0" indent="0">
              <a:buFont typeface="Arial"/>
              <a:buNone/>
            </a:pPr>
            <a:r>
              <a:rPr lang="en-US" sz="2300" b="1" dirty="0"/>
              <a:t>Description:    </a:t>
            </a:r>
            <a:r>
              <a:rPr lang="en-US" sz="2300" dirty="0"/>
              <a:t>This is an example to see all IMS DBD names and associated </a:t>
            </a:r>
            <a:r>
              <a:rPr lang="en-US" sz="2300" dirty="0" err="1"/>
              <a:t>DDnames</a:t>
            </a:r>
            <a:r>
              <a:rPr lang="en-US" sz="2300" dirty="0"/>
              <a:t> stored in the IMS Catalog using SQL keywords supported by Java JBP.        </a:t>
            </a:r>
          </a:p>
          <a:p>
            <a:pPr marL="0" indent="0">
              <a:buNone/>
            </a:pPr>
            <a:r>
              <a:rPr lang="en-US" sz="2300" b="1" dirty="0"/>
              <a:t>Instructions:   </a:t>
            </a:r>
            <a:r>
              <a:rPr lang="en-US" sz="2300" dirty="0"/>
              <a:t>Specify the highlighted SQL statement: </a:t>
            </a:r>
          </a:p>
          <a:p>
            <a:pPr marL="0" indent="0" defTabSz="1139825">
              <a:buNone/>
            </a:pPr>
            <a:r>
              <a:rPr lang="en-US" sz="2000" dirty="0">
                <a:highlight>
                  <a:srgbClr val="FFFF00"/>
                </a:highlight>
                <a:ea typeface="Calibri" panose="020F0502020204030204" pitchFamily="34" charset="0"/>
                <a:cs typeface="Calibri" panose="020F0502020204030204" pitchFamily="34" charset="0"/>
              </a:rPr>
              <a:t>SELECT DISTINCT HEADER_RHDRSEQ,DD1 FROM DFSCAT00.DBD INNER JOIN</a:t>
            </a:r>
            <a:r>
              <a:rPr lang="en-US" sz="2300" dirty="0">
                <a:highlight>
                  <a:srgbClr val="FFFF00"/>
                </a:highlight>
                <a:ea typeface="Calibri" panose="020F0502020204030204" pitchFamily="34" charset="0"/>
                <a:cs typeface="Calibri" panose="020F0502020204030204" pitchFamily="34" charset="0"/>
              </a:rPr>
              <a:t> </a:t>
            </a:r>
            <a:r>
              <a:rPr lang="en-US" sz="2300" dirty="0">
                <a:highlight>
                  <a:srgbClr val="FFFF00"/>
                </a:highlight>
              </a:rPr>
              <a:t> DFSCAT00.AREA ON DBD.DBDSEQ=AREA.DBD_DBDSEQ; </a:t>
            </a:r>
          </a:p>
          <a:p>
            <a:pPr marL="0" indent="0" defTabSz="1200150">
              <a:buNone/>
            </a:pPr>
            <a:r>
              <a:rPr lang="en-US" sz="2300" dirty="0"/>
              <a:t>	Then Type </a:t>
            </a:r>
            <a:r>
              <a:rPr lang="en-US" sz="2300" dirty="0">
                <a:highlight>
                  <a:srgbClr val="FFFF00"/>
                </a:highlight>
              </a:rPr>
              <a:t>EXECSQL</a:t>
            </a:r>
            <a:r>
              <a:rPr lang="en-US" sz="2300" dirty="0"/>
              <a:t> on the command line and Press Enter.  You will be presented with a list of DBDs/DDNs to view.</a:t>
            </a:r>
            <a:endParaRPr lang="en-US" sz="2000" i="1" dirty="0"/>
          </a:p>
        </p:txBody>
      </p:sp>
      <p:cxnSp>
        <p:nvCxnSpPr>
          <p:cNvPr id="9" name="Straight Arrow Connector 8">
            <a:extLst>
              <a:ext uri="{FF2B5EF4-FFF2-40B4-BE49-F238E27FC236}">
                <a16:creationId xmlns:a16="http://schemas.microsoft.com/office/drawing/2014/main" id="{16E96AAC-F946-428C-9B2B-96E182DA89C2}"/>
              </a:ext>
            </a:extLst>
          </p:cNvPr>
          <p:cNvCxnSpPr>
            <a:cxnSpLocks/>
          </p:cNvCxnSpPr>
          <p:nvPr/>
        </p:nvCxnSpPr>
        <p:spPr>
          <a:xfrm>
            <a:off x="1552168" y="2687008"/>
            <a:ext cx="414528"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43D33E4E-79BC-44BB-B2CE-A5E4244D7FD9}"/>
              </a:ext>
            </a:extLst>
          </p:cNvPr>
          <p:cNvCxnSpPr>
            <a:cxnSpLocks/>
          </p:cNvCxnSpPr>
          <p:nvPr/>
        </p:nvCxnSpPr>
        <p:spPr>
          <a:xfrm>
            <a:off x="1569188" y="6144302"/>
            <a:ext cx="414528"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pic>
        <p:nvPicPr>
          <p:cNvPr id="3" name="Picture 2">
            <a:extLst>
              <a:ext uri="{FF2B5EF4-FFF2-40B4-BE49-F238E27FC236}">
                <a16:creationId xmlns:a16="http://schemas.microsoft.com/office/drawing/2014/main" id="{762D1512-0347-1E42-2E9C-1F47DF58CFC8}"/>
              </a:ext>
            </a:extLst>
          </p:cNvPr>
          <p:cNvPicPr>
            <a:picLocks noChangeAspect="1"/>
          </p:cNvPicPr>
          <p:nvPr/>
        </p:nvPicPr>
        <p:blipFill>
          <a:blip r:embed="rId2"/>
          <a:stretch>
            <a:fillRect/>
          </a:stretch>
        </p:blipFill>
        <p:spPr>
          <a:xfrm>
            <a:off x="2012110" y="2369573"/>
            <a:ext cx="8167779" cy="4143192"/>
          </a:xfrm>
          <a:prstGeom prst="rect">
            <a:avLst/>
          </a:prstGeom>
          <a:effectLst>
            <a:glow rad="63500">
              <a:schemeClr val="accent3">
                <a:satMod val="175000"/>
                <a:alpha val="40000"/>
              </a:schemeClr>
            </a:glow>
          </a:effectLst>
        </p:spPr>
      </p:pic>
      <p:sp>
        <p:nvSpPr>
          <p:cNvPr id="2" name="Slide Number Placeholder 1">
            <a:extLst>
              <a:ext uri="{FF2B5EF4-FFF2-40B4-BE49-F238E27FC236}">
                <a16:creationId xmlns:a16="http://schemas.microsoft.com/office/drawing/2014/main" id="{571C8804-511D-7772-FB2B-B9C16159A850}"/>
              </a:ext>
            </a:extLst>
          </p:cNvPr>
          <p:cNvSpPr>
            <a:spLocks noGrp="1"/>
          </p:cNvSpPr>
          <p:nvPr>
            <p:ph type="sldNum" sz="quarter" idx="12"/>
          </p:nvPr>
        </p:nvSpPr>
        <p:spPr/>
        <p:txBody>
          <a:bodyPr/>
          <a:lstStyle/>
          <a:p>
            <a:fld id="{1C788548-AC4B-4945-A4F1-BA86477A7FC8}" type="slidenum">
              <a:rPr lang="en-US" smtClean="0"/>
              <a:t>65</a:t>
            </a:fld>
            <a:endParaRPr lang="en-US"/>
          </a:p>
        </p:txBody>
      </p:sp>
    </p:spTree>
    <p:extLst>
      <p:ext uri="{BB962C8B-B14F-4D97-AF65-F5344CB8AC3E}">
        <p14:creationId xmlns:p14="http://schemas.microsoft.com/office/powerpoint/2010/main" val="49408485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47E08336-71AB-44BF-9E1A-7442CE355F86}"/>
              </a:ext>
            </a:extLst>
          </p:cNvPr>
          <p:cNvSpPr txBox="1"/>
          <p:nvPr/>
        </p:nvSpPr>
        <p:spPr>
          <a:xfrm>
            <a:off x="1670304" y="1560192"/>
            <a:ext cx="8753856" cy="3067635"/>
          </a:xfrm>
          <a:prstGeom prst="rect">
            <a:avLst/>
          </a:prstGeom>
          <a:solidFill>
            <a:schemeClr val="bg2"/>
          </a:solidFill>
          <a:ln w="57150">
            <a:solidFill>
              <a:srgbClr val="0070C0"/>
            </a:solidFill>
          </a:ln>
        </p:spPr>
        <p:txBody>
          <a:bodyPr wrap="square" rtlCol="0">
            <a:spAutoFit/>
          </a:bodyPr>
          <a:lstStyle/>
          <a:p>
            <a:pPr algn="ctr"/>
            <a:endParaRPr lang="en-US" sz="4267" dirty="0"/>
          </a:p>
          <a:p>
            <a:pPr algn="ctr"/>
            <a:r>
              <a:rPr lang="en-US" sz="5400" b="1" dirty="0"/>
              <a:t>IMS COMMAND PROCESSOR</a:t>
            </a:r>
          </a:p>
          <a:p>
            <a:pPr algn="ctr"/>
            <a:r>
              <a:rPr lang="en-US" sz="5400" dirty="0">
                <a:solidFill>
                  <a:schemeClr val="accent1"/>
                </a:solidFill>
              </a:rPr>
              <a:t>Exercise 6 </a:t>
            </a:r>
          </a:p>
          <a:p>
            <a:pPr algn="ctr"/>
            <a:endParaRPr lang="en-US" sz="4267" dirty="0"/>
          </a:p>
        </p:txBody>
      </p:sp>
      <p:sp>
        <p:nvSpPr>
          <p:cNvPr id="2" name="Slide Number Placeholder 1">
            <a:extLst>
              <a:ext uri="{FF2B5EF4-FFF2-40B4-BE49-F238E27FC236}">
                <a16:creationId xmlns:a16="http://schemas.microsoft.com/office/drawing/2014/main" id="{D5BD1E08-BA7B-A794-CAEB-1F42026849A6}"/>
              </a:ext>
            </a:extLst>
          </p:cNvPr>
          <p:cNvSpPr>
            <a:spLocks noGrp="1"/>
          </p:cNvSpPr>
          <p:nvPr>
            <p:ph type="sldNum" sz="quarter" idx="12"/>
          </p:nvPr>
        </p:nvSpPr>
        <p:spPr/>
        <p:txBody>
          <a:bodyPr/>
          <a:lstStyle/>
          <a:p>
            <a:fld id="{1C788548-AC4B-4945-A4F1-BA86477A7FC8}" type="slidenum">
              <a:rPr lang="en-US" smtClean="0"/>
              <a:t>66</a:t>
            </a:fld>
            <a:endParaRPr lang="en-US"/>
          </a:p>
        </p:txBody>
      </p:sp>
    </p:spTree>
    <p:extLst>
      <p:ext uri="{BB962C8B-B14F-4D97-AF65-F5344CB8AC3E}">
        <p14:creationId xmlns:p14="http://schemas.microsoft.com/office/powerpoint/2010/main" val="231903779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116">
        <p159:morph option="byObject"/>
      </p:transition>
    </mc:Choice>
    <mc:Fallback xmlns="">
      <p:transition spd="slow" advTm="116">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mph" presetSubtype="0" fill="hold" nodeType="clickEffect">
                                  <p:stCondLst>
                                    <p:cond delay="0"/>
                                  </p:stCondLst>
                                  <p:iterate type="lt">
                                    <p:tmPct val="4000"/>
                                  </p:iterate>
                                  <p:childTnLst>
                                    <p:set>
                                      <p:cBhvr override="childStyle">
                                        <p:cTn id="6" dur="500" fill="hold"/>
                                        <p:tgtEl>
                                          <p:spTgt spid="9">
                                            <p:txEl>
                                              <p:pRg st="1" end="1"/>
                                            </p:txEl>
                                          </p:spTgt>
                                        </p:tgtEl>
                                        <p:attrNameLst>
                                          <p:attrName>style.color</p:attrName>
                                        </p:attrNameLst>
                                      </p:cBhvr>
                                      <p:to>
                                        <p:clrVal>
                                          <a:srgbClr val="FFC000"/>
                                        </p:clrVal>
                                      </p:to>
                                    </p:set>
                                    <p:set>
                                      <p:cBhvr>
                                        <p:cTn id="7" dur="500" fill="hold"/>
                                        <p:tgtEl>
                                          <p:spTgt spid="9">
                                            <p:txEl>
                                              <p:pRg st="1" end="1"/>
                                            </p:txEl>
                                          </p:spTgt>
                                        </p:tgtEl>
                                        <p:attrNameLst>
                                          <p:attrName>fillcolor</p:attrName>
                                        </p:attrNameLst>
                                      </p:cBhvr>
                                      <p:to>
                                        <p:clrVal>
                                          <a:srgbClr val="FFC000"/>
                                        </p:clrVal>
                                      </p:to>
                                    </p:set>
                                    <p:set>
                                      <p:cBhvr>
                                        <p:cTn id="8" dur="500" fill="hold"/>
                                        <p:tgtEl>
                                          <p:spTgt spid="9">
                                            <p:txEl>
                                              <p:pRg st="1" end="1"/>
                                            </p:txEl>
                                          </p:spTgt>
                                        </p:tgtEl>
                                        <p:attrNameLst>
                                          <p:attrName>fill.type</p:attrName>
                                        </p:attrNameLst>
                                      </p:cBhvr>
                                      <p:to>
                                        <p:strVal val="solid"/>
                                      </p:to>
                                    </p:set>
                                  </p:childTnLst>
                                </p:cTn>
                              </p:par>
                            </p:childTnLst>
                          </p:cTn>
                        </p:par>
                      </p:childTnLst>
                    </p:cTn>
                  </p:par>
                  <p:par>
                    <p:cTn id="9" fill="hold">
                      <p:stCondLst>
                        <p:cond delay="indefinite"/>
                      </p:stCondLst>
                      <p:childTnLst>
                        <p:par>
                          <p:cTn id="10" fill="hold">
                            <p:stCondLst>
                              <p:cond delay="0"/>
                            </p:stCondLst>
                            <p:childTnLst>
                              <p:par>
                                <p:cTn id="11" presetID="16" presetClass="emph" presetSubtype="0" fill="hold" nodeType="clickEffect">
                                  <p:stCondLst>
                                    <p:cond delay="0"/>
                                  </p:stCondLst>
                                  <p:iterate type="lt">
                                    <p:tmPct val="4000"/>
                                  </p:iterate>
                                  <p:childTnLst>
                                    <p:set>
                                      <p:cBhvr override="childStyle">
                                        <p:cTn id="12" dur="500" fill="hold"/>
                                        <p:tgtEl>
                                          <p:spTgt spid="9">
                                            <p:txEl>
                                              <p:pRg st="2" end="2"/>
                                            </p:txEl>
                                          </p:spTgt>
                                        </p:tgtEl>
                                        <p:attrNameLst>
                                          <p:attrName>style.color</p:attrName>
                                        </p:attrNameLst>
                                      </p:cBhvr>
                                      <p:to>
                                        <p:clrVal>
                                          <a:srgbClr val="FFC000"/>
                                        </p:clrVal>
                                      </p:to>
                                    </p:set>
                                    <p:set>
                                      <p:cBhvr>
                                        <p:cTn id="13" dur="500" fill="hold"/>
                                        <p:tgtEl>
                                          <p:spTgt spid="9">
                                            <p:txEl>
                                              <p:pRg st="2" end="2"/>
                                            </p:txEl>
                                          </p:spTgt>
                                        </p:tgtEl>
                                        <p:attrNameLst>
                                          <p:attrName>fillcolor</p:attrName>
                                        </p:attrNameLst>
                                      </p:cBhvr>
                                      <p:to>
                                        <p:clrVal>
                                          <a:srgbClr val="FFC000"/>
                                        </p:clrVal>
                                      </p:to>
                                    </p:set>
                                    <p:set>
                                      <p:cBhvr>
                                        <p:cTn id="14" dur="500" fill="hold"/>
                                        <p:tgtEl>
                                          <p:spTgt spid="9">
                                            <p:txEl>
                                              <p:pRg st="2" end="2"/>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4548203-4A86-9C76-8084-44151C2F5B83}"/>
              </a:ext>
            </a:extLst>
          </p:cNvPr>
          <p:cNvPicPr>
            <a:picLocks noChangeAspect="1"/>
          </p:cNvPicPr>
          <p:nvPr/>
        </p:nvPicPr>
        <p:blipFill>
          <a:blip r:embed="rId2"/>
          <a:stretch>
            <a:fillRect/>
          </a:stretch>
        </p:blipFill>
        <p:spPr>
          <a:xfrm>
            <a:off x="1003434" y="1950234"/>
            <a:ext cx="9831172" cy="3429479"/>
          </a:xfrm>
          <a:prstGeom prst="rect">
            <a:avLst/>
          </a:prstGeom>
          <a:effectLst>
            <a:glow rad="63500">
              <a:schemeClr val="accent3">
                <a:satMod val="175000"/>
                <a:alpha val="40000"/>
              </a:schemeClr>
            </a:glow>
          </a:effectLst>
        </p:spPr>
      </p:pic>
      <p:sp>
        <p:nvSpPr>
          <p:cNvPr id="3" name="Subtitle 2">
            <a:extLst>
              <a:ext uri="{FF2B5EF4-FFF2-40B4-BE49-F238E27FC236}">
                <a16:creationId xmlns:a16="http://schemas.microsoft.com/office/drawing/2014/main" id="{5DD04D75-5580-4918-ACD6-01E26F36A2CB}"/>
              </a:ext>
            </a:extLst>
          </p:cNvPr>
          <p:cNvSpPr>
            <a:spLocks noGrp="1"/>
          </p:cNvSpPr>
          <p:nvPr>
            <p:ph type="subTitle" idx="4294967295"/>
          </p:nvPr>
        </p:nvSpPr>
        <p:spPr>
          <a:xfrm>
            <a:off x="760222" y="151957"/>
            <a:ext cx="11931650" cy="1615884"/>
          </a:xfrm>
          <a:prstGeom prst="rect">
            <a:avLst/>
          </a:prstGeom>
        </p:spPr>
        <p:txBody>
          <a:bodyPr>
            <a:normAutofit lnSpcReduction="10000"/>
          </a:bodyPr>
          <a:lstStyle/>
          <a:p>
            <a:pPr marL="0" indent="0" algn="l">
              <a:buNone/>
            </a:pPr>
            <a:r>
              <a:rPr lang="en-US" b="1" dirty="0">
                <a:solidFill>
                  <a:schemeClr val="accent1">
                    <a:lumMod val="75000"/>
                  </a:schemeClr>
                </a:solidFill>
              </a:rPr>
              <a:t>IMS Administration Tool ISPF LAB Exercise 6</a:t>
            </a:r>
          </a:p>
          <a:p>
            <a:pPr marL="0" indent="0" algn="l">
              <a:buNone/>
            </a:pPr>
            <a:r>
              <a:rPr lang="en-US" sz="2000" b="1" dirty="0"/>
              <a:t>Key Feature:   IMS Command Processor    </a:t>
            </a:r>
          </a:p>
          <a:p>
            <a:pPr marL="0" indent="0" algn="l">
              <a:buNone/>
            </a:pPr>
            <a:r>
              <a:rPr lang="en-US" sz="2000" b="1" dirty="0"/>
              <a:t>Description:    </a:t>
            </a:r>
            <a:r>
              <a:rPr lang="en-US" sz="2000" dirty="0"/>
              <a:t>The IMS Command Processor allows you to issue Type-1 and Type-2 IMS Commands.       </a:t>
            </a:r>
          </a:p>
          <a:p>
            <a:pPr marL="0" indent="0" algn="l">
              <a:buNone/>
            </a:pPr>
            <a:r>
              <a:rPr lang="en-US" sz="2000" b="1" dirty="0"/>
              <a:t>Instructions:    </a:t>
            </a:r>
            <a:r>
              <a:rPr lang="en-US" sz="2000" dirty="0"/>
              <a:t>Select Option “</a:t>
            </a:r>
            <a:r>
              <a:rPr lang="en-US" sz="2000" dirty="0">
                <a:highlight>
                  <a:srgbClr val="FFFF00"/>
                </a:highlight>
              </a:rPr>
              <a:t>5</a:t>
            </a:r>
            <a:r>
              <a:rPr lang="en-US" sz="2000" dirty="0"/>
              <a:t>” (“IMS Command Processor).  </a:t>
            </a:r>
            <a:r>
              <a:rPr lang="en-US" sz="2000" dirty="0">
                <a:highlight>
                  <a:srgbClr val="FFFF00"/>
                </a:highlight>
              </a:rPr>
              <a:t> </a:t>
            </a:r>
            <a:endParaRPr lang="en-US" sz="2000" i="1" dirty="0">
              <a:highlight>
                <a:srgbClr val="FFFF00"/>
              </a:highlight>
            </a:endParaRPr>
          </a:p>
        </p:txBody>
      </p:sp>
      <p:cxnSp>
        <p:nvCxnSpPr>
          <p:cNvPr id="7" name="Straight Arrow Connector 6">
            <a:extLst>
              <a:ext uri="{FF2B5EF4-FFF2-40B4-BE49-F238E27FC236}">
                <a16:creationId xmlns:a16="http://schemas.microsoft.com/office/drawing/2014/main" id="{8A3F73F0-E537-4117-ABB5-5990D327A1AE}"/>
              </a:ext>
            </a:extLst>
          </p:cNvPr>
          <p:cNvCxnSpPr>
            <a:cxnSpLocks/>
          </p:cNvCxnSpPr>
          <p:nvPr/>
        </p:nvCxnSpPr>
        <p:spPr>
          <a:xfrm>
            <a:off x="552958" y="2326015"/>
            <a:ext cx="414528"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2" name="Slide Number Placeholder 1">
            <a:extLst>
              <a:ext uri="{FF2B5EF4-FFF2-40B4-BE49-F238E27FC236}">
                <a16:creationId xmlns:a16="http://schemas.microsoft.com/office/drawing/2014/main" id="{B339EA2F-A714-E94C-4919-9BB37EA40F34}"/>
              </a:ext>
            </a:extLst>
          </p:cNvPr>
          <p:cNvSpPr>
            <a:spLocks noGrp="1"/>
          </p:cNvSpPr>
          <p:nvPr>
            <p:ph type="sldNum" sz="quarter" idx="12"/>
          </p:nvPr>
        </p:nvSpPr>
        <p:spPr/>
        <p:txBody>
          <a:bodyPr/>
          <a:lstStyle/>
          <a:p>
            <a:fld id="{1C788548-AC4B-4945-A4F1-BA86477A7FC8}" type="slidenum">
              <a:rPr lang="en-US" smtClean="0"/>
              <a:t>67</a:t>
            </a:fld>
            <a:endParaRPr lang="en-US"/>
          </a:p>
        </p:txBody>
      </p:sp>
    </p:spTree>
    <p:extLst>
      <p:ext uri="{BB962C8B-B14F-4D97-AF65-F5344CB8AC3E}">
        <p14:creationId xmlns:p14="http://schemas.microsoft.com/office/powerpoint/2010/main" val="245959683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47E08336-71AB-44BF-9E1A-7442CE355F86}"/>
              </a:ext>
            </a:extLst>
          </p:cNvPr>
          <p:cNvSpPr txBox="1"/>
          <p:nvPr/>
        </p:nvSpPr>
        <p:spPr>
          <a:xfrm>
            <a:off x="1170432" y="1023744"/>
            <a:ext cx="9777984" cy="3898631"/>
          </a:xfrm>
          <a:prstGeom prst="rect">
            <a:avLst/>
          </a:prstGeom>
          <a:solidFill>
            <a:schemeClr val="bg2"/>
          </a:solidFill>
          <a:ln w="57150">
            <a:solidFill>
              <a:srgbClr val="0070C0"/>
            </a:solidFill>
          </a:ln>
        </p:spPr>
        <p:txBody>
          <a:bodyPr wrap="square" rtlCol="0">
            <a:spAutoFit/>
          </a:bodyPr>
          <a:lstStyle/>
          <a:p>
            <a:pPr algn="ctr"/>
            <a:endParaRPr lang="en-US" sz="4267" dirty="0"/>
          </a:p>
          <a:p>
            <a:pPr algn="ctr"/>
            <a:r>
              <a:rPr lang="en-US" sz="5400" b="1" dirty="0"/>
              <a:t>IMS COMMAND PROCESSOR</a:t>
            </a:r>
          </a:p>
          <a:p>
            <a:pPr algn="ctr"/>
            <a:r>
              <a:rPr lang="en-US" sz="5400" dirty="0"/>
              <a:t>Specify Global/Job Options (optional)</a:t>
            </a:r>
          </a:p>
          <a:p>
            <a:pPr algn="ctr"/>
            <a:endParaRPr lang="en-US" sz="4267" dirty="0"/>
          </a:p>
        </p:txBody>
      </p:sp>
      <p:sp>
        <p:nvSpPr>
          <p:cNvPr id="2" name="Slide Number Placeholder 1">
            <a:extLst>
              <a:ext uri="{FF2B5EF4-FFF2-40B4-BE49-F238E27FC236}">
                <a16:creationId xmlns:a16="http://schemas.microsoft.com/office/drawing/2014/main" id="{6E1CEA2F-6C91-9F18-A25F-C333AD028D97}"/>
              </a:ext>
            </a:extLst>
          </p:cNvPr>
          <p:cNvSpPr>
            <a:spLocks noGrp="1"/>
          </p:cNvSpPr>
          <p:nvPr>
            <p:ph type="sldNum" sz="quarter" idx="12"/>
          </p:nvPr>
        </p:nvSpPr>
        <p:spPr/>
        <p:txBody>
          <a:bodyPr/>
          <a:lstStyle/>
          <a:p>
            <a:fld id="{1C788548-AC4B-4945-A4F1-BA86477A7FC8}" type="slidenum">
              <a:rPr lang="en-US" smtClean="0"/>
              <a:t>68</a:t>
            </a:fld>
            <a:endParaRPr lang="en-US"/>
          </a:p>
        </p:txBody>
      </p:sp>
    </p:spTree>
    <p:extLst>
      <p:ext uri="{BB962C8B-B14F-4D97-AF65-F5344CB8AC3E}">
        <p14:creationId xmlns:p14="http://schemas.microsoft.com/office/powerpoint/2010/main" val="214703890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116">
        <p159:morph option="byObject"/>
      </p:transition>
    </mc:Choice>
    <mc:Fallback xmlns="">
      <p:transition spd="slow" advTm="116">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mph" presetSubtype="0" fill="hold" nodeType="clickEffect">
                                  <p:stCondLst>
                                    <p:cond delay="0"/>
                                  </p:stCondLst>
                                  <p:iterate type="lt">
                                    <p:tmPct val="4000"/>
                                  </p:iterate>
                                  <p:childTnLst>
                                    <p:set>
                                      <p:cBhvr override="childStyle">
                                        <p:cTn id="6" dur="500" fill="hold"/>
                                        <p:tgtEl>
                                          <p:spTgt spid="9">
                                            <p:txEl>
                                              <p:pRg st="1" end="1"/>
                                            </p:txEl>
                                          </p:spTgt>
                                        </p:tgtEl>
                                        <p:attrNameLst>
                                          <p:attrName>style.color</p:attrName>
                                        </p:attrNameLst>
                                      </p:cBhvr>
                                      <p:to>
                                        <p:clrVal>
                                          <a:srgbClr val="FFC000"/>
                                        </p:clrVal>
                                      </p:to>
                                    </p:set>
                                    <p:set>
                                      <p:cBhvr>
                                        <p:cTn id="7" dur="500" fill="hold"/>
                                        <p:tgtEl>
                                          <p:spTgt spid="9">
                                            <p:txEl>
                                              <p:pRg st="1" end="1"/>
                                            </p:txEl>
                                          </p:spTgt>
                                        </p:tgtEl>
                                        <p:attrNameLst>
                                          <p:attrName>fillcolor</p:attrName>
                                        </p:attrNameLst>
                                      </p:cBhvr>
                                      <p:to>
                                        <p:clrVal>
                                          <a:srgbClr val="FFC000"/>
                                        </p:clrVal>
                                      </p:to>
                                    </p:set>
                                    <p:set>
                                      <p:cBhvr>
                                        <p:cTn id="8" dur="500" fill="hold"/>
                                        <p:tgtEl>
                                          <p:spTgt spid="9">
                                            <p:txEl>
                                              <p:pRg st="1" end="1"/>
                                            </p:txEl>
                                          </p:spTgt>
                                        </p:tgtEl>
                                        <p:attrNameLst>
                                          <p:attrName>fill.type</p:attrName>
                                        </p:attrNameLst>
                                      </p:cBhvr>
                                      <p:to>
                                        <p:strVal val="solid"/>
                                      </p:to>
                                    </p:set>
                                  </p:childTnLst>
                                </p:cTn>
                              </p:par>
                            </p:childTnLst>
                          </p:cTn>
                        </p:par>
                      </p:childTnLst>
                    </p:cTn>
                  </p:par>
                  <p:par>
                    <p:cTn id="9" fill="hold">
                      <p:stCondLst>
                        <p:cond delay="indefinite"/>
                      </p:stCondLst>
                      <p:childTnLst>
                        <p:par>
                          <p:cTn id="10" fill="hold">
                            <p:stCondLst>
                              <p:cond delay="0"/>
                            </p:stCondLst>
                            <p:childTnLst>
                              <p:par>
                                <p:cTn id="11" presetID="16" presetClass="emph" presetSubtype="0" fill="hold" nodeType="clickEffect">
                                  <p:stCondLst>
                                    <p:cond delay="0"/>
                                  </p:stCondLst>
                                  <p:iterate type="lt">
                                    <p:tmPct val="4000"/>
                                  </p:iterate>
                                  <p:childTnLst>
                                    <p:set>
                                      <p:cBhvr override="childStyle">
                                        <p:cTn id="12" dur="500" fill="hold"/>
                                        <p:tgtEl>
                                          <p:spTgt spid="9">
                                            <p:txEl>
                                              <p:pRg st="2" end="2"/>
                                            </p:txEl>
                                          </p:spTgt>
                                        </p:tgtEl>
                                        <p:attrNameLst>
                                          <p:attrName>style.color</p:attrName>
                                        </p:attrNameLst>
                                      </p:cBhvr>
                                      <p:to>
                                        <p:clrVal>
                                          <a:srgbClr val="FFC000"/>
                                        </p:clrVal>
                                      </p:to>
                                    </p:set>
                                    <p:set>
                                      <p:cBhvr>
                                        <p:cTn id="13" dur="500" fill="hold"/>
                                        <p:tgtEl>
                                          <p:spTgt spid="9">
                                            <p:txEl>
                                              <p:pRg st="2" end="2"/>
                                            </p:txEl>
                                          </p:spTgt>
                                        </p:tgtEl>
                                        <p:attrNameLst>
                                          <p:attrName>fillcolor</p:attrName>
                                        </p:attrNameLst>
                                      </p:cBhvr>
                                      <p:to>
                                        <p:clrVal>
                                          <a:srgbClr val="FFC000"/>
                                        </p:clrVal>
                                      </p:to>
                                    </p:set>
                                    <p:set>
                                      <p:cBhvr>
                                        <p:cTn id="14" dur="500" fill="hold"/>
                                        <p:tgtEl>
                                          <p:spTgt spid="9">
                                            <p:txEl>
                                              <p:pRg st="2" end="2"/>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D0662EE-565F-073D-E70A-CF6E74953BE0}"/>
              </a:ext>
            </a:extLst>
          </p:cNvPr>
          <p:cNvPicPr>
            <a:picLocks noChangeAspect="1"/>
          </p:cNvPicPr>
          <p:nvPr/>
        </p:nvPicPr>
        <p:blipFill>
          <a:blip r:embed="rId2"/>
          <a:stretch>
            <a:fillRect/>
          </a:stretch>
        </p:blipFill>
        <p:spPr>
          <a:xfrm>
            <a:off x="1206683" y="2587438"/>
            <a:ext cx="9348663" cy="2995554"/>
          </a:xfrm>
          <a:prstGeom prst="rect">
            <a:avLst/>
          </a:prstGeom>
          <a:effectLst>
            <a:glow rad="63500">
              <a:schemeClr val="accent3">
                <a:satMod val="175000"/>
                <a:alpha val="40000"/>
              </a:schemeClr>
            </a:glow>
          </a:effectLst>
        </p:spPr>
      </p:pic>
      <p:sp>
        <p:nvSpPr>
          <p:cNvPr id="4" name="Subtitle 2">
            <a:extLst>
              <a:ext uri="{FF2B5EF4-FFF2-40B4-BE49-F238E27FC236}">
                <a16:creationId xmlns:a16="http://schemas.microsoft.com/office/drawing/2014/main" id="{CD9FBF82-1BBF-8FB7-4D9E-5210342B6253}"/>
              </a:ext>
            </a:extLst>
          </p:cNvPr>
          <p:cNvSpPr txBox="1">
            <a:spLocks/>
          </p:cNvSpPr>
          <p:nvPr/>
        </p:nvSpPr>
        <p:spPr>
          <a:xfrm>
            <a:off x="589534" y="212916"/>
            <a:ext cx="10582963" cy="208783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b="1" dirty="0">
                <a:solidFill>
                  <a:schemeClr val="accent1">
                    <a:lumMod val="75000"/>
                  </a:schemeClr>
                </a:solidFill>
              </a:rPr>
              <a:t>IMS Administration Tool ISPF LAB Exercise 6</a:t>
            </a:r>
          </a:p>
          <a:p>
            <a:pPr marL="0" indent="0">
              <a:buFont typeface="Arial" panose="020B0604020202020204" pitchFamily="34" charset="0"/>
              <a:buNone/>
            </a:pPr>
            <a:r>
              <a:rPr lang="en-US" sz="2000" b="1" dirty="0"/>
              <a:t>Key Feature:   IMS Command Processor:  Settings    </a:t>
            </a:r>
          </a:p>
          <a:p>
            <a:pPr marL="0" indent="0">
              <a:buFont typeface="Arial" panose="020B0604020202020204" pitchFamily="34" charset="0"/>
              <a:buNone/>
            </a:pPr>
            <a:r>
              <a:rPr lang="en-US" sz="2000" b="1" dirty="0"/>
              <a:t>Description:    </a:t>
            </a:r>
            <a:r>
              <a:rPr lang="en-US" sz="2000" dirty="0"/>
              <a:t>You can set global/job options to use when executing IMS commands.       </a:t>
            </a:r>
          </a:p>
          <a:p>
            <a:pPr marL="0" indent="0">
              <a:buFont typeface="Arial" panose="020B0604020202020204" pitchFamily="34" charset="0"/>
              <a:buNone/>
            </a:pPr>
            <a:r>
              <a:rPr lang="en-US" sz="2000" b="1" dirty="0"/>
              <a:t>Instructions:   </a:t>
            </a:r>
            <a:r>
              <a:rPr lang="en-US" sz="2000" dirty="0"/>
              <a:t>Select Option “</a:t>
            </a:r>
            <a:r>
              <a:rPr lang="en-US" sz="2000" dirty="0">
                <a:highlight>
                  <a:srgbClr val="FFFF00"/>
                </a:highlight>
              </a:rPr>
              <a:t>0</a:t>
            </a:r>
            <a:r>
              <a:rPr lang="en-US" sz="2000" dirty="0"/>
              <a:t>” (Settings) to see the various global options and to see what kind options can be specified for  IMS command batch jobs supported by IMS Administration Tool.</a:t>
            </a:r>
            <a:endParaRPr lang="en-US" sz="2000" i="1" dirty="0"/>
          </a:p>
        </p:txBody>
      </p:sp>
      <p:sp>
        <p:nvSpPr>
          <p:cNvPr id="2" name="Slide Number Placeholder 1">
            <a:extLst>
              <a:ext uri="{FF2B5EF4-FFF2-40B4-BE49-F238E27FC236}">
                <a16:creationId xmlns:a16="http://schemas.microsoft.com/office/drawing/2014/main" id="{D4F4CB7D-F1BE-2364-F985-36E0C371456A}"/>
              </a:ext>
            </a:extLst>
          </p:cNvPr>
          <p:cNvSpPr>
            <a:spLocks noGrp="1"/>
          </p:cNvSpPr>
          <p:nvPr>
            <p:ph type="sldNum" sz="quarter" idx="12"/>
          </p:nvPr>
        </p:nvSpPr>
        <p:spPr/>
        <p:txBody>
          <a:bodyPr/>
          <a:lstStyle/>
          <a:p>
            <a:fld id="{1C788548-AC4B-4945-A4F1-BA86477A7FC8}" type="slidenum">
              <a:rPr lang="en-US" smtClean="0"/>
              <a:t>69</a:t>
            </a:fld>
            <a:endParaRPr lang="en-US"/>
          </a:p>
        </p:txBody>
      </p:sp>
    </p:spTree>
    <p:extLst>
      <p:ext uri="{BB962C8B-B14F-4D97-AF65-F5344CB8AC3E}">
        <p14:creationId xmlns:p14="http://schemas.microsoft.com/office/powerpoint/2010/main" val="429245167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955941-1D7C-26DC-5ABC-AA7BE33BA243}"/>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8FBFC757-043A-E251-CC52-675E54EA856A}"/>
              </a:ext>
            </a:extLst>
          </p:cNvPr>
          <p:cNvSpPr>
            <a:spLocks noGrp="1"/>
          </p:cNvSpPr>
          <p:nvPr>
            <p:ph type="subTitle" idx="4294967295"/>
          </p:nvPr>
        </p:nvSpPr>
        <p:spPr>
          <a:xfrm>
            <a:off x="589534" y="212917"/>
            <a:ext cx="11317331" cy="1567116"/>
          </a:xfrm>
          <a:prstGeom prst="rect">
            <a:avLst/>
          </a:prstGeom>
        </p:spPr>
        <p:txBody>
          <a:bodyPr>
            <a:normAutofit fontScale="77500" lnSpcReduction="20000"/>
          </a:bodyPr>
          <a:lstStyle/>
          <a:p>
            <a:pPr marL="0" indent="0" algn="l">
              <a:buNone/>
            </a:pPr>
            <a:r>
              <a:rPr lang="en-US" b="1" dirty="0">
                <a:solidFill>
                  <a:schemeClr val="accent1">
                    <a:lumMod val="75000"/>
                  </a:schemeClr>
                </a:solidFill>
              </a:rPr>
              <a:t>IMS Administration Tool ISPF LAB Exercise 6 – IMS Command Processor Global Options</a:t>
            </a:r>
          </a:p>
          <a:p>
            <a:pPr marL="0" indent="0" algn="l">
              <a:buNone/>
            </a:pPr>
            <a:r>
              <a:rPr lang="en-US" sz="2000" b="1" dirty="0"/>
              <a:t>Key Feature:   IMS Command Processor:  Global Options</a:t>
            </a:r>
          </a:p>
          <a:p>
            <a:pPr marL="0" indent="0" algn="l">
              <a:buNone/>
            </a:pPr>
            <a:r>
              <a:rPr lang="en-US" sz="2000" b="1" dirty="0"/>
              <a:t>Description:    </a:t>
            </a:r>
            <a:r>
              <a:rPr lang="en-US" sz="2000" dirty="0"/>
              <a:t>You can view and update global options to use when executing IMS commands.       </a:t>
            </a:r>
          </a:p>
          <a:p>
            <a:pPr marL="0" indent="0" algn="l">
              <a:buNone/>
            </a:pPr>
            <a:r>
              <a:rPr lang="en-US" sz="2000" b="1" dirty="0"/>
              <a:t>Instructions:   </a:t>
            </a:r>
            <a:r>
              <a:rPr lang="en-US" sz="2000" dirty="0"/>
              <a:t>Enter the line command “</a:t>
            </a:r>
            <a:r>
              <a:rPr lang="en-US" sz="2000" dirty="0">
                <a:highlight>
                  <a:srgbClr val="FFFF00"/>
                </a:highlight>
              </a:rPr>
              <a:t>V</a:t>
            </a:r>
            <a:r>
              <a:rPr lang="en-US" sz="2000" dirty="0"/>
              <a:t>” (View) to see the various global options that are available.  </a:t>
            </a:r>
          </a:p>
          <a:p>
            <a:pPr marL="0" indent="0" algn="l">
              <a:buNone/>
            </a:pPr>
            <a:r>
              <a:rPr lang="en-US" sz="2000" dirty="0"/>
              <a:t>	      Enter the line command "</a:t>
            </a:r>
            <a:r>
              <a:rPr lang="en-US" sz="2000" dirty="0">
                <a:highlight>
                  <a:srgbClr val="FFFF00"/>
                </a:highlight>
              </a:rPr>
              <a:t>U</a:t>
            </a:r>
            <a:r>
              <a:rPr lang="en-US" sz="2000" dirty="0"/>
              <a:t>" (Update) to update some global options. (Note: Only the </a:t>
            </a:r>
            <a:r>
              <a:rPr lang="en-US" sz="2000" dirty="0" err="1"/>
              <a:t>userid</a:t>
            </a:r>
            <a:r>
              <a:rPr lang="en-US" sz="2000" dirty="0"/>
              <a:t> DMID00 has this privilege.) </a:t>
            </a:r>
            <a:endParaRPr lang="en-US" sz="2000" i="1" dirty="0"/>
          </a:p>
        </p:txBody>
      </p:sp>
      <p:pic>
        <p:nvPicPr>
          <p:cNvPr id="4" name="Picture 3">
            <a:extLst>
              <a:ext uri="{FF2B5EF4-FFF2-40B4-BE49-F238E27FC236}">
                <a16:creationId xmlns:a16="http://schemas.microsoft.com/office/drawing/2014/main" id="{2E0E8C55-F1B7-4679-EE64-F20B75E12822}"/>
              </a:ext>
            </a:extLst>
          </p:cNvPr>
          <p:cNvPicPr>
            <a:picLocks noChangeAspect="1"/>
          </p:cNvPicPr>
          <p:nvPr/>
        </p:nvPicPr>
        <p:blipFill>
          <a:blip r:embed="rId2"/>
          <a:stretch>
            <a:fillRect/>
          </a:stretch>
        </p:blipFill>
        <p:spPr>
          <a:xfrm>
            <a:off x="644288" y="1873351"/>
            <a:ext cx="5412384" cy="1582323"/>
          </a:xfrm>
          <a:prstGeom prst="rect">
            <a:avLst/>
          </a:prstGeom>
          <a:effectLst>
            <a:glow rad="63500">
              <a:schemeClr val="accent3">
                <a:satMod val="175000"/>
                <a:alpha val="40000"/>
              </a:schemeClr>
            </a:glow>
          </a:effectLst>
        </p:spPr>
      </p:pic>
      <p:pic>
        <p:nvPicPr>
          <p:cNvPr id="8" name="Picture 7">
            <a:extLst>
              <a:ext uri="{FF2B5EF4-FFF2-40B4-BE49-F238E27FC236}">
                <a16:creationId xmlns:a16="http://schemas.microsoft.com/office/drawing/2014/main" id="{ECBEC85C-0EA7-7E4A-646A-0D2D42832F49}"/>
              </a:ext>
            </a:extLst>
          </p:cNvPr>
          <p:cNvPicPr>
            <a:picLocks noChangeAspect="1"/>
          </p:cNvPicPr>
          <p:nvPr/>
        </p:nvPicPr>
        <p:blipFill>
          <a:blip r:embed="rId3"/>
          <a:stretch>
            <a:fillRect/>
          </a:stretch>
        </p:blipFill>
        <p:spPr>
          <a:xfrm>
            <a:off x="2287533" y="2639573"/>
            <a:ext cx="5396665" cy="3463297"/>
          </a:xfrm>
          <a:prstGeom prst="rect">
            <a:avLst/>
          </a:prstGeom>
          <a:effectLst>
            <a:glow rad="63500">
              <a:schemeClr val="accent3">
                <a:satMod val="175000"/>
                <a:alpha val="40000"/>
              </a:schemeClr>
            </a:glow>
          </a:effectLst>
        </p:spPr>
      </p:pic>
      <p:pic>
        <p:nvPicPr>
          <p:cNvPr id="11" name="Picture 10">
            <a:extLst>
              <a:ext uri="{FF2B5EF4-FFF2-40B4-BE49-F238E27FC236}">
                <a16:creationId xmlns:a16="http://schemas.microsoft.com/office/drawing/2014/main" id="{F06922F5-88E6-2277-86B4-95E135DD20C2}"/>
              </a:ext>
            </a:extLst>
          </p:cNvPr>
          <p:cNvPicPr>
            <a:picLocks noChangeAspect="1"/>
          </p:cNvPicPr>
          <p:nvPr/>
        </p:nvPicPr>
        <p:blipFill>
          <a:blip r:embed="rId4"/>
          <a:stretch>
            <a:fillRect/>
          </a:stretch>
        </p:blipFill>
        <p:spPr>
          <a:xfrm>
            <a:off x="6621251" y="3267826"/>
            <a:ext cx="5412384" cy="3484255"/>
          </a:xfrm>
          <a:prstGeom prst="rect">
            <a:avLst/>
          </a:prstGeom>
          <a:effectLst>
            <a:glow rad="63500">
              <a:schemeClr val="accent3">
                <a:satMod val="175000"/>
                <a:alpha val="40000"/>
              </a:schemeClr>
            </a:glow>
          </a:effectLst>
        </p:spPr>
      </p:pic>
      <p:cxnSp>
        <p:nvCxnSpPr>
          <p:cNvPr id="9" name="Straight Arrow Connector 8">
            <a:extLst>
              <a:ext uri="{FF2B5EF4-FFF2-40B4-BE49-F238E27FC236}">
                <a16:creationId xmlns:a16="http://schemas.microsoft.com/office/drawing/2014/main" id="{7E3CC763-791D-775D-F149-2ED231EE9275}"/>
              </a:ext>
            </a:extLst>
          </p:cNvPr>
          <p:cNvCxnSpPr>
            <a:cxnSpLocks/>
          </p:cNvCxnSpPr>
          <p:nvPr/>
        </p:nvCxnSpPr>
        <p:spPr>
          <a:xfrm>
            <a:off x="226979" y="3142643"/>
            <a:ext cx="414528"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12B77F89-30AF-ACE7-F9D3-3446C678024F}"/>
              </a:ext>
            </a:extLst>
          </p:cNvPr>
          <p:cNvSpPr txBox="1"/>
          <p:nvPr/>
        </p:nvSpPr>
        <p:spPr>
          <a:xfrm>
            <a:off x="8087982" y="2076372"/>
            <a:ext cx="3019096" cy="523220"/>
          </a:xfrm>
          <a:prstGeom prst="rect">
            <a:avLst/>
          </a:prstGeom>
          <a:noFill/>
        </p:spPr>
        <p:txBody>
          <a:bodyPr wrap="none" rtlCol="0">
            <a:spAutoFit/>
          </a:bodyPr>
          <a:lstStyle/>
          <a:p>
            <a:pPr marL="174625" indent="-174625">
              <a:buFont typeface="Arial" panose="020B0604020202020204" pitchFamily="34" charset="0"/>
              <a:buChar char="•"/>
            </a:pPr>
            <a:r>
              <a:rPr lang="en-US" sz="1400" dirty="0"/>
              <a:t>Use PF7 and PF8 to scroll the page.</a:t>
            </a:r>
          </a:p>
          <a:p>
            <a:pPr marL="174625" indent="-174625">
              <a:buFont typeface="Arial" panose="020B0604020202020204" pitchFamily="34" charset="0"/>
              <a:buChar char="•"/>
            </a:pPr>
            <a:r>
              <a:rPr lang="en-US" sz="1400" dirty="0"/>
              <a:t>Use PF3 to exit from the panel.</a:t>
            </a:r>
          </a:p>
        </p:txBody>
      </p:sp>
      <p:sp>
        <p:nvSpPr>
          <p:cNvPr id="2" name="Slide Number Placeholder 1">
            <a:extLst>
              <a:ext uri="{FF2B5EF4-FFF2-40B4-BE49-F238E27FC236}">
                <a16:creationId xmlns:a16="http://schemas.microsoft.com/office/drawing/2014/main" id="{E9F9B395-10FA-67F1-11C3-17CBB9D751D7}"/>
              </a:ext>
            </a:extLst>
          </p:cNvPr>
          <p:cNvSpPr>
            <a:spLocks noGrp="1"/>
          </p:cNvSpPr>
          <p:nvPr>
            <p:ph type="sldNum" sz="quarter" idx="12"/>
          </p:nvPr>
        </p:nvSpPr>
        <p:spPr/>
        <p:txBody>
          <a:bodyPr/>
          <a:lstStyle/>
          <a:p>
            <a:fld id="{1C788548-AC4B-4945-A4F1-BA86477A7FC8}" type="slidenum">
              <a:rPr lang="en-US" smtClean="0"/>
              <a:t>70</a:t>
            </a:fld>
            <a:endParaRPr lang="en-US"/>
          </a:p>
        </p:txBody>
      </p:sp>
    </p:spTree>
    <p:extLst>
      <p:ext uri="{BB962C8B-B14F-4D97-AF65-F5344CB8AC3E}">
        <p14:creationId xmlns:p14="http://schemas.microsoft.com/office/powerpoint/2010/main" val="425255919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5DD04D75-5580-4918-ACD6-01E26F36A2CB}"/>
              </a:ext>
            </a:extLst>
          </p:cNvPr>
          <p:cNvSpPr>
            <a:spLocks noGrp="1"/>
          </p:cNvSpPr>
          <p:nvPr>
            <p:ph type="subTitle" idx="4294967295"/>
          </p:nvPr>
        </p:nvSpPr>
        <p:spPr>
          <a:xfrm>
            <a:off x="589534" y="212917"/>
            <a:ext cx="10804606" cy="1892548"/>
          </a:xfrm>
          <a:prstGeom prst="rect">
            <a:avLst/>
          </a:prstGeom>
        </p:spPr>
        <p:txBody>
          <a:bodyPr>
            <a:normAutofit fontScale="85000" lnSpcReduction="20000"/>
          </a:bodyPr>
          <a:lstStyle/>
          <a:p>
            <a:pPr marL="0" indent="0" algn="l">
              <a:buNone/>
            </a:pPr>
            <a:r>
              <a:rPr lang="en-US" b="1" dirty="0">
                <a:solidFill>
                  <a:schemeClr val="accent1">
                    <a:lumMod val="75000"/>
                  </a:schemeClr>
                </a:solidFill>
              </a:rPr>
              <a:t>IMS Administration Tool ISPF LAB Exercise 6 – IMS Command Processor Job Options</a:t>
            </a:r>
          </a:p>
          <a:p>
            <a:pPr marL="0" indent="0" algn="l">
              <a:buNone/>
            </a:pPr>
            <a:r>
              <a:rPr lang="en-US" sz="2000" b="1" dirty="0"/>
              <a:t>Key Feature:   IMS Command Processor:  Job Options    </a:t>
            </a:r>
          </a:p>
          <a:p>
            <a:pPr marL="0" indent="0" algn="l">
              <a:buNone/>
            </a:pPr>
            <a:r>
              <a:rPr lang="en-US" sz="2000" b="1" dirty="0"/>
              <a:t>Description:    </a:t>
            </a:r>
            <a:r>
              <a:rPr lang="en-US" sz="2000" dirty="0"/>
              <a:t>You can set global/job options to use when executing IMS commands.       </a:t>
            </a:r>
          </a:p>
          <a:p>
            <a:pPr marL="0" indent="0" algn="l">
              <a:buNone/>
              <a:tabLst>
                <a:tab pos="1425575" algn="l"/>
              </a:tabLst>
            </a:pPr>
            <a:r>
              <a:rPr lang="en-US" sz="2000" b="1" dirty="0"/>
              <a:t>Instructions:   </a:t>
            </a:r>
            <a:r>
              <a:rPr lang="en-US" sz="2000" dirty="0"/>
              <a:t>Enter the primary command “</a:t>
            </a:r>
            <a:r>
              <a:rPr lang="en-US" sz="2000" dirty="0">
                <a:highlight>
                  <a:srgbClr val="FFFF00"/>
                </a:highlight>
              </a:rPr>
              <a:t>C</a:t>
            </a:r>
            <a:r>
              <a:rPr lang="en-US" sz="2000" dirty="0"/>
              <a:t>” (Create) to create a job option for a job name of a job mask.</a:t>
            </a:r>
          </a:p>
          <a:p>
            <a:pPr marL="0" indent="0" algn="l" defTabSz="600075">
              <a:buNone/>
              <a:tabLst>
                <a:tab pos="1200150" algn="l"/>
              </a:tabLst>
            </a:pPr>
            <a:r>
              <a:rPr lang="en-US" sz="2000" dirty="0"/>
              <a:t>	Scroll the page by using PF7 and PF8 to see various options.</a:t>
            </a:r>
          </a:p>
          <a:p>
            <a:pPr marL="0" indent="0" algn="l" defTabSz="600075">
              <a:buNone/>
              <a:tabLst>
                <a:tab pos="1200150" algn="l"/>
              </a:tabLst>
            </a:pPr>
            <a:r>
              <a:rPr lang="en-US" sz="2000" dirty="0"/>
              <a:t>	Exit the page by PF3.</a:t>
            </a:r>
          </a:p>
          <a:p>
            <a:pPr marL="0" indent="0" algn="l">
              <a:buNone/>
            </a:pPr>
            <a:endParaRPr lang="en-US" sz="2000" dirty="0"/>
          </a:p>
          <a:p>
            <a:pPr marL="0" indent="0" algn="l">
              <a:buNone/>
            </a:pPr>
            <a:endParaRPr lang="en-US" sz="2000" i="1" dirty="0"/>
          </a:p>
        </p:txBody>
      </p:sp>
      <p:sp>
        <p:nvSpPr>
          <p:cNvPr id="8" name="TextBox 7">
            <a:extLst>
              <a:ext uri="{FF2B5EF4-FFF2-40B4-BE49-F238E27FC236}">
                <a16:creationId xmlns:a16="http://schemas.microsoft.com/office/drawing/2014/main" id="{86C44C61-7F4E-A8CF-DFC9-DF9635D596E3}"/>
              </a:ext>
            </a:extLst>
          </p:cNvPr>
          <p:cNvSpPr txBox="1"/>
          <p:nvPr/>
        </p:nvSpPr>
        <p:spPr>
          <a:xfrm>
            <a:off x="842281" y="3864394"/>
            <a:ext cx="3175444" cy="2554545"/>
          </a:xfrm>
          <a:prstGeom prst="rect">
            <a:avLst/>
          </a:prstGeom>
          <a:noFill/>
        </p:spPr>
        <p:txBody>
          <a:bodyPr wrap="square">
            <a:spAutoFit/>
          </a:bodyPr>
          <a:lstStyle/>
          <a:p>
            <a:r>
              <a:rPr lang="en-US" sz="1600" dirty="0"/>
              <a:t>A set of job options is identified by a jobname or </a:t>
            </a:r>
            <a:r>
              <a:rPr lang="en-US" sz="1600" dirty="0" err="1"/>
              <a:t>jobmask</a:t>
            </a:r>
            <a:r>
              <a:rPr lang="en-US" sz="1600" dirty="0"/>
              <a:t>. IMS Administration Tool applies the job options whose name matches the name of the command processor batch job. If job option having the name of the command processor batch job does not exist, IMS Administration Tool uses the IMS command global options. </a:t>
            </a:r>
          </a:p>
        </p:txBody>
      </p:sp>
      <p:pic>
        <p:nvPicPr>
          <p:cNvPr id="16" name="Picture 15">
            <a:extLst>
              <a:ext uri="{FF2B5EF4-FFF2-40B4-BE49-F238E27FC236}">
                <a16:creationId xmlns:a16="http://schemas.microsoft.com/office/drawing/2014/main" id="{463CD045-E6EB-6830-01DC-D910A6699054}"/>
              </a:ext>
            </a:extLst>
          </p:cNvPr>
          <p:cNvPicPr>
            <a:picLocks noChangeAspect="1"/>
          </p:cNvPicPr>
          <p:nvPr/>
        </p:nvPicPr>
        <p:blipFill>
          <a:blip r:embed="rId2"/>
          <a:stretch>
            <a:fillRect/>
          </a:stretch>
        </p:blipFill>
        <p:spPr>
          <a:xfrm>
            <a:off x="788204" y="2191328"/>
            <a:ext cx="5417624" cy="1498492"/>
          </a:xfrm>
          <a:prstGeom prst="rect">
            <a:avLst/>
          </a:prstGeom>
          <a:effectLst>
            <a:glow rad="63500">
              <a:schemeClr val="accent3">
                <a:satMod val="175000"/>
                <a:alpha val="40000"/>
              </a:schemeClr>
            </a:glow>
          </a:effectLst>
        </p:spPr>
      </p:pic>
      <p:pic>
        <p:nvPicPr>
          <p:cNvPr id="17" name="Picture 16">
            <a:extLst>
              <a:ext uri="{FF2B5EF4-FFF2-40B4-BE49-F238E27FC236}">
                <a16:creationId xmlns:a16="http://schemas.microsoft.com/office/drawing/2014/main" id="{569F462D-7EFA-EF05-5E08-8E338EAE05F7}"/>
              </a:ext>
            </a:extLst>
          </p:cNvPr>
          <p:cNvPicPr>
            <a:picLocks noChangeAspect="1"/>
          </p:cNvPicPr>
          <p:nvPr/>
        </p:nvPicPr>
        <p:blipFill>
          <a:blip r:embed="rId3"/>
          <a:stretch>
            <a:fillRect/>
          </a:stretch>
        </p:blipFill>
        <p:spPr>
          <a:xfrm>
            <a:off x="4071801" y="2618654"/>
            <a:ext cx="5401905" cy="2735009"/>
          </a:xfrm>
          <a:prstGeom prst="rect">
            <a:avLst/>
          </a:prstGeom>
          <a:effectLst>
            <a:glow rad="63500">
              <a:schemeClr val="accent3">
                <a:satMod val="175000"/>
                <a:alpha val="40000"/>
              </a:schemeClr>
            </a:glow>
          </a:effectLst>
        </p:spPr>
      </p:pic>
      <p:pic>
        <p:nvPicPr>
          <p:cNvPr id="18" name="Picture 17">
            <a:extLst>
              <a:ext uri="{FF2B5EF4-FFF2-40B4-BE49-F238E27FC236}">
                <a16:creationId xmlns:a16="http://schemas.microsoft.com/office/drawing/2014/main" id="{6718E505-D690-184C-21C7-35E530266CE1}"/>
              </a:ext>
            </a:extLst>
          </p:cNvPr>
          <p:cNvPicPr>
            <a:picLocks noChangeAspect="1"/>
          </p:cNvPicPr>
          <p:nvPr/>
        </p:nvPicPr>
        <p:blipFill>
          <a:blip r:embed="rId4"/>
          <a:stretch>
            <a:fillRect/>
          </a:stretch>
        </p:blipFill>
        <p:spPr>
          <a:xfrm>
            <a:off x="6345345" y="2838006"/>
            <a:ext cx="5391426" cy="3604763"/>
          </a:xfrm>
          <a:prstGeom prst="rect">
            <a:avLst/>
          </a:prstGeom>
          <a:effectLst>
            <a:glow rad="63500">
              <a:schemeClr val="accent3">
                <a:satMod val="175000"/>
                <a:alpha val="40000"/>
              </a:schemeClr>
            </a:glow>
          </a:effectLst>
        </p:spPr>
      </p:pic>
      <p:sp>
        <p:nvSpPr>
          <p:cNvPr id="4" name="TextBox 3">
            <a:extLst>
              <a:ext uri="{FF2B5EF4-FFF2-40B4-BE49-F238E27FC236}">
                <a16:creationId xmlns:a16="http://schemas.microsoft.com/office/drawing/2014/main" id="{904EC383-7D19-ED2C-81F6-AB768BEA0848}"/>
              </a:ext>
            </a:extLst>
          </p:cNvPr>
          <p:cNvSpPr txBox="1"/>
          <p:nvPr/>
        </p:nvSpPr>
        <p:spPr>
          <a:xfrm>
            <a:off x="8532182" y="5523534"/>
            <a:ext cx="3019096" cy="523220"/>
          </a:xfrm>
          <a:prstGeom prst="rect">
            <a:avLst/>
          </a:prstGeom>
          <a:solidFill>
            <a:schemeClr val="accent4">
              <a:lumMod val="40000"/>
              <a:lumOff val="60000"/>
            </a:schemeClr>
          </a:solidFill>
          <a:effectLst>
            <a:outerShdw blurRad="50800" dist="38100" dir="2700000" algn="tl" rotWithShape="0">
              <a:schemeClr val="bg2">
                <a:alpha val="40000"/>
              </a:schemeClr>
            </a:outerShdw>
          </a:effectLst>
        </p:spPr>
        <p:txBody>
          <a:bodyPr wrap="none" rtlCol="0">
            <a:spAutoFit/>
          </a:bodyPr>
          <a:lstStyle/>
          <a:p>
            <a:pPr marL="174625" indent="-174625">
              <a:buFont typeface="Arial" panose="020B0604020202020204" pitchFamily="34" charset="0"/>
              <a:buChar char="•"/>
            </a:pPr>
            <a:r>
              <a:rPr lang="en-US" sz="1400" dirty="0"/>
              <a:t>Use PF7 and PF8 to scroll the page.</a:t>
            </a:r>
          </a:p>
          <a:p>
            <a:pPr marL="174625" indent="-174625">
              <a:buFont typeface="Arial" panose="020B0604020202020204" pitchFamily="34" charset="0"/>
              <a:buChar char="•"/>
            </a:pPr>
            <a:r>
              <a:rPr lang="en-US" sz="1400" dirty="0"/>
              <a:t>Use PF3 to exit from the panel.</a:t>
            </a:r>
          </a:p>
        </p:txBody>
      </p:sp>
      <p:cxnSp>
        <p:nvCxnSpPr>
          <p:cNvPr id="9" name="Straight Arrow Connector 8">
            <a:extLst>
              <a:ext uri="{FF2B5EF4-FFF2-40B4-BE49-F238E27FC236}">
                <a16:creationId xmlns:a16="http://schemas.microsoft.com/office/drawing/2014/main" id="{AF26969A-89A2-4D90-A420-90EDA08BE5E4}"/>
              </a:ext>
            </a:extLst>
          </p:cNvPr>
          <p:cNvCxnSpPr>
            <a:cxnSpLocks/>
          </p:cNvCxnSpPr>
          <p:nvPr/>
        </p:nvCxnSpPr>
        <p:spPr>
          <a:xfrm>
            <a:off x="384293" y="2384751"/>
            <a:ext cx="414528"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C8992A4D-D442-74C2-C6DA-E5F53F73E7A3}"/>
              </a:ext>
            </a:extLst>
          </p:cNvPr>
          <p:cNvCxnSpPr>
            <a:cxnSpLocks/>
          </p:cNvCxnSpPr>
          <p:nvPr/>
        </p:nvCxnSpPr>
        <p:spPr>
          <a:xfrm>
            <a:off x="3948486" y="3874657"/>
            <a:ext cx="414528"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2" name="Slide Number Placeholder 1">
            <a:extLst>
              <a:ext uri="{FF2B5EF4-FFF2-40B4-BE49-F238E27FC236}">
                <a16:creationId xmlns:a16="http://schemas.microsoft.com/office/drawing/2014/main" id="{AE834AF2-EEDB-F3CA-DA57-6422F59AE3C2}"/>
              </a:ext>
            </a:extLst>
          </p:cNvPr>
          <p:cNvSpPr>
            <a:spLocks noGrp="1"/>
          </p:cNvSpPr>
          <p:nvPr>
            <p:ph type="sldNum" sz="quarter" idx="12"/>
          </p:nvPr>
        </p:nvSpPr>
        <p:spPr/>
        <p:txBody>
          <a:bodyPr/>
          <a:lstStyle/>
          <a:p>
            <a:fld id="{1C788548-AC4B-4945-A4F1-BA86477A7FC8}" type="slidenum">
              <a:rPr lang="en-US" smtClean="0"/>
              <a:t>71</a:t>
            </a:fld>
            <a:endParaRPr lang="en-US"/>
          </a:p>
        </p:txBody>
      </p:sp>
    </p:spTree>
    <p:extLst>
      <p:ext uri="{BB962C8B-B14F-4D97-AF65-F5344CB8AC3E}">
        <p14:creationId xmlns:p14="http://schemas.microsoft.com/office/powerpoint/2010/main" val="80278835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47E08336-71AB-44BF-9E1A-7442CE355F86}"/>
              </a:ext>
            </a:extLst>
          </p:cNvPr>
          <p:cNvSpPr txBox="1"/>
          <p:nvPr/>
        </p:nvSpPr>
        <p:spPr>
          <a:xfrm>
            <a:off x="1670304" y="1560192"/>
            <a:ext cx="8753856" cy="3067635"/>
          </a:xfrm>
          <a:prstGeom prst="rect">
            <a:avLst/>
          </a:prstGeom>
          <a:solidFill>
            <a:schemeClr val="bg2"/>
          </a:solidFill>
          <a:ln w="57150">
            <a:solidFill>
              <a:srgbClr val="0070C0"/>
            </a:solidFill>
          </a:ln>
        </p:spPr>
        <p:txBody>
          <a:bodyPr wrap="square" rtlCol="0">
            <a:spAutoFit/>
          </a:bodyPr>
          <a:lstStyle/>
          <a:p>
            <a:pPr algn="ctr"/>
            <a:endParaRPr lang="en-US" sz="4267" dirty="0"/>
          </a:p>
          <a:p>
            <a:pPr algn="ctr"/>
            <a:r>
              <a:rPr lang="en-US" sz="5400" b="1" dirty="0"/>
              <a:t>IMS COMMAND PROCESSOR</a:t>
            </a:r>
          </a:p>
          <a:p>
            <a:pPr algn="ctr"/>
            <a:r>
              <a:rPr lang="en-US" sz="5400" dirty="0"/>
              <a:t>Issue an IMS Command</a:t>
            </a:r>
          </a:p>
          <a:p>
            <a:pPr algn="ctr"/>
            <a:endParaRPr lang="en-US" sz="4267" dirty="0"/>
          </a:p>
        </p:txBody>
      </p:sp>
      <p:sp>
        <p:nvSpPr>
          <p:cNvPr id="2" name="Slide Number Placeholder 1">
            <a:extLst>
              <a:ext uri="{FF2B5EF4-FFF2-40B4-BE49-F238E27FC236}">
                <a16:creationId xmlns:a16="http://schemas.microsoft.com/office/drawing/2014/main" id="{A9EF3F6D-989C-F805-F80F-56B1B56F3BA3}"/>
              </a:ext>
            </a:extLst>
          </p:cNvPr>
          <p:cNvSpPr>
            <a:spLocks noGrp="1"/>
          </p:cNvSpPr>
          <p:nvPr>
            <p:ph type="sldNum" sz="quarter" idx="12"/>
          </p:nvPr>
        </p:nvSpPr>
        <p:spPr/>
        <p:txBody>
          <a:bodyPr/>
          <a:lstStyle/>
          <a:p>
            <a:fld id="{1C788548-AC4B-4945-A4F1-BA86477A7FC8}" type="slidenum">
              <a:rPr lang="en-US" smtClean="0"/>
              <a:t>72</a:t>
            </a:fld>
            <a:endParaRPr lang="en-US"/>
          </a:p>
        </p:txBody>
      </p:sp>
    </p:spTree>
    <p:extLst>
      <p:ext uri="{BB962C8B-B14F-4D97-AF65-F5344CB8AC3E}">
        <p14:creationId xmlns:p14="http://schemas.microsoft.com/office/powerpoint/2010/main" val="10181087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116">
        <p159:morph option="byObject"/>
      </p:transition>
    </mc:Choice>
    <mc:Fallback xmlns="">
      <p:transition spd="slow" advTm="116">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mph" presetSubtype="0" fill="hold" nodeType="clickEffect">
                                  <p:stCondLst>
                                    <p:cond delay="0"/>
                                  </p:stCondLst>
                                  <p:iterate type="lt">
                                    <p:tmPct val="4000"/>
                                  </p:iterate>
                                  <p:childTnLst>
                                    <p:set>
                                      <p:cBhvr override="childStyle">
                                        <p:cTn id="6" dur="500" fill="hold"/>
                                        <p:tgtEl>
                                          <p:spTgt spid="9">
                                            <p:txEl>
                                              <p:pRg st="1" end="1"/>
                                            </p:txEl>
                                          </p:spTgt>
                                        </p:tgtEl>
                                        <p:attrNameLst>
                                          <p:attrName>style.color</p:attrName>
                                        </p:attrNameLst>
                                      </p:cBhvr>
                                      <p:to>
                                        <p:clrVal>
                                          <a:srgbClr val="FFC000"/>
                                        </p:clrVal>
                                      </p:to>
                                    </p:set>
                                    <p:set>
                                      <p:cBhvr>
                                        <p:cTn id="7" dur="500" fill="hold"/>
                                        <p:tgtEl>
                                          <p:spTgt spid="9">
                                            <p:txEl>
                                              <p:pRg st="1" end="1"/>
                                            </p:txEl>
                                          </p:spTgt>
                                        </p:tgtEl>
                                        <p:attrNameLst>
                                          <p:attrName>fillcolor</p:attrName>
                                        </p:attrNameLst>
                                      </p:cBhvr>
                                      <p:to>
                                        <p:clrVal>
                                          <a:srgbClr val="FFC000"/>
                                        </p:clrVal>
                                      </p:to>
                                    </p:set>
                                    <p:set>
                                      <p:cBhvr>
                                        <p:cTn id="8" dur="500" fill="hold"/>
                                        <p:tgtEl>
                                          <p:spTgt spid="9">
                                            <p:txEl>
                                              <p:pRg st="1" end="1"/>
                                            </p:txEl>
                                          </p:spTgt>
                                        </p:tgtEl>
                                        <p:attrNameLst>
                                          <p:attrName>fill.type</p:attrName>
                                        </p:attrNameLst>
                                      </p:cBhvr>
                                      <p:to>
                                        <p:strVal val="solid"/>
                                      </p:to>
                                    </p:set>
                                  </p:childTnLst>
                                </p:cTn>
                              </p:par>
                            </p:childTnLst>
                          </p:cTn>
                        </p:par>
                      </p:childTnLst>
                    </p:cTn>
                  </p:par>
                  <p:par>
                    <p:cTn id="9" fill="hold">
                      <p:stCondLst>
                        <p:cond delay="indefinite"/>
                      </p:stCondLst>
                      <p:childTnLst>
                        <p:par>
                          <p:cTn id="10" fill="hold">
                            <p:stCondLst>
                              <p:cond delay="0"/>
                            </p:stCondLst>
                            <p:childTnLst>
                              <p:par>
                                <p:cTn id="11" presetID="16" presetClass="emph" presetSubtype="0" fill="hold" nodeType="clickEffect">
                                  <p:stCondLst>
                                    <p:cond delay="0"/>
                                  </p:stCondLst>
                                  <p:iterate type="lt">
                                    <p:tmPct val="4000"/>
                                  </p:iterate>
                                  <p:childTnLst>
                                    <p:set>
                                      <p:cBhvr override="childStyle">
                                        <p:cTn id="12" dur="500" fill="hold"/>
                                        <p:tgtEl>
                                          <p:spTgt spid="9">
                                            <p:txEl>
                                              <p:pRg st="2" end="2"/>
                                            </p:txEl>
                                          </p:spTgt>
                                        </p:tgtEl>
                                        <p:attrNameLst>
                                          <p:attrName>style.color</p:attrName>
                                        </p:attrNameLst>
                                      </p:cBhvr>
                                      <p:to>
                                        <p:clrVal>
                                          <a:srgbClr val="FFC000"/>
                                        </p:clrVal>
                                      </p:to>
                                    </p:set>
                                    <p:set>
                                      <p:cBhvr>
                                        <p:cTn id="13" dur="500" fill="hold"/>
                                        <p:tgtEl>
                                          <p:spTgt spid="9">
                                            <p:txEl>
                                              <p:pRg st="2" end="2"/>
                                            </p:txEl>
                                          </p:spTgt>
                                        </p:tgtEl>
                                        <p:attrNameLst>
                                          <p:attrName>fillcolor</p:attrName>
                                        </p:attrNameLst>
                                      </p:cBhvr>
                                      <p:to>
                                        <p:clrVal>
                                          <a:srgbClr val="FFC000"/>
                                        </p:clrVal>
                                      </p:to>
                                    </p:set>
                                    <p:set>
                                      <p:cBhvr>
                                        <p:cTn id="14" dur="500" fill="hold"/>
                                        <p:tgtEl>
                                          <p:spTgt spid="9">
                                            <p:txEl>
                                              <p:pRg st="2" end="2"/>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5DD04D75-5580-4918-ACD6-01E26F36A2CB}"/>
              </a:ext>
            </a:extLst>
          </p:cNvPr>
          <p:cNvSpPr>
            <a:spLocks noGrp="1"/>
          </p:cNvSpPr>
          <p:nvPr>
            <p:ph type="subTitle" idx="4294967295"/>
          </p:nvPr>
        </p:nvSpPr>
        <p:spPr>
          <a:xfrm>
            <a:off x="760222" y="164147"/>
            <a:ext cx="11028366" cy="1890663"/>
          </a:xfrm>
          <a:prstGeom prst="rect">
            <a:avLst/>
          </a:prstGeom>
        </p:spPr>
        <p:txBody>
          <a:bodyPr>
            <a:normAutofit fontScale="77500" lnSpcReduction="20000"/>
          </a:bodyPr>
          <a:lstStyle/>
          <a:p>
            <a:pPr marL="0" indent="0" algn="l">
              <a:buNone/>
            </a:pPr>
            <a:r>
              <a:rPr lang="en-US" b="1" dirty="0">
                <a:solidFill>
                  <a:schemeClr val="accent1">
                    <a:lumMod val="75000"/>
                  </a:schemeClr>
                </a:solidFill>
              </a:rPr>
              <a:t>IMS Administration Tool ISPF LAB Exercise 6a</a:t>
            </a:r>
          </a:p>
          <a:p>
            <a:pPr marL="0" indent="0" algn="l">
              <a:buNone/>
            </a:pPr>
            <a:r>
              <a:rPr lang="en-US" sz="2000" b="1" dirty="0"/>
              <a:t>Key Feature:   IMS Command Processor:  Issue IMS Commands    </a:t>
            </a:r>
          </a:p>
          <a:p>
            <a:pPr marL="0" indent="0" algn="l">
              <a:buNone/>
            </a:pPr>
            <a:r>
              <a:rPr lang="en-US" sz="2000" b="1" dirty="0"/>
              <a:t>Description:    </a:t>
            </a:r>
            <a:r>
              <a:rPr lang="en-US" sz="2000" dirty="0"/>
              <a:t>This is where you would set your defaults when executing IMS commands.       </a:t>
            </a:r>
          </a:p>
          <a:p>
            <a:pPr marL="0" indent="0" algn="l">
              <a:buNone/>
            </a:pPr>
            <a:r>
              <a:rPr lang="en-US" sz="2000" b="1" dirty="0"/>
              <a:t>Instructions:   </a:t>
            </a:r>
            <a:r>
              <a:rPr lang="en-US" sz="2000" dirty="0"/>
              <a:t>Select Option “</a:t>
            </a:r>
            <a:r>
              <a:rPr lang="en-US" sz="2000" dirty="0">
                <a:highlight>
                  <a:srgbClr val="FFFF00"/>
                </a:highlight>
              </a:rPr>
              <a:t>1</a:t>
            </a:r>
            <a:r>
              <a:rPr lang="en-US" sz="2000" dirty="0"/>
              <a:t>” (Issue IMS Command), starting from the arrow. </a:t>
            </a:r>
          </a:p>
          <a:p>
            <a:pPr marL="0" indent="0" algn="l">
              <a:buNone/>
            </a:pPr>
            <a:r>
              <a:rPr lang="en-US" sz="2000" dirty="0"/>
              <a:t>                          Then, issue an IMS command against "</a:t>
            </a:r>
            <a:r>
              <a:rPr lang="en-US" sz="2000" dirty="0">
                <a:highlight>
                  <a:srgbClr val="FFFF00"/>
                </a:highlight>
              </a:rPr>
              <a:t>IVP1</a:t>
            </a:r>
            <a:r>
              <a:rPr lang="en-US" sz="2000" dirty="0"/>
              <a:t>", as indicated below (</a:t>
            </a:r>
            <a:r>
              <a:rPr lang="en-US" sz="2000" dirty="0">
                <a:highlight>
                  <a:srgbClr val="FFFF00"/>
                </a:highlight>
              </a:rPr>
              <a:t>/DIS DB FF1</a:t>
            </a:r>
            <a:r>
              <a:rPr lang="en-US" sz="2000" dirty="0"/>
              <a:t>).</a:t>
            </a:r>
          </a:p>
          <a:p>
            <a:pPr marL="0" indent="0" algn="l" defTabSz="1031875">
              <a:buNone/>
              <a:tabLst>
                <a:tab pos="1200150" algn="l"/>
              </a:tabLst>
            </a:pPr>
            <a:r>
              <a:rPr lang="en-US" sz="2000" dirty="0"/>
              <a:t>	The response should be displayed immediately.</a:t>
            </a:r>
            <a:endParaRPr lang="en-US" sz="2000" i="1" dirty="0">
              <a:highlight>
                <a:srgbClr val="FFFF00"/>
              </a:highlight>
            </a:endParaRPr>
          </a:p>
        </p:txBody>
      </p:sp>
      <p:pic>
        <p:nvPicPr>
          <p:cNvPr id="4" name="Picture 3">
            <a:extLst>
              <a:ext uri="{FF2B5EF4-FFF2-40B4-BE49-F238E27FC236}">
                <a16:creationId xmlns:a16="http://schemas.microsoft.com/office/drawing/2014/main" id="{8F383EAD-7358-8783-221C-49966E1572E5}"/>
              </a:ext>
            </a:extLst>
          </p:cNvPr>
          <p:cNvPicPr>
            <a:picLocks noChangeAspect="1"/>
          </p:cNvPicPr>
          <p:nvPr/>
        </p:nvPicPr>
        <p:blipFill>
          <a:blip r:embed="rId2"/>
          <a:stretch>
            <a:fillRect/>
          </a:stretch>
        </p:blipFill>
        <p:spPr>
          <a:xfrm>
            <a:off x="1123230" y="2054810"/>
            <a:ext cx="6908494" cy="1553745"/>
          </a:xfrm>
          <a:prstGeom prst="rect">
            <a:avLst/>
          </a:prstGeom>
          <a:effectLst>
            <a:glow rad="63500">
              <a:schemeClr val="accent3">
                <a:satMod val="175000"/>
                <a:alpha val="40000"/>
              </a:schemeClr>
            </a:glow>
          </a:effectLst>
        </p:spPr>
      </p:pic>
      <p:cxnSp>
        <p:nvCxnSpPr>
          <p:cNvPr id="7" name="Straight Arrow Connector 6">
            <a:extLst>
              <a:ext uri="{FF2B5EF4-FFF2-40B4-BE49-F238E27FC236}">
                <a16:creationId xmlns:a16="http://schemas.microsoft.com/office/drawing/2014/main" id="{069E0056-43B5-41A6-9C73-3A2148DF8C5D}"/>
              </a:ext>
            </a:extLst>
          </p:cNvPr>
          <p:cNvCxnSpPr>
            <a:cxnSpLocks/>
          </p:cNvCxnSpPr>
          <p:nvPr/>
        </p:nvCxnSpPr>
        <p:spPr>
          <a:xfrm>
            <a:off x="654954" y="2307798"/>
            <a:ext cx="414528"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pic>
        <p:nvPicPr>
          <p:cNvPr id="8" name="Picture 7">
            <a:extLst>
              <a:ext uri="{FF2B5EF4-FFF2-40B4-BE49-F238E27FC236}">
                <a16:creationId xmlns:a16="http://schemas.microsoft.com/office/drawing/2014/main" id="{5A41E945-A379-6B41-2762-5C88E8FCA535}"/>
              </a:ext>
            </a:extLst>
          </p:cNvPr>
          <p:cNvPicPr>
            <a:picLocks noChangeAspect="1"/>
          </p:cNvPicPr>
          <p:nvPr/>
        </p:nvPicPr>
        <p:blipFill>
          <a:blip r:embed="rId3"/>
          <a:stretch>
            <a:fillRect/>
          </a:stretch>
        </p:blipFill>
        <p:spPr>
          <a:xfrm>
            <a:off x="3904683" y="3025554"/>
            <a:ext cx="7105879" cy="3161979"/>
          </a:xfrm>
          <a:prstGeom prst="rect">
            <a:avLst/>
          </a:prstGeom>
          <a:effectLst>
            <a:glow rad="63500">
              <a:schemeClr val="accent3">
                <a:satMod val="175000"/>
                <a:alpha val="40000"/>
              </a:schemeClr>
            </a:glow>
          </a:effectLst>
        </p:spPr>
      </p:pic>
      <p:cxnSp>
        <p:nvCxnSpPr>
          <p:cNvPr id="10" name="Straight Arrow Connector 9">
            <a:extLst>
              <a:ext uri="{FF2B5EF4-FFF2-40B4-BE49-F238E27FC236}">
                <a16:creationId xmlns:a16="http://schemas.microsoft.com/office/drawing/2014/main" id="{2439FC23-A9C6-4BAF-8040-6AFF12E1E3A2}"/>
              </a:ext>
            </a:extLst>
          </p:cNvPr>
          <p:cNvCxnSpPr>
            <a:cxnSpLocks/>
          </p:cNvCxnSpPr>
          <p:nvPr/>
        </p:nvCxnSpPr>
        <p:spPr>
          <a:xfrm>
            <a:off x="3461874" y="3708319"/>
            <a:ext cx="414528"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5F92ECC9-9AFC-AC29-E3C7-AC30A56553C2}"/>
              </a:ext>
            </a:extLst>
          </p:cNvPr>
          <p:cNvCxnSpPr>
            <a:cxnSpLocks/>
          </p:cNvCxnSpPr>
          <p:nvPr/>
        </p:nvCxnSpPr>
        <p:spPr>
          <a:xfrm>
            <a:off x="3456957" y="3909880"/>
            <a:ext cx="414528"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2" name="Slide Number Placeholder 1">
            <a:extLst>
              <a:ext uri="{FF2B5EF4-FFF2-40B4-BE49-F238E27FC236}">
                <a16:creationId xmlns:a16="http://schemas.microsoft.com/office/drawing/2014/main" id="{606EE617-7168-DE99-C849-D73FF5DEF008}"/>
              </a:ext>
            </a:extLst>
          </p:cNvPr>
          <p:cNvSpPr>
            <a:spLocks noGrp="1"/>
          </p:cNvSpPr>
          <p:nvPr>
            <p:ph type="sldNum" sz="quarter" idx="12"/>
          </p:nvPr>
        </p:nvSpPr>
        <p:spPr/>
        <p:txBody>
          <a:bodyPr/>
          <a:lstStyle/>
          <a:p>
            <a:fld id="{1C788548-AC4B-4945-A4F1-BA86477A7FC8}" type="slidenum">
              <a:rPr lang="en-US" smtClean="0"/>
              <a:t>73</a:t>
            </a:fld>
            <a:endParaRPr lang="en-US"/>
          </a:p>
        </p:txBody>
      </p:sp>
    </p:spTree>
    <p:extLst>
      <p:ext uri="{BB962C8B-B14F-4D97-AF65-F5344CB8AC3E}">
        <p14:creationId xmlns:p14="http://schemas.microsoft.com/office/powerpoint/2010/main" val="49645350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47E08336-71AB-44BF-9E1A-7442CE355F86}"/>
              </a:ext>
            </a:extLst>
          </p:cNvPr>
          <p:cNvSpPr txBox="1"/>
          <p:nvPr/>
        </p:nvSpPr>
        <p:spPr>
          <a:xfrm>
            <a:off x="1670304" y="1560192"/>
            <a:ext cx="8753856" cy="3067635"/>
          </a:xfrm>
          <a:prstGeom prst="rect">
            <a:avLst/>
          </a:prstGeom>
          <a:solidFill>
            <a:schemeClr val="bg2"/>
          </a:solidFill>
          <a:ln w="57150">
            <a:solidFill>
              <a:srgbClr val="0070C0"/>
            </a:solidFill>
          </a:ln>
        </p:spPr>
        <p:txBody>
          <a:bodyPr wrap="square" rtlCol="0">
            <a:spAutoFit/>
          </a:bodyPr>
          <a:lstStyle/>
          <a:p>
            <a:pPr algn="ctr"/>
            <a:endParaRPr lang="en-US" sz="4267" dirty="0"/>
          </a:p>
          <a:p>
            <a:pPr algn="ctr"/>
            <a:r>
              <a:rPr lang="en-US" sz="5400" b="1" dirty="0"/>
              <a:t>IMS COMMAND PROCESSOR</a:t>
            </a:r>
          </a:p>
          <a:p>
            <a:pPr algn="ctr"/>
            <a:r>
              <a:rPr lang="en-US" sz="5400" dirty="0"/>
              <a:t>View IMS Command Log</a:t>
            </a:r>
          </a:p>
          <a:p>
            <a:pPr algn="ctr"/>
            <a:endParaRPr lang="en-US" sz="4267" dirty="0"/>
          </a:p>
        </p:txBody>
      </p:sp>
      <p:sp>
        <p:nvSpPr>
          <p:cNvPr id="2" name="Slide Number Placeholder 1">
            <a:extLst>
              <a:ext uri="{FF2B5EF4-FFF2-40B4-BE49-F238E27FC236}">
                <a16:creationId xmlns:a16="http://schemas.microsoft.com/office/drawing/2014/main" id="{94BF41F4-3D14-7BEF-1746-37696291AFA2}"/>
              </a:ext>
            </a:extLst>
          </p:cNvPr>
          <p:cNvSpPr>
            <a:spLocks noGrp="1"/>
          </p:cNvSpPr>
          <p:nvPr>
            <p:ph type="sldNum" sz="quarter" idx="12"/>
          </p:nvPr>
        </p:nvSpPr>
        <p:spPr/>
        <p:txBody>
          <a:bodyPr/>
          <a:lstStyle/>
          <a:p>
            <a:fld id="{1C788548-AC4B-4945-A4F1-BA86477A7FC8}" type="slidenum">
              <a:rPr lang="en-US" smtClean="0"/>
              <a:t>74</a:t>
            </a:fld>
            <a:endParaRPr lang="en-US"/>
          </a:p>
        </p:txBody>
      </p:sp>
    </p:spTree>
    <p:extLst>
      <p:ext uri="{BB962C8B-B14F-4D97-AF65-F5344CB8AC3E}">
        <p14:creationId xmlns:p14="http://schemas.microsoft.com/office/powerpoint/2010/main" val="244965684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116">
        <p159:morph option="byObject"/>
      </p:transition>
    </mc:Choice>
    <mc:Fallback xmlns="">
      <p:transition spd="slow" advTm="116">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mph" presetSubtype="0" fill="hold" nodeType="clickEffect">
                                  <p:stCondLst>
                                    <p:cond delay="0"/>
                                  </p:stCondLst>
                                  <p:iterate type="lt">
                                    <p:tmPct val="4000"/>
                                  </p:iterate>
                                  <p:childTnLst>
                                    <p:set>
                                      <p:cBhvr override="childStyle">
                                        <p:cTn id="6" dur="500" fill="hold"/>
                                        <p:tgtEl>
                                          <p:spTgt spid="9">
                                            <p:txEl>
                                              <p:pRg st="1" end="1"/>
                                            </p:txEl>
                                          </p:spTgt>
                                        </p:tgtEl>
                                        <p:attrNameLst>
                                          <p:attrName>style.color</p:attrName>
                                        </p:attrNameLst>
                                      </p:cBhvr>
                                      <p:to>
                                        <p:clrVal>
                                          <a:srgbClr val="FFC000"/>
                                        </p:clrVal>
                                      </p:to>
                                    </p:set>
                                    <p:set>
                                      <p:cBhvr>
                                        <p:cTn id="7" dur="500" fill="hold"/>
                                        <p:tgtEl>
                                          <p:spTgt spid="9">
                                            <p:txEl>
                                              <p:pRg st="1" end="1"/>
                                            </p:txEl>
                                          </p:spTgt>
                                        </p:tgtEl>
                                        <p:attrNameLst>
                                          <p:attrName>fillcolor</p:attrName>
                                        </p:attrNameLst>
                                      </p:cBhvr>
                                      <p:to>
                                        <p:clrVal>
                                          <a:srgbClr val="FFC000"/>
                                        </p:clrVal>
                                      </p:to>
                                    </p:set>
                                    <p:set>
                                      <p:cBhvr>
                                        <p:cTn id="8" dur="500" fill="hold"/>
                                        <p:tgtEl>
                                          <p:spTgt spid="9">
                                            <p:txEl>
                                              <p:pRg st="1" end="1"/>
                                            </p:txEl>
                                          </p:spTgt>
                                        </p:tgtEl>
                                        <p:attrNameLst>
                                          <p:attrName>fill.type</p:attrName>
                                        </p:attrNameLst>
                                      </p:cBhvr>
                                      <p:to>
                                        <p:strVal val="solid"/>
                                      </p:to>
                                    </p:set>
                                  </p:childTnLst>
                                </p:cTn>
                              </p:par>
                            </p:childTnLst>
                          </p:cTn>
                        </p:par>
                      </p:childTnLst>
                    </p:cTn>
                  </p:par>
                  <p:par>
                    <p:cTn id="9" fill="hold">
                      <p:stCondLst>
                        <p:cond delay="indefinite"/>
                      </p:stCondLst>
                      <p:childTnLst>
                        <p:par>
                          <p:cTn id="10" fill="hold">
                            <p:stCondLst>
                              <p:cond delay="0"/>
                            </p:stCondLst>
                            <p:childTnLst>
                              <p:par>
                                <p:cTn id="11" presetID="16" presetClass="emph" presetSubtype="0" fill="hold" nodeType="clickEffect">
                                  <p:stCondLst>
                                    <p:cond delay="0"/>
                                  </p:stCondLst>
                                  <p:iterate type="lt">
                                    <p:tmPct val="4000"/>
                                  </p:iterate>
                                  <p:childTnLst>
                                    <p:set>
                                      <p:cBhvr override="childStyle">
                                        <p:cTn id="12" dur="500" fill="hold"/>
                                        <p:tgtEl>
                                          <p:spTgt spid="9">
                                            <p:txEl>
                                              <p:pRg st="2" end="2"/>
                                            </p:txEl>
                                          </p:spTgt>
                                        </p:tgtEl>
                                        <p:attrNameLst>
                                          <p:attrName>style.color</p:attrName>
                                        </p:attrNameLst>
                                      </p:cBhvr>
                                      <p:to>
                                        <p:clrVal>
                                          <a:srgbClr val="FFC000"/>
                                        </p:clrVal>
                                      </p:to>
                                    </p:set>
                                    <p:set>
                                      <p:cBhvr>
                                        <p:cTn id="13" dur="500" fill="hold"/>
                                        <p:tgtEl>
                                          <p:spTgt spid="9">
                                            <p:txEl>
                                              <p:pRg st="2" end="2"/>
                                            </p:txEl>
                                          </p:spTgt>
                                        </p:tgtEl>
                                        <p:attrNameLst>
                                          <p:attrName>fillcolor</p:attrName>
                                        </p:attrNameLst>
                                      </p:cBhvr>
                                      <p:to>
                                        <p:clrVal>
                                          <a:srgbClr val="FFC000"/>
                                        </p:clrVal>
                                      </p:to>
                                    </p:set>
                                    <p:set>
                                      <p:cBhvr>
                                        <p:cTn id="14" dur="500" fill="hold"/>
                                        <p:tgtEl>
                                          <p:spTgt spid="9">
                                            <p:txEl>
                                              <p:pRg st="2" end="2"/>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0423369-A1E8-EB4A-0A5A-C68B3906C90A}"/>
              </a:ext>
            </a:extLst>
          </p:cNvPr>
          <p:cNvPicPr>
            <a:picLocks noChangeAspect="1"/>
          </p:cNvPicPr>
          <p:nvPr/>
        </p:nvPicPr>
        <p:blipFill>
          <a:blip r:embed="rId2"/>
          <a:stretch>
            <a:fillRect/>
          </a:stretch>
        </p:blipFill>
        <p:spPr>
          <a:xfrm>
            <a:off x="7689624" y="2250585"/>
            <a:ext cx="4247886" cy="2851040"/>
          </a:xfrm>
          <a:prstGeom prst="rect">
            <a:avLst/>
          </a:prstGeom>
          <a:effectLst>
            <a:glow rad="63500">
              <a:schemeClr val="accent3">
                <a:satMod val="175000"/>
                <a:alpha val="40000"/>
              </a:schemeClr>
            </a:glow>
          </a:effectLst>
        </p:spPr>
      </p:pic>
      <p:sp>
        <p:nvSpPr>
          <p:cNvPr id="3" name="Subtitle 2">
            <a:extLst>
              <a:ext uri="{FF2B5EF4-FFF2-40B4-BE49-F238E27FC236}">
                <a16:creationId xmlns:a16="http://schemas.microsoft.com/office/drawing/2014/main" id="{5DD04D75-5580-4918-ACD6-01E26F36A2CB}"/>
              </a:ext>
            </a:extLst>
          </p:cNvPr>
          <p:cNvSpPr>
            <a:spLocks noGrp="1"/>
          </p:cNvSpPr>
          <p:nvPr>
            <p:ph type="subTitle" idx="4294967295"/>
          </p:nvPr>
        </p:nvSpPr>
        <p:spPr>
          <a:xfrm>
            <a:off x="406654" y="127572"/>
            <a:ext cx="11602466" cy="1950074"/>
          </a:xfrm>
          <a:prstGeom prst="rect">
            <a:avLst/>
          </a:prstGeom>
        </p:spPr>
        <p:txBody>
          <a:bodyPr>
            <a:normAutofit fontScale="77500" lnSpcReduction="20000"/>
          </a:bodyPr>
          <a:lstStyle/>
          <a:p>
            <a:pPr marL="0" indent="0" algn="l">
              <a:buNone/>
            </a:pPr>
            <a:r>
              <a:rPr lang="en-US" b="1" dirty="0">
                <a:solidFill>
                  <a:schemeClr val="accent1">
                    <a:lumMod val="75000"/>
                  </a:schemeClr>
                </a:solidFill>
              </a:rPr>
              <a:t>IMS Administration Tool ISPF LAB Exercise 6b</a:t>
            </a:r>
          </a:p>
          <a:p>
            <a:pPr marL="0" indent="0" algn="l">
              <a:buNone/>
            </a:pPr>
            <a:r>
              <a:rPr lang="en-US" sz="2000" b="1" dirty="0"/>
              <a:t>Key Feature:   IMS Command Processor:  View IMS Command Log    </a:t>
            </a:r>
          </a:p>
          <a:p>
            <a:pPr marL="0" indent="0" algn="l" defTabSz="515938">
              <a:spcBef>
                <a:spcPts val="600"/>
              </a:spcBef>
              <a:buNone/>
              <a:tabLst>
                <a:tab pos="1139825" algn="l"/>
              </a:tabLst>
            </a:pPr>
            <a:r>
              <a:rPr lang="en-US" sz="2000" b="1" dirty="0"/>
              <a:t>Description:	</a:t>
            </a:r>
            <a:r>
              <a:rPr lang="en-US" sz="2000" dirty="0"/>
              <a:t>The IMS Command Log allows you to view all IMS commands that are issued (who, when, etc.).</a:t>
            </a:r>
          </a:p>
          <a:p>
            <a:pPr marL="0" indent="0" algn="l" defTabSz="515938">
              <a:spcBef>
                <a:spcPts val="600"/>
              </a:spcBef>
              <a:buNone/>
              <a:tabLst>
                <a:tab pos="1139825" algn="l"/>
              </a:tabLst>
            </a:pPr>
            <a:r>
              <a:rPr lang="en-US" sz="2000" dirty="0"/>
              <a:t>	It can also be used for auditing purposes.        </a:t>
            </a:r>
          </a:p>
          <a:p>
            <a:pPr marL="0" indent="0" algn="l" defTabSz="1139825">
              <a:spcBef>
                <a:spcPts val="600"/>
              </a:spcBef>
              <a:buNone/>
              <a:tabLst>
                <a:tab pos="1139825" algn="l"/>
              </a:tabLst>
            </a:pPr>
            <a:r>
              <a:rPr lang="en-US" sz="2000" b="1" dirty="0"/>
              <a:t>Instructions:	</a:t>
            </a:r>
            <a:r>
              <a:rPr lang="en-US" sz="2000" dirty="0"/>
              <a:t>Select Option “</a:t>
            </a:r>
            <a:r>
              <a:rPr lang="en-US" sz="2000" dirty="0">
                <a:highlight>
                  <a:srgbClr val="FFFF00"/>
                </a:highlight>
              </a:rPr>
              <a:t>2</a:t>
            </a:r>
            <a:r>
              <a:rPr lang="en-US" sz="2000" dirty="0"/>
              <a:t>” (View IMS Command Log), starting with the arrow. </a:t>
            </a:r>
          </a:p>
          <a:p>
            <a:pPr marL="0" indent="0" algn="l" defTabSz="1139825">
              <a:spcBef>
                <a:spcPts val="600"/>
              </a:spcBef>
              <a:buNone/>
              <a:tabLst>
                <a:tab pos="1139825" algn="l"/>
              </a:tabLst>
            </a:pPr>
            <a:r>
              <a:rPr lang="en-US" sz="2000" dirty="0"/>
              <a:t>	Then, Select “</a:t>
            </a:r>
            <a:r>
              <a:rPr lang="en-US" sz="2000" dirty="0">
                <a:highlight>
                  <a:srgbClr val="FFFF00"/>
                </a:highlight>
              </a:rPr>
              <a:t>IVP1</a:t>
            </a:r>
            <a:r>
              <a:rPr lang="en-US" sz="2000" dirty="0"/>
              <a:t>” for the IMS Command Log Name that is used by this IMS Subsystem.</a:t>
            </a:r>
          </a:p>
          <a:p>
            <a:pPr marL="0" indent="0" algn="l" defTabSz="1139825">
              <a:spcBef>
                <a:spcPts val="600"/>
              </a:spcBef>
              <a:buNone/>
              <a:tabLst>
                <a:tab pos="1139825" algn="l"/>
              </a:tabLst>
            </a:pPr>
            <a:r>
              <a:rPr lang="en-US" sz="2000" dirty="0"/>
              <a:t>	Then, you can apply filters, if you choose to do so.</a:t>
            </a:r>
            <a:r>
              <a:rPr lang="en-US" sz="2000" dirty="0">
                <a:highlight>
                  <a:srgbClr val="FFFF00"/>
                </a:highlight>
              </a:rPr>
              <a:t> </a:t>
            </a:r>
            <a:endParaRPr lang="en-US" sz="2000" i="1" dirty="0">
              <a:highlight>
                <a:srgbClr val="FFFF00"/>
              </a:highlight>
            </a:endParaRPr>
          </a:p>
        </p:txBody>
      </p:sp>
      <p:cxnSp>
        <p:nvCxnSpPr>
          <p:cNvPr id="11" name="Straight Arrow Connector 10">
            <a:extLst>
              <a:ext uri="{FF2B5EF4-FFF2-40B4-BE49-F238E27FC236}">
                <a16:creationId xmlns:a16="http://schemas.microsoft.com/office/drawing/2014/main" id="{C3E8E59B-681C-43A5-8862-3592433CB121}"/>
              </a:ext>
            </a:extLst>
          </p:cNvPr>
          <p:cNvCxnSpPr>
            <a:cxnSpLocks/>
          </p:cNvCxnSpPr>
          <p:nvPr/>
        </p:nvCxnSpPr>
        <p:spPr>
          <a:xfrm>
            <a:off x="5781160" y="5952865"/>
            <a:ext cx="414528"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pic>
        <p:nvPicPr>
          <p:cNvPr id="15" name="Picture 14">
            <a:extLst>
              <a:ext uri="{FF2B5EF4-FFF2-40B4-BE49-F238E27FC236}">
                <a16:creationId xmlns:a16="http://schemas.microsoft.com/office/drawing/2014/main" id="{5D746E3F-8E94-3317-0A20-684437340FDE}"/>
              </a:ext>
            </a:extLst>
          </p:cNvPr>
          <p:cNvPicPr>
            <a:picLocks noChangeAspect="1"/>
          </p:cNvPicPr>
          <p:nvPr/>
        </p:nvPicPr>
        <p:blipFill>
          <a:blip r:embed="rId3"/>
          <a:stretch>
            <a:fillRect/>
          </a:stretch>
        </p:blipFill>
        <p:spPr>
          <a:xfrm>
            <a:off x="613918" y="2109743"/>
            <a:ext cx="5800391" cy="1264620"/>
          </a:xfrm>
          <a:prstGeom prst="rect">
            <a:avLst/>
          </a:prstGeom>
          <a:effectLst>
            <a:glow rad="63500">
              <a:schemeClr val="accent3">
                <a:satMod val="175000"/>
                <a:alpha val="40000"/>
              </a:schemeClr>
            </a:glow>
          </a:effectLst>
        </p:spPr>
      </p:pic>
      <p:pic>
        <p:nvPicPr>
          <p:cNvPr id="13" name="Picture 12">
            <a:extLst>
              <a:ext uri="{FF2B5EF4-FFF2-40B4-BE49-F238E27FC236}">
                <a16:creationId xmlns:a16="http://schemas.microsoft.com/office/drawing/2014/main" id="{B6194D42-B098-3053-C0C2-52290EAF9E27}"/>
              </a:ext>
            </a:extLst>
          </p:cNvPr>
          <p:cNvPicPr>
            <a:picLocks noChangeAspect="1"/>
          </p:cNvPicPr>
          <p:nvPr/>
        </p:nvPicPr>
        <p:blipFill>
          <a:blip r:embed="rId4"/>
          <a:stretch>
            <a:fillRect/>
          </a:stretch>
        </p:blipFill>
        <p:spPr>
          <a:xfrm>
            <a:off x="2496957" y="2839220"/>
            <a:ext cx="4934639" cy="3286584"/>
          </a:xfrm>
          <a:prstGeom prst="rect">
            <a:avLst/>
          </a:prstGeom>
          <a:effectLst>
            <a:glow rad="63500">
              <a:schemeClr val="accent3">
                <a:satMod val="175000"/>
                <a:alpha val="40000"/>
              </a:schemeClr>
            </a:glow>
          </a:effectLst>
        </p:spPr>
      </p:pic>
      <p:pic>
        <p:nvPicPr>
          <p:cNvPr id="8" name="Picture 7">
            <a:extLst>
              <a:ext uri="{FF2B5EF4-FFF2-40B4-BE49-F238E27FC236}">
                <a16:creationId xmlns:a16="http://schemas.microsoft.com/office/drawing/2014/main" id="{41034501-3CDB-E4EB-E716-2836A94DFD17}"/>
              </a:ext>
            </a:extLst>
          </p:cNvPr>
          <p:cNvPicPr>
            <a:picLocks noChangeAspect="1"/>
          </p:cNvPicPr>
          <p:nvPr/>
        </p:nvPicPr>
        <p:blipFill>
          <a:blip r:embed="rId5"/>
          <a:stretch>
            <a:fillRect/>
          </a:stretch>
        </p:blipFill>
        <p:spPr>
          <a:xfrm>
            <a:off x="4347998" y="4613942"/>
            <a:ext cx="4915586" cy="2029108"/>
          </a:xfrm>
          <a:prstGeom prst="rect">
            <a:avLst/>
          </a:prstGeom>
          <a:effectLst>
            <a:glow rad="63500">
              <a:schemeClr val="accent3">
                <a:satMod val="175000"/>
                <a:alpha val="40000"/>
              </a:schemeClr>
            </a:glow>
          </a:effectLst>
        </p:spPr>
      </p:pic>
      <p:cxnSp>
        <p:nvCxnSpPr>
          <p:cNvPr id="9" name="Straight Arrow Connector 8">
            <a:extLst>
              <a:ext uri="{FF2B5EF4-FFF2-40B4-BE49-F238E27FC236}">
                <a16:creationId xmlns:a16="http://schemas.microsoft.com/office/drawing/2014/main" id="{3A5FAF99-4C60-4FF3-B1C3-DFB8563DE794}"/>
              </a:ext>
            </a:extLst>
          </p:cNvPr>
          <p:cNvCxnSpPr>
            <a:cxnSpLocks/>
          </p:cNvCxnSpPr>
          <p:nvPr/>
        </p:nvCxnSpPr>
        <p:spPr>
          <a:xfrm>
            <a:off x="199390" y="2326943"/>
            <a:ext cx="414528"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B3691D8C-92B5-405B-B608-236A0414354F}"/>
              </a:ext>
            </a:extLst>
          </p:cNvPr>
          <p:cNvCxnSpPr>
            <a:cxnSpLocks/>
          </p:cNvCxnSpPr>
          <p:nvPr/>
        </p:nvCxnSpPr>
        <p:spPr>
          <a:xfrm>
            <a:off x="3183421" y="4506250"/>
            <a:ext cx="414528" cy="0"/>
          </a:xfrm>
          <a:prstGeom prst="straightConnector1">
            <a:avLst/>
          </a:prstGeom>
          <a:ln w="38100">
            <a:solidFill>
              <a:srgbClr val="4472C4"/>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F049C56D-1733-3D8D-E95A-642E6DA32404}"/>
              </a:ext>
            </a:extLst>
          </p:cNvPr>
          <p:cNvCxnSpPr>
            <a:cxnSpLocks/>
          </p:cNvCxnSpPr>
          <p:nvPr/>
        </p:nvCxnSpPr>
        <p:spPr>
          <a:xfrm>
            <a:off x="3894142" y="5897518"/>
            <a:ext cx="414528"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8" name="Connector: Elbow 17">
            <a:extLst>
              <a:ext uri="{FF2B5EF4-FFF2-40B4-BE49-F238E27FC236}">
                <a16:creationId xmlns:a16="http://schemas.microsoft.com/office/drawing/2014/main" id="{6B263AFC-56DB-D6AE-635E-73C1710179CB}"/>
              </a:ext>
            </a:extLst>
          </p:cNvPr>
          <p:cNvCxnSpPr>
            <a:cxnSpLocks/>
            <a:stCxn id="8" idx="3"/>
            <a:endCxn id="4" idx="2"/>
          </p:cNvCxnSpPr>
          <p:nvPr/>
        </p:nvCxnSpPr>
        <p:spPr>
          <a:xfrm flipV="1">
            <a:off x="9263584" y="5101625"/>
            <a:ext cx="549983" cy="526871"/>
          </a:xfrm>
          <a:prstGeom prst="bentConnector2">
            <a:avLst/>
          </a:prstGeom>
          <a:ln w="38100">
            <a:solidFill>
              <a:srgbClr val="4472C4"/>
            </a:solidFill>
            <a:tailEnd type="triangle"/>
          </a:ln>
        </p:spPr>
        <p:style>
          <a:lnRef idx="1">
            <a:schemeClr val="accent1"/>
          </a:lnRef>
          <a:fillRef idx="0">
            <a:schemeClr val="accent1"/>
          </a:fillRef>
          <a:effectRef idx="0">
            <a:schemeClr val="accent1"/>
          </a:effectRef>
          <a:fontRef idx="minor">
            <a:schemeClr val="tx1"/>
          </a:fontRef>
        </p:style>
      </p:cxnSp>
      <p:sp>
        <p:nvSpPr>
          <p:cNvPr id="2" name="Slide Number Placeholder 1">
            <a:extLst>
              <a:ext uri="{FF2B5EF4-FFF2-40B4-BE49-F238E27FC236}">
                <a16:creationId xmlns:a16="http://schemas.microsoft.com/office/drawing/2014/main" id="{807E8D39-D607-30D7-7FCF-62F5E8A22D2B}"/>
              </a:ext>
            </a:extLst>
          </p:cNvPr>
          <p:cNvSpPr>
            <a:spLocks noGrp="1"/>
          </p:cNvSpPr>
          <p:nvPr>
            <p:ph type="sldNum" sz="quarter" idx="12"/>
          </p:nvPr>
        </p:nvSpPr>
        <p:spPr/>
        <p:txBody>
          <a:bodyPr/>
          <a:lstStyle/>
          <a:p>
            <a:fld id="{1C788548-AC4B-4945-A4F1-BA86477A7FC8}" type="slidenum">
              <a:rPr lang="en-US" smtClean="0"/>
              <a:t>75</a:t>
            </a:fld>
            <a:endParaRPr lang="en-US"/>
          </a:p>
        </p:txBody>
      </p:sp>
    </p:spTree>
    <p:extLst>
      <p:ext uri="{BB962C8B-B14F-4D97-AF65-F5344CB8AC3E}">
        <p14:creationId xmlns:p14="http://schemas.microsoft.com/office/powerpoint/2010/main" val="333784036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56596" y="5650468"/>
            <a:ext cx="2250925" cy="400110"/>
          </a:xfrm>
          <a:prstGeom prst="rect">
            <a:avLst/>
          </a:prstGeom>
          <a:noFill/>
        </p:spPr>
        <p:txBody>
          <a:bodyPr wrap="square" rtlCol="0">
            <a:spAutoFit/>
          </a:bodyPr>
          <a:lstStyle/>
          <a:p>
            <a:r>
              <a:rPr lang="en-US" sz="2000" dirty="0">
                <a:solidFill>
                  <a:schemeClr val="bg1"/>
                </a:solidFill>
                <a:latin typeface="Helvetica Neue" charset="0"/>
                <a:ea typeface="Helvetica Neue" charset="0"/>
                <a:cs typeface="Helvetica Neue" charset="0"/>
              </a:rPr>
              <a:t>for z/OS</a:t>
            </a:r>
          </a:p>
        </p:txBody>
      </p:sp>
      <p:sp>
        <p:nvSpPr>
          <p:cNvPr id="7" name="TextBox 6"/>
          <p:cNvSpPr txBox="1"/>
          <p:nvPr/>
        </p:nvSpPr>
        <p:spPr>
          <a:xfrm>
            <a:off x="437323" y="6281531"/>
            <a:ext cx="3856381" cy="338554"/>
          </a:xfrm>
          <a:prstGeom prst="rect">
            <a:avLst/>
          </a:prstGeom>
          <a:noFill/>
        </p:spPr>
        <p:txBody>
          <a:bodyPr wrap="square" rtlCol="0">
            <a:spAutoFit/>
          </a:bodyPr>
          <a:lstStyle/>
          <a:p>
            <a:r>
              <a:rPr lang="en-US" sz="1600" dirty="0">
                <a:solidFill>
                  <a:schemeClr val="bg1"/>
                </a:solidFill>
                <a:latin typeface="Helvetica Neue Thin" charset="0"/>
                <a:ea typeface="Helvetica Neue Thin" charset="0"/>
                <a:cs typeface="Helvetica Neue Thin" charset="0"/>
              </a:rPr>
              <a:t>© 2019 IBM Corporation</a:t>
            </a:r>
          </a:p>
        </p:txBody>
      </p:sp>
      <p:sp>
        <p:nvSpPr>
          <p:cNvPr id="10" name="TextBox 9"/>
          <p:cNvSpPr txBox="1"/>
          <p:nvPr/>
        </p:nvSpPr>
        <p:spPr>
          <a:xfrm>
            <a:off x="631903" y="995839"/>
            <a:ext cx="11191924" cy="2308324"/>
          </a:xfrm>
          <a:prstGeom prst="rect">
            <a:avLst/>
          </a:prstGeom>
          <a:noFill/>
        </p:spPr>
        <p:txBody>
          <a:bodyPr wrap="square" rtlCol="0">
            <a:spAutoFit/>
          </a:bodyPr>
          <a:lstStyle/>
          <a:p>
            <a:pPr algn="ctr"/>
            <a:r>
              <a:rPr lang="en-US" sz="4800" dirty="0">
                <a:latin typeface="Helvetica" panose="020B0604020202020204" pitchFamily="34" charset="0"/>
                <a:ea typeface="Helvetica" charset="0"/>
                <a:cs typeface="Helvetica" panose="020B0604020202020204" pitchFamily="34" charset="0"/>
              </a:rPr>
              <a:t>This concludes the </a:t>
            </a:r>
            <a:r>
              <a:rPr lang="en-US" sz="4800" u="sng" dirty="0">
                <a:latin typeface="Helvetica" panose="020B0604020202020204" pitchFamily="34" charset="0"/>
                <a:ea typeface="Helvetica" charset="0"/>
                <a:cs typeface="Helvetica" panose="020B0604020202020204" pitchFamily="34" charset="0"/>
              </a:rPr>
              <a:t>ISPF</a:t>
            </a:r>
            <a:r>
              <a:rPr lang="en-US" sz="4800" dirty="0">
                <a:latin typeface="Helvetica" panose="020B0604020202020204" pitchFamily="34" charset="0"/>
                <a:ea typeface="Helvetica" charset="0"/>
                <a:cs typeface="Helvetica" panose="020B0604020202020204" pitchFamily="34" charset="0"/>
              </a:rPr>
              <a:t> LAB Exercises for</a:t>
            </a:r>
          </a:p>
          <a:p>
            <a:pPr algn="ctr"/>
            <a:r>
              <a:rPr lang="en-US" sz="4800" dirty="0">
                <a:latin typeface="Helvetica" panose="020B0604020202020204" pitchFamily="34" charset="0"/>
                <a:ea typeface="Helvetica" charset="0"/>
                <a:cs typeface="Helvetica" panose="020B0604020202020204" pitchFamily="34" charset="0"/>
              </a:rPr>
              <a:t>IMS Administration Tool</a:t>
            </a:r>
          </a:p>
        </p:txBody>
      </p:sp>
      <p:sp>
        <p:nvSpPr>
          <p:cNvPr id="4" name="Flowchart: Alternate Process 3">
            <a:extLst>
              <a:ext uri="{FF2B5EF4-FFF2-40B4-BE49-F238E27FC236}">
                <a16:creationId xmlns:a16="http://schemas.microsoft.com/office/drawing/2014/main" id="{3B9FA9FB-18C1-49DD-AFF6-5EBF3E05B065}"/>
              </a:ext>
            </a:extLst>
          </p:cNvPr>
          <p:cNvSpPr/>
          <p:nvPr/>
        </p:nvSpPr>
        <p:spPr>
          <a:xfrm>
            <a:off x="3417609" y="4135266"/>
            <a:ext cx="5620512" cy="1194816"/>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Make sure to check out the </a:t>
            </a:r>
          </a:p>
          <a:p>
            <a:pPr algn="ctr"/>
            <a:r>
              <a:rPr lang="en-US" dirty="0"/>
              <a:t>IMS Administration Foundation </a:t>
            </a:r>
          </a:p>
          <a:p>
            <a:pPr algn="ctr"/>
            <a:r>
              <a:rPr lang="en-US" dirty="0"/>
              <a:t>WEB User Interface!!! </a:t>
            </a:r>
          </a:p>
        </p:txBody>
      </p:sp>
      <p:sp>
        <p:nvSpPr>
          <p:cNvPr id="3" name="Slide Number Placeholder 2">
            <a:extLst>
              <a:ext uri="{FF2B5EF4-FFF2-40B4-BE49-F238E27FC236}">
                <a16:creationId xmlns:a16="http://schemas.microsoft.com/office/drawing/2014/main" id="{FF667DE2-3ADE-32C0-1C11-5A9A6E255372}"/>
              </a:ext>
            </a:extLst>
          </p:cNvPr>
          <p:cNvSpPr>
            <a:spLocks noGrp="1"/>
          </p:cNvSpPr>
          <p:nvPr>
            <p:ph type="sldNum" sz="quarter" idx="12"/>
          </p:nvPr>
        </p:nvSpPr>
        <p:spPr/>
        <p:txBody>
          <a:bodyPr/>
          <a:lstStyle/>
          <a:p>
            <a:fld id="{1C788548-AC4B-4945-A4F1-BA86477A7FC8}" type="slidenum">
              <a:rPr lang="en-US" smtClean="0"/>
              <a:t>76</a:t>
            </a:fld>
            <a:endParaRPr lang="en-US"/>
          </a:p>
        </p:txBody>
      </p:sp>
    </p:spTree>
    <p:extLst>
      <p:ext uri="{BB962C8B-B14F-4D97-AF65-F5344CB8AC3E}">
        <p14:creationId xmlns:p14="http://schemas.microsoft.com/office/powerpoint/2010/main" val="1297422642"/>
      </p:ext>
    </p:extLst>
  </p:cSld>
  <p:clrMapOvr>
    <a:masterClrMapping/>
  </p:clrMapOvr>
  <mc:AlternateContent xmlns:mc="http://schemas.openxmlformats.org/markup-compatibility/2006" xmlns:p14="http://schemas.microsoft.com/office/powerpoint/2010/main">
    <mc:Choice Requires="p14">
      <p:transition spd="slow" p14:dur="3000" advClick="0"/>
    </mc:Choice>
    <mc:Fallback xmlns="">
      <p:transition spd="slow" advClick="0"/>
    </mc:Fallback>
  </mc:AlternateContent>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IBM 2019 black</Template>
  <TotalTime>60316</TotalTime>
  <Words>7755</Words>
  <Application>Microsoft Office PowerPoint</Application>
  <PresentationFormat>Widescreen</PresentationFormat>
  <Paragraphs>586</Paragraphs>
  <Slides>76</Slides>
  <Notes>21</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76</vt:i4>
      </vt:variant>
    </vt:vector>
  </HeadingPairs>
  <TitlesOfParts>
    <vt:vector size="86" baseType="lpstr">
      <vt:lpstr>Arial</vt:lpstr>
      <vt:lpstr>Calibri</vt:lpstr>
      <vt:lpstr>Calibri (Body)</vt:lpstr>
      <vt:lpstr>Calibri Light</vt:lpstr>
      <vt:lpstr>Consolas</vt:lpstr>
      <vt:lpstr>Helvetica</vt:lpstr>
      <vt:lpstr>Helvetica Neue</vt:lpstr>
      <vt:lpstr>Helvetica Neue Thin</vt:lpstr>
      <vt:lpstr>Wingdings</vt:lpstr>
      <vt:lpstr>Custom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Lynne Bisceglia</dc:creator>
  <cp:lastModifiedBy>Jonathan Howells</cp:lastModifiedBy>
  <cp:revision>344</cp:revision>
  <dcterms:created xsi:type="dcterms:W3CDTF">2019-05-02T13:55:00Z</dcterms:created>
  <dcterms:modified xsi:type="dcterms:W3CDTF">2026-05-03T18:50:43Z</dcterms:modified>
</cp:coreProperties>
</file>